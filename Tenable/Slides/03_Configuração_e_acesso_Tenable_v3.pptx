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459492bb64b66" /><Relationship Type="http://schemas.openxmlformats.org/officeDocument/2006/relationships/extended-properties" Target="/docProps/app.xml" Id="Ra2fbbae64dc4410d" /><Relationship Type="http://schemas.openxmlformats.org/officeDocument/2006/relationships/officeDocument" Target="/ppt/presentation.xml" Id="R24f1517b0698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162d5c407244e2"/>
  </p:sldMasterIdLst>
  <p:notesMasterIdLst>
    <p:notesMasterId xmlns:r="http://schemas.openxmlformats.org/officeDocument/2006/relationships" r:id="Rd3e09f43c03541f4"/>
  </p:notesMasterIdLst>
  <p:sldIdLst>
    <p:sldId xmlns:r="http://schemas.openxmlformats.org/officeDocument/2006/relationships" id="256" r:id="R62f70f08f55a489f"/>
    <p:sldId xmlns:r="http://schemas.openxmlformats.org/officeDocument/2006/relationships" id="257" r:id="R54350aad79fa4f61"/>
    <p:sldId xmlns:r="http://schemas.openxmlformats.org/officeDocument/2006/relationships" id="258" r:id="Rdae145b480c64947"/>
    <p:sldId xmlns:r="http://schemas.openxmlformats.org/officeDocument/2006/relationships" id="259" r:id="R6349e87094e24f2c"/>
    <p:sldId xmlns:r="http://schemas.openxmlformats.org/officeDocument/2006/relationships" id="260" r:id="Re02c6e7840074461"/>
    <p:sldId xmlns:r="http://schemas.openxmlformats.org/officeDocument/2006/relationships" id="261" r:id="R96ad2d0ef0fc4edf"/>
    <p:sldId xmlns:r="http://schemas.openxmlformats.org/officeDocument/2006/relationships" id="262" r:id="R5fd4d4b5e5d94c4c"/>
    <p:sldId xmlns:r="http://schemas.openxmlformats.org/officeDocument/2006/relationships" id="263" r:id="R2fd730c04dec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806767afc4923" /><Relationship Type="http://schemas.openxmlformats.org/officeDocument/2006/relationships/slideMaster" Target="/ppt/slideMasters/slideMaster1.xml" Id="R94162d5c407244e2" /><Relationship Type="http://schemas.openxmlformats.org/officeDocument/2006/relationships/notesMaster" Target="/ppt/notesMasters/notesMaster1.xml" Id="Rd3e09f43c03541f4" /><Relationship Type="http://schemas.openxmlformats.org/officeDocument/2006/relationships/presProps" Target="/ppt/presProps.xml" Id="R54ed6ea14acd4dec" /><Relationship Type="http://schemas.openxmlformats.org/officeDocument/2006/relationships/tableStyles" Target="/ppt/tableStyles.xml" Id="R37f6b03e16d8417e" /><Relationship Type="http://schemas.openxmlformats.org/officeDocument/2006/relationships/slide" Target="/ppt/slides/slide1.xml" Id="R62f70f08f55a489f" /><Relationship Type="http://schemas.openxmlformats.org/officeDocument/2006/relationships/slide" Target="/ppt/slides/slide2.xml" Id="R54350aad79fa4f61" /><Relationship Type="http://schemas.openxmlformats.org/officeDocument/2006/relationships/slide" Target="/ppt/slides/slide3.xml" Id="Rdae145b480c64947" /><Relationship Type="http://schemas.openxmlformats.org/officeDocument/2006/relationships/slide" Target="/ppt/slides/slide4.xml" Id="R6349e87094e24f2c" /><Relationship Type="http://schemas.openxmlformats.org/officeDocument/2006/relationships/slide" Target="/ppt/slides/slide5.xml" Id="Re02c6e7840074461" /><Relationship Type="http://schemas.openxmlformats.org/officeDocument/2006/relationships/slide" Target="/ppt/slides/slide6.xml" Id="R96ad2d0ef0fc4edf" /><Relationship Type="http://schemas.openxmlformats.org/officeDocument/2006/relationships/slide" Target="/ppt/slides/slide7.xml" Id="R5fd4d4b5e5d94c4c" /><Relationship Type="http://schemas.openxmlformats.org/officeDocument/2006/relationships/slide" Target="/ppt/slides/slide8.xml" Id="R2fd730c04dec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4c6094eca6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05410ae9c49bc" /><Relationship Type="http://schemas.openxmlformats.org/officeDocument/2006/relationships/notesMaster" Target="/ppt/notesMasters/notesMaster1.xml" Id="R378b965b5910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3ae51f582c48a5" /><Relationship Type="http://schemas.openxmlformats.org/officeDocument/2006/relationships/notesMaster" Target="/ppt/notesMasters/notesMaster1.xml" Id="R05a9928f06e8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daabbaf4440f9" /><Relationship Type="http://schemas.openxmlformats.org/officeDocument/2006/relationships/notesMaster" Target="/ppt/notesMasters/notesMaster1.xml" Id="Rcdadea5ad3b14e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d72cab51c4a6d" /><Relationship Type="http://schemas.openxmlformats.org/officeDocument/2006/relationships/notesMaster" Target="/ppt/notesMasters/notesMaster1.xml" Id="Rf38dabda53ff46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d44ac3909e4630" /><Relationship Type="http://schemas.openxmlformats.org/officeDocument/2006/relationships/notesMaster" Target="/ppt/notesMasters/notesMaster1.xml" Id="Rbd7068bc9470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86637aea7248bb" /><Relationship Type="http://schemas.openxmlformats.org/officeDocument/2006/relationships/notesMaster" Target="/ppt/notesMasters/notesMaster1.xml" Id="R3a4926c9fa5949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8edebcb14f4313" /><Relationship Type="http://schemas.openxmlformats.org/officeDocument/2006/relationships/notesMaster" Target="/ppt/notesMasters/notesMaster1.xml" Id="Re56b734c177d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ebec07bd314362" /><Relationship Type="http://schemas.openxmlformats.org/officeDocument/2006/relationships/notesMaster" Target="/ppt/notesMasters/notesMaster1.xml" Id="R10a554a2840d46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Organizar ativos, aplicar acesso adequado e controlar o escopo dos scans.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atual contempla custom roles. Diferenciar capacidade de criar scans de acesso aos dados da equipe.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F13: Roles</a:t>
            </a:r>
          </a:p>
          <a:p xmlns:a="http://schemas.openxmlformats.org/drawingml/2006/main">
            <a:r>
              <a:t>https://docs.tenable.com/vulnerability-management/Content/Settings/access-control/UserRoles.htm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F14: RBAC Get Started</a:t>
            </a:r>
          </a:p>
          <a:p xmlns:a="http://schemas.openxmlformats.org/drawingml/2006/main">
            <a:r>
              <a:t>https://docs.tenable.com/vulnerability-management/Content/Settings/access-control/rbac-get-started.htm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Exemplos autorais: Ambiente:Lab, Local:Filial, Equipe:Infra. Reavaliar as regras quando o ativo muda de função ou endereço.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F15: Tag Format and Application</a:t>
            </a:r>
          </a:p>
          <a:p xmlns:a="http://schemas.openxmlformats.org/drawingml/2006/main">
            <a:r>
              <a:t>https://docs.tenable.com/vulnerability-management/Content/Settings/Tagging/TagFormatAndApplication.htm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autoral: filial A e B utilizam 10.0.0.10. Criar contextos separados. Evitar mover sensores entre networks sem conferir o efeito nos ativos 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guia descreve round robin por tasks. Não pressupor que todo o scan é atribuído integralmente a um único scanner do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F17: Scan Distribution</a:t>
            </a:r>
          </a:p>
          <a:p xmlns:a="http://schemas.openxmlformats.org/drawingml/2006/main">
            <a:r>
              <a:t>https://docs.tenable.com/vulnerability-management/Content/Scans/scan-distribution.htm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Exercício: distinguir exclusão preventiva de aceitação de risco. Registrar quem aprova, alvo, duração e alternativa de cobertura como prática de gestão.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F18: Exclusions</a:t>
            </a:r>
          </a:p>
          <a:p xmlns:a="http://schemas.openxmlformats.org/drawingml/2006/main">
            <a:r>
              <a:t>https://docs.tenable.com/vulnerability-management/Content/Settings/Exclusions/Exclusions.htm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Existe uma nota antiga em CVSS vs. VPR afirmando severidade baseada em CVSS. General Settings e a release de 27/04/2026 documentam VPR. Conferir a configuração real do tenant e manter explícita a métrica do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F19: General Settings</a:t>
            </a:r>
          </a:p>
          <a:p xmlns:a="http://schemas.openxmlformats.org/drawingml/2006/main">
            <a:r>
              <a:t>https://docs.tenable.com/vulnerability-management/Content/Settings/General/General.htm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L03. Sem console, montar uma tabela usuário, role, tag e permissão. Com console de estudo, validar com usuário de teste. Descrever o efeito de uma exclusão sobre a cobertura.</a:t>
            </a:r>
          </a:p>
          <a:p xmlns:a="http://schemas.openxmlformats.org/drawingml/2006/main">
            <a:r>
              <a:t>Material local de apoio: L02 páginas PDF 1105, 1193, 1202, 1300. L03 itens 12, 19, 25. L01 itens 36, 40. Roles, permissões, tags e networks. Diferenciar objetos de produtos distintos.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F14: RBAC Get Started</a:t>
            </a:r>
          </a:p>
          <a:p xmlns:a="http://schemas.openxmlformats.org/drawingml/2006/main">
            <a:r>
              <a:t>https://docs.tenable.com/vulnerability-management/Content/Settings/access-control/rbac-get-started.htm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F15: Tag Format and Application</a:t>
            </a:r>
          </a:p>
          <a:p xmlns:a="http://schemas.openxmlformats.org/drawingml/2006/main">
            <a:r>
              <a:t>https://docs.tenable.com/vulnerability-management/Content/Settings/Tagging/TagFormatAndApplication.htm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F16: Networks</a:t>
            </a:r>
          </a:p>
          <a:p xmlns:a="http://schemas.openxmlformats.org/drawingml/2006/main">
            <a:r>
              <a:t>https://docs.tenable.com/vulnerability-management/Content/Settings/Sensors/Networks.htm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c15c2a21142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ec43eaff441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ce253ffcc48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0ddc68d8048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ff50a86b046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bb2d04b1745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1E7E59-7D38-46C4-B8D5-EA65C9B37F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051705-C2C5-442C-9BE5-028E6A2AF9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4A8980-9D42-43DD-B056-C49F136A0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517179-3407-4824-9C83-64F2E83B97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C8F565-1F68-4F53-8467-073E0C22C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F22FFB-1977-49ED-83FA-8A1E1BC0C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95A554-D6E1-44DB-8120-45B4228087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7F15FE-8EC8-434D-85A0-AC303E8E7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436A69-074A-4FA7-8EF7-3D185AF1B3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52E2F4-E8E3-4A57-9E11-472E36FC8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bc4f9a5b284f22" /><Relationship Type="http://schemas.openxmlformats.org/officeDocument/2006/relationships/slideLayout" Target="/ppt/slideLayouts/slideLayout1.xml" Id="Re517750dd9094016" /><Relationship Type="http://schemas.openxmlformats.org/officeDocument/2006/relationships/slideLayout" Target="/ppt/slideLayouts/slideLayout2.xml" Id="R975ddbf5d3bc47fa" /><Relationship Type="http://schemas.openxmlformats.org/officeDocument/2006/relationships/slideLayout" Target="/ppt/slideLayouts/slideLayout3.xml" Id="R798551a34f144f0f" /><Relationship Type="http://schemas.openxmlformats.org/officeDocument/2006/relationships/slideLayout" Target="/ppt/slideLayouts/slideLayout4.xml" Id="Rf9b9124ce1864013" /><Relationship Type="http://schemas.openxmlformats.org/officeDocument/2006/relationships/slideLayout" Target="/ppt/slideLayouts/slideLayout5.xml" Id="R84f0c560b5cf41be" /><Relationship Type="http://schemas.openxmlformats.org/officeDocument/2006/relationships/slideLayout" Target="/ppt/slideLayouts/slideLayout6.xml" Id="R5562e7d5aef647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7750dd9094016"/>
    <p:sldLayoutId xmlns:r="http://schemas.openxmlformats.org/officeDocument/2006/relationships" id="2147483650" r:id="R975ddbf5d3bc47fa"/>
    <p:sldLayoutId xmlns:r="http://schemas.openxmlformats.org/officeDocument/2006/relationships" id="2147483651" r:id="R798551a34f144f0f"/>
    <p:sldLayoutId xmlns:r="http://schemas.openxmlformats.org/officeDocument/2006/relationships" id="2147483652" r:id="Rf9b9124ce1864013"/>
    <p:sldLayoutId xmlns:r="http://schemas.openxmlformats.org/officeDocument/2006/relationships" id="2147483653" r:id="R84f0c560b5cf41be"/>
    <p:sldLayoutId xmlns:r="http://schemas.openxmlformats.org/officeDocument/2006/relationships" id="2147483654" r:id="R5562e7d5aef647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b360fb63e49df" /><Relationship Type="http://schemas.openxmlformats.org/officeDocument/2006/relationships/notesSlide" Target="/ppt/notesSlides/notesSlide1.xml" Id="R29189734893a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28c925d074b26" /><Relationship Type="http://schemas.openxmlformats.org/officeDocument/2006/relationships/notesSlide" Target="/ppt/notesSlides/notesSlide2.xml" Id="R930d3e9fc91142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2dda16a594981" /><Relationship Type="http://schemas.openxmlformats.org/officeDocument/2006/relationships/notesSlide" Target="/ppt/notesSlides/notesSlide3.xml" Id="Ra8b8917ad4f143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2ef1505864140" /><Relationship Type="http://schemas.openxmlformats.org/officeDocument/2006/relationships/notesSlide" Target="/ppt/notesSlides/notesSlide4.xml" Id="R595569b6963e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96cef8b914dad" /><Relationship Type="http://schemas.openxmlformats.org/officeDocument/2006/relationships/notesSlide" Target="/ppt/notesSlides/notesSlide5.xml" Id="Ra9c04a0fdeb2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74ae4815d43fe" /><Relationship Type="http://schemas.openxmlformats.org/officeDocument/2006/relationships/notesSlide" Target="/ppt/notesSlides/notesSlide6.xml" Id="R76fcc112fc7445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b188b6f5a4660" /><Relationship Type="http://schemas.openxmlformats.org/officeDocument/2006/relationships/notesSlide" Target="/ppt/notesSlides/notesSlide7.xml" Id="R1e00d9c77b4b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d44c0c6af4e1d" /><Relationship Type="http://schemas.openxmlformats.org/officeDocument/2006/relationships/notesSlide" Target="/ppt/notesSlides/notesSlide8.xml" Id="R37fc8a11923b4a5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ficmu_Section">
            <a:extLst xmlns:a="http://schemas.openxmlformats.org/drawingml/2006/main">
              <a:ext uri="{FF2B5EF4-FFF2-40B4-BE49-F238E27FC236}">
                <a16:creationId xmlns:a16="http://schemas.microsoft.com/office/drawing/2014/main" id="{04EA4E3D-A8BD-4261-9BF6-F6D2BC4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03</a:t>
            </a:r>
          </a:p>
        </p:txBody>
      </p:sp>
      <p:sp>
        <p:nvSpPr>
          <p:cNvPr id="2" name="oficmu_Title">
            <a:extLst xmlns:a="http://schemas.openxmlformats.org/drawingml/2006/main">
              <a:ext uri="{FF2B5EF4-FFF2-40B4-BE49-F238E27FC236}">
                <a16:creationId xmlns:a16="http://schemas.microsoft.com/office/drawing/2014/main" id="{21ACDA54-E48F-4FDB-B13A-42716F05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Configuração e acesso</a:t>
            </a:r>
          </a:p>
        </p:txBody>
      </p:sp>
      <p:sp>
        <p:nvSpPr>
          <p:cNvPr id="3" name="oficmu_Subtitle">
            <a:extLst xmlns:a="http://schemas.openxmlformats.org/drawingml/2006/main">
              <a:ext uri="{FF2B5EF4-FFF2-40B4-BE49-F238E27FC236}">
                <a16:creationId xmlns:a16="http://schemas.microsoft.com/office/drawing/2014/main" id="{9D1461E2-8D08-4E97-B3FC-20F9A71D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Organizar ativos, aplicar acesso adequado e controlar o escopo dos scans.</a:t>
            </a:r>
          </a:p>
        </p:txBody>
      </p:sp>
      <p:sp>
        <p:nvSpPr>
          <p:cNvPr id="4" name="oficmu_Schedule">
            <a:extLst xmlns:a="http://schemas.openxmlformats.org/drawingml/2006/main">
              <a:ext uri="{FF2B5EF4-FFF2-40B4-BE49-F238E27FC236}">
                <a16:creationId xmlns:a16="http://schemas.microsoft.com/office/drawing/2014/main" id="{5CC6BD9F-7826-45A2-8BE2-7F8DF164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3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5" name="oficmu_Footer">
            <a:extLst xmlns:a="http://schemas.openxmlformats.org/drawingml/2006/main">
              <a:ext uri="{FF2B5EF4-FFF2-40B4-BE49-F238E27FC236}">
                <a16:creationId xmlns:a16="http://schemas.microsoft.com/office/drawing/2014/main" id="{D5D8F833-94D0-43B8-BCDF-067C4C2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033406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3ab2jp_Section">
            <a:extLst xmlns:a="http://schemas.openxmlformats.org/drawingml/2006/main">
              <a:ext uri="{FF2B5EF4-FFF2-40B4-BE49-F238E27FC236}">
                <a16:creationId xmlns:a16="http://schemas.microsoft.com/office/drawing/2014/main" id="{E2E23958-B126-4C6D-B36C-A6B414E2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3ab2jp_Title">
            <a:extLst xmlns:a="http://schemas.openxmlformats.org/drawingml/2006/main">
              <a:ext uri="{FF2B5EF4-FFF2-40B4-BE49-F238E27FC236}">
                <a16:creationId xmlns:a16="http://schemas.microsoft.com/office/drawing/2014/main" id="{4AA62E7C-0210-43AF-B92E-1C840E8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Roles e permissões</a:t>
            </a:r>
          </a:p>
        </p:txBody>
      </p:sp>
      <p:sp>
        <p:nvSpPr>
          <p:cNvPr id="3" name="3ab2jp_Body_1">
            <a:extLst xmlns:a="http://schemas.openxmlformats.org/drawingml/2006/main">
              <a:ext uri="{FF2B5EF4-FFF2-40B4-BE49-F238E27FC236}">
                <a16:creationId xmlns:a16="http://schemas.microsoft.com/office/drawing/2014/main" id="{C3DC6CC6-B9E0-4C32-B7BF-5793B98B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Roles definem ações e funções acessíveis.</a:t>
            </a:r>
          </a:p>
        </p:txBody>
      </p:sp>
      <p:sp>
        <p:nvSpPr>
          <p:cNvPr id="4" name="3ab2jp_Body_2">
            <a:extLst xmlns:a="http://schemas.openxmlformats.org/drawingml/2006/main">
              <a:ext uri="{FF2B5EF4-FFF2-40B4-BE49-F238E27FC236}">
                <a16:creationId xmlns:a16="http://schemas.microsoft.com/office/drawing/2014/main" id="{C71F76E5-5020-4F1E-A8D6-DF17C47A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Permissões definem o acesso aos dados e recursos.</a:t>
            </a:r>
          </a:p>
        </p:txBody>
      </p:sp>
      <p:sp>
        <p:nvSpPr>
          <p:cNvPr id="5" name="3ab2jp_Body_3">
            <a:extLst xmlns:a="http://schemas.openxmlformats.org/drawingml/2006/main">
              <a:ext uri="{FF2B5EF4-FFF2-40B4-BE49-F238E27FC236}">
                <a16:creationId xmlns:a16="http://schemas.microsoft.com/office/drawing/2014/main" id="{548A1185-5EF8-4682-B69F-4FAA45E4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Tags permitem organizar o escopo de ativos.</a:t>
            </a:r>
          </a:p>
        </p:txBody>
      </p:sp>
      <p:sp>
        <p:nvSpPr>
          <p:cNvPr id="6" name="3ab2jp_Body_4">
            <a:extLst xmlns:a="http://schemas.openxmlformats.org/drawingml/2006/main">
              <a:ext uri="{FF2B5EF4-FFF2-40B4-BE49-F238E27FC236}">
                <a16:creationId xmlns:a16="http://schemas.microsoft.com/office/drawing/2014/main" id="{8BF68C3F-6760-480B-B2F9-7E45A6E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usuário de teste valida o acesso efetivo.</a:t>
            </a:r>
          </a:p>
        </p:txBody>
      </p:sp>
      <p:sp>
        <p:nvSpPr>
          <p:cNvPr id="7" name="3ab2jp_Footer">
            <a:extLst xmlns:a="http://schemas.openxmlformats.org/drawingml/2006/main">
              <a:ext uri="{FF2B5EF4-FFF2-40B4-BE49-F238E27FC236}">
                <a16:creationId xmlns:a16="http://schemas.microsoft.com/office/drawing/2014/main" id="{FAED4FCF-239F-402C-BCC8-593CE883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3ab2jp_Folio">
            <a:extLst xmlns:a="http://schemas.openxmlformats.org/drawingml/2006/main">
              <a:ext uri="{FF2B5EF4-FFF2-40B4-BE49-F238E27FC236}">
                <a16:creationId xmlns:a16="http://schemas.microsoft.com/office/drawing/2014/main" id="{00077855-D8F4-4127-A345-C5B27AA8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542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zg7yux_Section">
            <a:extLst xmlns:a="http://schemas.openxmlformats.org/drawingml/2006/main">
              <a:ext uri="{FF2B5EF4-FFF2-40B4-BE49-F238E27FC236}">
                <a16:creationId xmlns:a16="http://schemas.microsoft.com/office/drawing/2014/main" id="{2FB6E29F-3DE7-438D-A7E3-9C099DC7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zg7yux_Title">
            <a:extLst xmlns:a="http://schemas.openxmlformats.org/drawingml/2006/main">
              <a:ext uri="{FF2B5EF4-FFF2-40B4-BE49-F238E27FC236}">
                <a16:creationId xmlns:a16="http://schemas.microsoft.com/office/drawing/2014/main" id="{6843EBA3-08CD-40C4-A0A4-CF0C759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Tags manuais e automáticas</a:t>
            </a:r>
          </a:p>
        </p:txBody>
      </p:sp>
      <p:sp>
        <p:nvSpPr>
          <p:cNvPr id="3" name="zg7yux_Body_1">
            <a:extLst xmlns:a="http://schemas.openxmlformats.org/drawingml/2006/main">
              <a:ext uri="{FF2B5EF4-FFF2-40B4-BE49-F238E27FC236}">
                <a16:creationId xmlns:a16="http://schemas.microsoft.com/office/drawing/2014/main" id="{A14AFF97-26BC-4DA8-ADA8-5E2B1B34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Tags usam pares Category:</a:t>
            </a:r>
            <a:r>
              <a:t> Value.</a:t>
            </a:r>
          </a:p>
        </p:txBody>
      </p:sp>
      <p:sp>
        <p:nvSpPr>
          <p:cNvPr id="4" name="zg7yux_Body_2">
            <a:extLst xmlns:a="http://schemas.openxmlformats.org/drawingml/2006/main">
              <a:ext uri="{FF2B5EF4-FFF2-40B4-BE49-F238E27FC236}">
                <a16:creationId xmlns:a16="http://schemas.microsoft.com/office/drawing/2014/main" id="{AF3F846F-BAC2-4674-ACEC-C3F314D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Atribuição manual depende de uma escolha explícita.</a:t>
            </a:r>
          </a:p>
        </p:txBody>
      </p:sp>
      <p:sp>
        <p:nvSpPr>
          <p:cNvPr id="5" name="zg7yux_Body_3">
            <a:extLst xmlns:a="http://schemas.openxmlformats.org/drawingml/2006/main">
              <a:ext uri="{FF2B5EF4-FFF2-40B4-BE49-F238E27FC236}">
                <a16:creationId xmlns:a16="http://schemas.microsoft.com/office/drawing/2014/main" id="{23796683-69AD-46C2-B624-1C39109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Regras automáticas acompanham atributos dos ativos.</a:t>
            </a:r>
          </a:p>
        </p:txBody>
      </p:sp>
      <p:sp>
        <p:nvSpPr>
          <p:cNvPr id="6" name="zg7yux_Body_4">
            <a:extLst xmlns:a="http://schemas.openxmlformats.org/drawingml/2006/main">
              <a:ext uri="{FF2B5EF4-FFF2-40B4-BE49-F238E27FC236}">
                <a16:creationId xmlns:a16="http://schemas.microsoft.com/office/drawing/2014/main" id="{E9919C22-2DBF-4216-B46D-DA3B8ACF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mudança de atributos pode alterar a associação.</a:t>
            </a:r>
          </a:p>
        </p:txBody>
      </p:sp>
      <p:sp>
        <p:nvSpPr>
          <p:cNvPr id="7" name="zg7yux_Footer">
            <a:extLst xmlns:a="http://schemas.openxmlformats.org/drawingml/2006/main">
              <a:ext uri="{FF2B5EF4-FFF2-40B4-BE49-F238E27FC236}">
                <a16:creationId xmlns:a16="http://schemas.microsoft.com/office/drawing/2014/main" id="{057C9DFD-BD15-42EE-B432-2A59656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zg7yux_Folio">
            <a:extLst xmlns:a="http://schemas.openxmlformats.org/drawingml/2006/main">
              <a:ext uri="{FF2B5EF4-FFF2-40B4-BE49-F238E27FC236}">
                <a16:creationId xmlns:a16="http://schemas.microsoft.com/office/drawing/2014/main" id="{857DFD58-FEBD-47D2-A3DD-66BA36CE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3078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xkdrd4_Section">
            <a:extLst xmlns:a="http://schemas.openxmlformats.org/drawingml/2006/main">
              <a:ext uri="{FF2B5EF4-FFF2-40B4-BE49-F238E27FC236}">
                <a16:creationId xmlns:a16="http://schemas.microsoft.com/office/drawing/2014/main" id="{8512AD06-3288-410C-A604-95367B76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xkdrd4_Title">
            <a:extLst xmlns:a="http://schemas.openxmlformats.org/drawingml/2006/main">
              <a:ext uri="{FF2B5EF4-FFF2-40B4-BE49-F238E27FC236}">
                <a16:creationId xmlns:a16="http://schemas.microsoft.com/office/drawing/2014/main" id="{D0D2748E-F8DF-4220-94DB-57E8D2A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Networks e IPs sobrepostos</a:t>
            </a:r>
          </a:p>
        </p:txBody>
      </p:sp>
      <p:sp>
        <p:nvSpPr>
          <p:cNvPr id="3" name="xkdrd4_Body_1">
            <a:extLst xmlns:a="http://schemas.openxmlformats.org/drawingml/2006/main">
              <a:ext uri="{FF2B5EF4-FFF2-40B4-BE49-F238E27FC236}">
                <a16:creationId xmlns:a16="http://schemas.microsoft.com/office/drawing/2014/main" id="{2A3508D9-2F49-4CB2-89C9-3CABF7A2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Networks distinguem ambientes que repetem endereços.</a:t>
            </a:r>
          </a:p>
        </p:txBody>
      </p:sp>
      <p:sp>
        <p:nvSpPr>
          <p:cNvPr id="4" name="xkdrd4_Body_2">
            <a:extLst xmlns:a="http://schemas.openxmlformats.org/drawingml/2006/main">
              <a:ext uri="{FF2B5EF4-FFF2-40B4-BE49-F238E27FC236}">
                <a16:creationId xmlns:a16="http://schemas.microsoft.com/office/drawing/2014/main" id="{0C0ADC37-D5F6-40D0-AA63-5F4E140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 scanner ou scanner group pertence a uma network por vez.</a:t>
            </a:r>
          </a:p>
        </p:txBody>
      </p:sp>
      <p:sp>
        <p:nvSpPr>
          <p:cNvPr id="5" name="xkdrd4_Body_3">
            <a:extLst xmlns:a="http://schemas.openxmlformats.org/drawingml/2006/main">
              <a:ext uri="{FF2B5EF4-FFF2-40B4-BE49-F238E27FC236}">
                <a16:creationId xmlns:a16="http://schemas.microsoft.com/office/drawing/2014/main" id="{96D4FE7C-6720-4080-A7AC-882B052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Sensores na network correta reduzem duplicações.</a:t>
            </a:r>
          </a:p>
        </p:txBody>
      </p:sp>
      <p:sp>
        <p:nvSpPr>
          <p:cNvPr id="6" name="xkdrd4_Body_4">
            <a:extLst xmlns:a="http://schemas.openxmlformats.org/drawingml/2006/main">
              <a:ext uri="{FF2B5EF4-FFF2-40B4-BE49-F238E27FC236}">
                <a16:creationId xmlns:a16="http://schemas.microsoft.com/office/drawing/2014/main" id="{B67720F6-8275-4257-A965-8F55F659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tag de network pode ajudar no filtro e no escopo.</a:t>
            </a:r>
          </a:p>
        </p:txBody>
      </p:sp>
      <p:sp>
        <p:nvSpPr>
          <p:cNvPr id="7" name="xkdrd4_Footer">
            <a:extLst xmlns:a="http://schemas.openxmlformats.org/drawingml/2006/main">
              <a:ext uri="{FF2B5EF4-FFF2-40B4-BE49-F238E27FC236}">
                <a16:creationId xmlns:a16="http://schemas.microsoft.com/office/drawing/2014/main" id="{B9E103C7-D51A-42A8-8EF7-6BB25FC2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xkdrd4_Folio">
            <a:extLst xmlns:a="http://schemas.openxmlformats.org/drawingml/2006/main">
              <a:ext uri="{FF2B5EF4-FFF2-40B4-BE49-F238E27FC236}">
                <a16:creationId xmlns:a16="http://schemas.microsoft.com/office/drawing/2014/main" id="{73BD6BD0-B314-43C5-B8C6-8B28CCA8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3793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5ff5np_Section">
            <a:extLst xmlns:a="http://schemas.openxmlformats.org/drawingml/2006/main">
              <a:ext uri="{FF2B5EF4-FFF2-40B4-BE49-F238E27FC236}">
                <a16:creationId xmlns:a16="http://schemas.microsoft.com/office/drawing/2014/main" id="{4B7CE686-95AB-4C28-8DA7-0BDCEC0C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5ff5np_Title">
            <a:extLst xmlns:a="http://schemas.openxmlformats.org/drawingml/2006/main">
              <a:ext uri="{FF2B5EF4-FFF2-40B4-BE49-F238E27FC236}">
                <a16:creationId xmlns:a16="http://schemas.microsoft.com/office/drawing/2014/main" id="{0A5F8F7B-3904-469F-A385-D8020197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Scanner groups e distribuição</a:t>
            </a:r>
          </a:p>
        </p:txBody>
      </p:sp>
      <p:sp>
        <p:nvSpPr>
          <p:cNvPr id="3" name="5ff5np_Body_1">
            <a:extLst xmlns:a="http://schemas.openxmlformats.org/drawingml/2006/main">
              <a:ext uri="{FF2B5EF4-FFF2-40B4-BE49-F238E27FC236}">
                <a16:creationId xmlns:a16="http://schemas.microsoft.com/office/drawing/2014/main" id="{3C6FC6B3-8A71-4236-AB32-0B665960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grupo distribui tarefas entre scanners disponíveis.</a:t>
            </a:r>
          </a:p>
        </p:txBody>
      </p:sp>
      <p:sp>
        <p:nvSpPr>
          <p:cNvPr id="4" name="5ff5np_Body_2">
            <a:extLst xmlns:a="http://schemas.openxmlformats.org/drawingml/2006/main">
              <a:ext uri="{FF2B5EF4-FFF2-40B4-BE49-F238E27FC236}">
                <a16:creationId xmlns:a16="http://schemas.microsoft.com/office/drawing/2014/main" id="{1A431C15-1D5D-4B29-BB19-16EDE20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capacidade do scanner influencia a execução paralela.</a:t>
            </a:r>
          </a:p>
        </p:txBody>
      </p:sp>
      <p:sp>
        <p:nvSpPr>
          <p:cNvPr id="5" name="5ff5np_Body_3">
            <a:extLst xmlns:a="http://schemas.openxmlformats.org/drawingml/2006/main">
              <a:ext uri="{FF2B5EF4-FFF2-40B4-BE49-F238E27FC236}">
                <a16:creationId xmlns:a16="http://schemas.microsoft.com/office/drawing/2014/main" id="{9527A30E-44C1-4776-8361-EB54369F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Todos os scanners do grupo precisam alcançar os alvos.</a:t>
            </a:r>
          </a:p>
        </p:txBody>
      </p:sp>
      <p:sp>
        <p:nvSpPr>
          <p:cNvPr id="6" name="5ff5np_Body_4">
            <a:extLst xmlns:a="http://schemas.openxmlformats.org/drawingml/2006/main">
              <a:ext uri="{FF2B5EF4-FFF2-40B4-BE49-F238E27FC236}">
                <a16:creationId xmlns:a16="http://schemas.microsoft.com/office/drawing/2014/main" id="{5C0D7606-ECF2-407F-9FE2-5270CC9B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falha de rota pode produzir cobertura parcial.</a:t>
            </a:r>
          </a:p>
        </p:txBody>
      </p:sp>
      <p:sp>
        <p:nvSpPr>
          <p:cNvPr id="7" name="5ff5np_Footer">
            <a:extLst xmlns:a="http://schemas.openxmlformats.org/drawingml/2006/main">
              <a:ext uri="{FF2B5EF4-FFF2-40B4-BE49-F238E27FC236}">
                <a16:creationId xmlns:a16="http://schemas.microsoft.com/office/drawing/2014/main" id="{F28C0A5B-C0FA-4E75-AB9C-85ABF58F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5ff5np_Folio">
            <a:extLst xmlns:a="http://schemas.openxmlformats.org/drawingml/2006/main">
              <a:ext uri="{FF2B5EF4-FFF2-40B4-BE49-F238E27FC236}">
                <a16:creationId xmlns:a16="http://schemas.microsoft.com/office/drawing/2014/main" id="{597C11A3-5FC8-47F5-8BF3-14FD578F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57159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tgjzy_Section">
            <a:extLst xmlns:a="http://schemas.openxmlformats.org/drawingml/2006/main">
              <a:ext uri="{FF2B5EF4-FFF2-40B4-BE49-F238E27FC236}">
                <a16:creationId xmlns:a16="http://schemas.microsoft.com/office/drawing/2014/main" id="{0CF364DA-FA77-4D54-BC93-3D5C4EB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dtgjzy_Title">
            <a:extLst xmlns:a="http://schemas.openxmlformats.org/drawingml/2006/main">
              <a:ext uri="{FF2B5EF4-FFF2-40B4-BE49-F238E27FC236}">
                <a16:creationId xmlns:a16="http://schemas.microsoft.com/office/drawing/2014/main" id="{1B2910F7-8933-4947-810E-9875CDD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Exclusions</a:t>
            </a:r>
          </a:p>
        </p:txBody>
      </p:sp>
      <p:sp>
        <p:nvSpPr>
          <p:cNvPr id="3" name="dtgjzy_Body_1">
            <a:extLst xmlns:a="http://schemas.openxmlformats.org/drawingml/2006/main">
              <a:ext uri="{FF2B5EF4-FFF2-40B4-BE49-F238E27FC236}">
                <a16:creationId xmlns:a16="http://schemas.microsoft.com/office/drawing/2014/main" id="{956EA741-2904-439C-9E8F-2C0A197C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exclusão ativa prevalece sobre o alvo explícito do scan.</a:t>
            </a:r>
          </a:p>
        </p:txBody>
      </p:sp>
      <p:sp>
        <p:nvSpPr>
          <p:cNvPr id="4" name="dtgjzy_Body_2">
            <a:extLst xmlns:a="http://schemas.openxmlformats.org/drawingml/2006/main">
              <a:ext uri="{FF2B5EF4-FFF2-40B4-BE49-F238E27FC236}">
                <a16:creationId xmlns:a16="http://schemas.microsoft.com/office/drawing/2014/main" id="{B4B03509-D540-4485-B2C8-33305EBB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Ela afeta scans de rede. Agents executam localmente.</a:t>
            </a:r>
          </a:p>
        </p:txBody>
      </p:sp>
      <p:sp>
        <p:nvSpPr>
          <p:cNvPr id="5" name="dtgjzy_Body_3">
            <a:extLst xmlns:a="http://schemas.openxmlformats.org/drawingml/2006/main">
              <a:ext uri="{FF2B5EF4-FFF2-40B4-BE49-F238E27FC236}">
                <a16:creationId xmlns:a16="http://schemas.microsoft.com/office/drawing/2014/main" id="{6934F40F-35DC-4D73-98DA-1E4FE149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Exclusões podem ser permanentes ou agendadas.</a:t>
            </a:r>
          </a:p>
        </p:txBody>
      </p:sp>
      <p:sp>
        <p:nvSpPr>
          <p:cNvPr id="6" name="dtgjzy_Body_4">
            <a:extLst xmlns:a="http://schemas.openxmlformats.org/drawingml/2006/main">
              <a:ext uri="{FF2B5EF4-FFF2-40B4-BE49-F238E27FC236}">
                <a16:creationId xmlns:a16="http://schemas.microsoft.com/office/drawing/2014/main" id="{D6F286C3-35F9-4CB2-9C23-A3C66E95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Uma janela agendada não interrompe um scan já iniciado.</a:t>
            </a:r>
          </a:p>
        </p:txBody>
      </p:sp>
      <p:sp>
        <p:nvSpPr>
          <p:cNvPr id="7" name="dtgjzy_Footer">
            <a:extLst xmlns:a="http://schemas.openxmlformats.org/drawingml/2006/main">
              <a:ext uri="{FF2B5EF4-FFF2-40B4-BE49-F238E27FC236}">
                <a16:creationId xmlns:a16="http://schemas.microsoft.com/office/drawing/2014/main" id="{C07F59A4-ADC2-4964-92AF-FFCCA37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dtgjzy_Folio">
            <a:extLst xmlns:a="http://schemas.openxmlformats.org/drawingml/2006/main">
              <a:ext uri="{FF2B5EF4-FFF2-40B4-BE49-F238E27FC236}">
                <a16:creationId xmlns:a16="http://schemas.microsoft.com/office/drawing/2014/main" id="{1232BF38-A7D8-404D-845B-1504089F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7097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34k11z_Section">
            <a:extLst xmlns:a="http://schemas.openxmlformats.org/drawingml/2006/main">
              <a:ext uri="{FF2B5EF4-FFF2-40B4-BE49-F238E27FC236}">
                <a16:creationId xmlns:a16="http://schemas.microsoft.com/office/drawing/2014/main" id="{E64FAE17-26C3-46B9-82B4-5E55B8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34k11z_Title">
            <a:extLst xmlns:a="http://schemas.openxmlformats.org/drawingml/2006/main">
              <a:ext uri="{FF2B5EF4-FFF2-40B4-BE49-F238E27FC236}">
                <a16:creationId xmlns:a16="http://schemas.microsoft.com/office/drawing/2014/main" id="{DFF90B24-B283-470D-913A-763B7C7F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Severidade e SLA</a:t>
            </a:r>
          </a:p>
        </p:txBody>
      </p:sp>
      <p:sp>
        <p:nvSpPr>
          <p:cNvPr id="3" name="34k11z_Body_1">
            <a:extLst xmlns:a="http://schemas.openxmlformats.org/drawingml/2006/main">
              <a:ext uri="{FF2B5EF4-FFF2-40B4-BE49-F238E27FC236}">
                <a16:creationId xmlns:a16="http://schemas.microsoft.com/office/drawing/2014/main" id="{D2965B09-5496-453B-A021-3F35AF21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General Settings permite escolher VPR ou versões de CVSS.</a:t>
            </a:r>
          </a:p>
        </p:txBody>
      </p:sp>
      <p:sp>
        <p:nvSpPr>
          <p:cNvPr id="4" name="34k11z_Body_2">
            <a:extLst xmlns:a="http://schemas.openxmlformats.org/drawingml/2006/main">
              <a:ext uri="{FF2B5EF4-FFF2-40B4-BE49-F238E27FC236}">
                <a16:creationId xmlns:a16="http://schemas.microsoft.com/office/drawing/2014/main" id="{F73FD792-A49D-404C-8368-08BCF0E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documentação atual informa VPR como padrão.</a:t>
            </a:r>
          </a:p>
        </p:txBody>
      </p:sp>
      <p:sp>
        <p:nvSpPr>
          <p:cNvPr id="5" name="34k11z_Body_3">
            <a:extLst xmlns:a="http://schemas.openxmlformats.org/drawingml/2006/main">
              <a:ext uri="{FF2B5EF4-FFF2-40B4-BE49-F238E27FC236}">
                <a16:creationId xmlns:a16="http://schemas.microsoft.com/office/drawing/2014/main" id="{DCB657D9-B78C-4415-A360-D4DF3C3F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Achados reobservados recebem a nova configuração.</a:t>
            </a:r>
          </a:p>
        </p:txBody>
      </p:sp>
      <p:sp>
        <p:nvSpPr>
          <p:cNvPr id="6" name="34k11z_Body_4">
            <a:extLst xmlns:a="http://schemas.openxmlformats.org/drawingml/2006/main">
              <a:ext uri="{FF2B5EF4-FFF2-40B4-BE49-F238E27FC236}">
                <a16:creationId xmlns:a16="http://schemas.microsoft.com/office/drawing/2014/main" id="{523FAC05-0B29-4BD2-948B-84925A8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widget de SLA tem configuração própria.</a:t>
            </a:r>
          </a:p>
        </p:txBody>
      </p:sp>
      <p:sp>
        <p:nvSpPr>
          <p:cNvPr id="7" name="34k11z_Footer">
            <a:extLst xmlns:a="http://schemas.openxmlformats.org/drawingml/2006/main">
              <a:ext uri="{FF2B5EF4-FFF2-40B4-BE49-F238E27FC236}">
                <a16:creationId xmlns:a16="http://schemas.microsoft.com/office/drawing/2014/main" id="{03DF5391-BC6F-4E8E-91D5-624D7B4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34k11z_Folio">
            <a:extLst xmlns:a="http://schemas.openxmlformats.org/drawingml/2006/main">
              <a:ext uri="{FF2B5EF4-FFF2-40B4-BE49-F238E27FC236}">
                <a16:creationId xmlns:a16="http://schemas.microsoft.com/office/drawing/2014/main" id="{7E18A65A-3207-4246-A8A8-28CA270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85095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1q2yh_Section">
            <a:extLst xmlns:a="http://schemas.openxmlformats.org/drawingml/2006/main">
              <a:ext uri="{FF2B5EF4-FFF2-40B4-BE49-F238E27FC236}">
                <a16:creationId xmlns:a16="http://schemas.microsoft.com/office/drawing/2014/main" id="{3CDBED12-B4B1-412E-A0B1-D221BEA6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03</a:t>
            </a:r>
          </a:p>
        </p:txBody>
      </p:sp>
      <p:sp>
        <p:nvSpPr>
          <p:cNvPr id="2" name="d1q2yh_Title">
            <a:extLst xmlns:a="http://schemas.openxmlformats.org/drawingml/2006/main">
              <a:ext uri="{FF2B5EF4-FFF2-40B4-BE49-F238E27FC236}">
                <a16:creationId xmlns:a16="http://schemas.microsoft.com/office/drawing/2014/main" id="{7E68D9EC-39CA-4587-BC83-CD7B419E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organização</a:t>
            </a:r>
          </a:p>
        </p:txBody>
      </p:sp>
      <p:sp>
        <p:nvSpPr>
          <p:cNvPr id="3" name="d1q2yh_Body_1">
            <a:extLst xmlns:a="http://schemas.openxmlformats.org/drawingml/2006/main">
              <a:ext uri="{FF2B5EF4-FFF2-40B4-BE49-F238E27FC236}">
                <a16:creationId xmlns:a16="http://schemas.microsoft.com/office/drawing/2014/main" id="{086D14F5-83C6-45F4-BC61-20814EF5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duas tags, uma network e uma matriz de acesso.</a:t>
            </a:r>
          </a:p>
        </p:txBody>
      </p:sp>
      <p:sp>
        <p:nvSpPr>
          <p:cNvPr id="4" name="d1q2yh_Body_2">
            <a:extLst xmlns:a="http://schemas.openxmlformats.org/drawingml/2006/main">
              <a:ext uri="{FF2B5EF4-FFF2-40B4-BE49-F238E27FC236}">
                <a16:creationId xmlns:a16="http://schemas.microsoft.com/office/drawing/2014/main" id="{1590869C-97AF-4B47-8B6B-9CFD4DD7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Caso:</a:t>
            </a:r>
            <a:r>
              <a:t> analista da filial deve visualizar apenas seu escopo.</a:t>
            </a:r>
          </a:p>
        </p:txBody>
      </p:sp>
      <p:sp>
        <p:nvSpPr>
          <p:cNvPr id="5" name="d1q2yh_Body_3">
            <a:extLst xmlns:a="http://schemas.openxmlformats.org/drawingml/2006/main">
              <a:ext uri="{FF2B5EF4-FFF2-40B4-BE49-F238E27FC236}">
                <a16:creationId xmlns:a16="http://schemas.microsoft.com/office/drawing/2014/main" id="{4709E5B4-53CA-4419-9375-FE6D069C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Validação:</a:t>
            </a:r>
            <a:r>
              <a:t> checar ações permitidas e dados visíveis.</a:t>
            </a:r>
          </a:p>
        </p:txBody>
      </p:sp>
      <p:sp>
        <p:nvSpPr>
          <p:cNvPr id="6" name="d1q2yh_Body_4">
            <a:extLst xmlns:a="http://schemas.openxmlformats.org/drawingml/2006/main">
              <a:ext uri="{FF2B5EF4-FFF2-40B4-BE49-F238E27FC236}">
                <a16:creationId xmlns:a16="http://schemas.microsoft.com/office/drawing/2014/main" id="{BCAC90C4-021D-4130-A6BB-8557439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03:</a:t>
            </a:r>
            <a:r>
              <a:t> 20 questões, 40 minutos.</a:t>
            </a:r>
          </a:p>
        </p:txBody>
      </p:sp>
      <p:sp>
        <p:nvSpPr>
          <p:cNvPr id="7" name="d1q2yh_Footer">
            <a:extLst xmlns:a="http://schemas.openxmlformats.org/drawingml/2006/main">
              <a:ext uri="{FF2B5EF4-FFF2-40B4-BE49-F238E27FC236}">
                <a16:creationId xmlns:a16="http://schemas.microsoft.com/office/drawing/2014/main" id="{CF7CD722-A1E8-4805-8F55-94822C0D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d1q2yh_Folio">
            <a:extLst xmlns:a="http://schemas.openxmlformats.org/drawingml/2006/main">
              <a:ext uri="{FF2B5EF4-FFF2-40B4-BE49-F238E27FC236}">
                <a16:creationId xmlns:a16="http://schemas.microsoft.com/office/drawing/2014/main" id="{10BA3021-160B-405F-8D56-0295F1AE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0534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2026-10-14T13:33:45.8090000Z</dcterms:created>
  <dcterms:modified xsi:type="dcterms:W3CDTF">2026-10-14T13:33:45.8090000Z</dcterms:modified>
</coreProperties>
</file>