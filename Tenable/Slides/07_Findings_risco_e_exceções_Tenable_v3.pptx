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1107e9c1b04452" /><Relationship Type="http://schemas.openxmlformats.org/officeDocument/2006/relationships/extended-properties" Target="/docProps/app.xml" Id="Rd4627369cc38477a" /><Relationship Type="http://schemas.openxmlformats.org/officeDocument/2006/relationships/officeDocument" Target="/ppt/presentation.xml" Id="R334d6c195fbb4c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bf1aca49bd482c"/>
  </p:sldMasterIdLst>
  <p:notesMasterIdLst>
    <p:notesMasterId xmlns:r="http://schemas.openxmlformats.org/officeDocument/2006/relationships" r:id="R0aa2176495c24639"/>
  </p:notesMasterIdLst>
  <p:sldIdLst>
    <p:sldId xmlns:r="http://schemas.openxmlformats.org/officeDocument/2006/relationships" id="256" r:id="Rf917e50dfbab4d33"/>
    <p:sldId xmlns:r="http://schemas.openxmlformats.org/officeDocument/2006/relationships" id="257" r:id="Reb0a8ca0d2a049da"/>
    <p:sldId xmlns:r="http://schemas.openxmlformats.org/officeDocument/2006/relationships" id="258" r:id="R8f13025b2d6c4991"/>
    <p:sldId xmlns:r="http://schemas.openxmlformats.org/officeDocument/2006/relationships" id="259" r:id="R6d0890af123442ba"/>
    <p:sldId xmlns:r="http://schemas.openxmlformats.org/officeDocument/2006/relationships" id="260" r:id="R51b90d6850154562"/>
    <p:sldId xmlns:r="http://schemas.openxmlformats.org/officeDocument/2006/relationships" id="261" r:id="R345f26825b964e3f"/>
    <p:sldId xmlns:r="http://schemas.openxmlformats.org/officeDocument/2006/relationships" id="262" r:id="R11e2f8d009ae4924"/>
    <p:sldId xmlns:r="http://schemas.openxmlformats.org/officeDocument/2006/relationships" id="263" r:id="R1b97cfddde4d49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aebbd82e644a0f" /><Relationship Type="http://schemas.openxmlformats.org/officeDocument/2006/relationships/slideMaster" Target="/ppt/slideMasters/slideMaster1.xml" Id="R2ebf1aca49bd482c" /><Relationship Type="http://schemas.openxmlformats.org/officeDocument/2006/relationships/notesMaster" Target="/ppt/notesMasters/notesMaster1.xml" Id="R0aa2176495c24639" /><Relationship Type="http://schemas.openxmlformats.org/officeDocument/2006/relationships/presProps" Target="/ppt/presProps.xml" Id="Rf83ca92dfcc5411e" /><Relationship Type="http://schemas.openxmlformats.org/officeDocument/2006/relationships/tableStyles" Target="/ppt/tableStyles.xml" Id="R76b0b80d420a43d0" /><Relationship Type="http://schemas.openxmlformats.org/officeDocument/2006/relationships/slide" Target="/ppt/slides/slide1.xml" Id="Rf917e50dfbab4d33" /><Relationship Type="http://schemas.openxmlformats.org/officeDocument/2006/relationships/slide" Target="/ppt/slides/slide2.xml" Id="Reb0a8ca0d2a049da" /><Relationship Type="http://schemas.openxmlformats.org/officeDocument/2006/relationships/slide" Target="/ppt/slides/slide3.xml" Id="R8f13025b2d6c4991" /><Relationship Type="http://schemas.openxmlformats.org/officeDocument/2006/relationships/slide" Target="/ppt/slides/slide4.xml" Id="R6d0890af123442ba" /><Relationship Type="http://schemas.openxmlformats.org/officeDocument/2006/relationships/slide" Target="/ppt/slides/slide5.xml" Id="R51b90d6850154562" /><Relationship Type="http://schemas.openxmlformats.org/officeDocument/2006/relationships/slide" Target="/ppt/slides/slide6.xml" Id="R345f26825b964e3f" /><Relationship Type="http://schemas.openxmlformats.org/officeDocument/2006/relationships/slide" Target="/ppt/slides/slide7.xml" Id="R11e2f8d009ae4924" /><Relationship Type="http://schemas.openxmlformats.org/officeDocument/2006/relationships/slide" Target="/ppt/slides/slide8.xml" Id="R1b97cfddde4d49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672c0ef37c4b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c6852eee5844b8" /><Relationship Type="http://schemas.openxmlformats.org/officeDocument/2006/relationships/notesMaster" Target="/ppt/notesMasters/notesMaster1.xml" Id="Rf642f00437ad44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bd027de78a4f01" /><Relationship Type="http://schemas.openxmlformats.org/officeDocument/2006/relationships/notesMaster" Target="/ppt/notesMasters/notesMaster1.xml" Id="Rde19cccae87e45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1c2beb8d9f432b" /><Relationship Type="http://schemas.openxmlformats.org/officeDocument/2006/relationships/notesMaster" Target="/ppt/notesMasters/notesMaster1.xml" Id="R7b189260b9ab4e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dc24ce14284f1c" /><Relationship Type="http://schemas.openxmlformats.org/officeDocument/2006/relationships/notesMaster" Target="/ppt/notesMasters/notesMaster1.xml" Id="Rfcb87a41d22240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4a693fefdb4f20" /><Relationship Type="http://schemas.openxmlformats.org/officeDocument/2006/relationships/notesMaster" Target="/ppt/notesMasters/notesMaster1.xml" Id="R836df81eace44f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2825cef3a84bbc" /><Relationship Type="http://schemas.openxmlformats.org/officeDocument/2006/relationships/notesMaster" Target="/ppt/notesMasters/notesMaster1.xml" Id="R48e58096c72949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b9847139f646f8" /><Relationship Type="http://schemas.openxmlformats.org/officeDocument/2006/relationships/notesMaster" Target="/ppt/notesMasters/notesMaster1.xml" Id="R5d45fd5be7eb48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94fae1203f4c75" /><Relationship Type="http://schemas.openxmlformats.org/officeDocument/2006/relationships/notesMaster" Target="/ppt/notesMasters/notesMaster1.xml" Id="Rc8e100a024ee44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 do módulo: Interpretar achados e justificar prioridades e exceções com evidências. Ler as notas dos slides e as fontes oficiais. O roteiro local orienta as páginas do guia fornecido e aponta ambiguidades das questões antigas.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F02: Curso Specialist: datasheet oficial</a:t>
            </a:r>
          </a:p>
          <a:p xmlns:a="http://schemas.openxmlformats.org/drawingml/2006/main">
            <a:r>
              <a:t>https://static.tenable.com/ps/DS_VM_Specialist_Course.pdf</a:t>
            </a:r>
          </a:p>
          <a:p xmlns:a="http://schemas.openxmlformats.org/drawingml/2006/main">
            <a:r>
              <a:t>Data: 2026-09-09. revisão 090926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autoral: a mesma falha em dois hosts não equivale a um único host exposto. Diferenciar contagem de ativos, plugins e ocorrências.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F33: Findings</a:t>
            </a:r>
          </a:p>
          <a:p xmlns:a="http://schemas.openxmlformats.org/drawingml/2006/main">
            <a:r>
              <a:t>https://docs.tenable.com/vulnerability-management/Content/Explore/findings-intro.htm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F36: My Findings: Vulnerability Intelligence</a:t>
            </a:r>
          </a:p>
          <a:p xmlns:a="http://schemas.openxmlformats.org/drawingml/2006/main">
            <a:r>
              <a:t>https://docs.tenable.com/vulnerability-management/Content/vulnerability-intelligence/my-findings-tab.htm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 de referência da interface oficial, consultada em 14/10/2026:</a:t>
            </a:r>
          </a:p>
          <a:p xmlns:a="http://schemas.openxmlformats.org/drawingml/2006/main">
            <a:r>
              <a:t>https://www.tenable.com/themes/custom/tenable/images-new/products/vulnerability-management/vm-explore-view.webp</a:t>
            </a:r>
          </a:p>
          <a:p xmlns:a="http://schemas.openxmlformats.org/drawingml/2006/main">
            <a:r>
              <a:t>Página: https://www.tenable.com/products/vulnerability-management</a:t>
            </a:r>
          </a:p>
          <a:p xmlns:a="http://schemas.openxmlformats.org/drawingml/2006/main">
            <a:r>
              <a:t>Os dados da captura pertencem à demonstração da Tenable, sem representar o ambiente do candidato. A imagem contextualiza a interface e não substitui as regras atuais da documentação.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UI filtra New junto com Active. Na API, new e active aparecem como open, e resurfaced aparece como reopened.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F34: Vulnerability States</a:t>
            </a:r>
          </a:p>
          <a:p xmlns:a="http://schemas.openxmlformats.org/drawingml/2006/main">
            <a:r>
              <a:t>https://docs.tenable.com/vulnerability-management/Content/Explore/Findings/VulnerabilityStates.htm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documentação de General Settings prevalece para configuração de severidade. Especificar a métrica adotada quando comparar severidades de findings.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F35: CVSS vs. VPR</a:t>
            </a:r>
          </a:p>
          <a:p xmlns:a="http://schemas.openxmlformats.org/drawingml/2006/main">
            <a:r>
              <a:t>https://docs.tenable.com/vulnerability-management/Content/Explore/Findings/RiskMetrics.htm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F45: Tenable Scoring Explained: VM</a:t>
            </a:r>
          </a:p>
          <a:p xmlns:a="http://schemas.openxmlformats.org/drawingml/2006/main">
            <a:r>
              <a:t>https://docs.tenable.com/quick-reference/scoring-explained/Content/VM.htm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Drivers refletem o panorama global da vulnerabilidade. A criticidade de um servidor específico precisa de contexto separado.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F35: CVSS vs. VPR</a:t>
            </a:r>
          </a:p>
          <a:p xmlns:a="http://schemas.openxmlformats.org/drawingml/2006/main">
            <a:r>
              <a:t>https://docs.tenable.com/vulnerability-management/Content/Explore/Findings/RiskMetrics.htm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Caso autoral: comparar falha com exploração ativa num servidor crítico e falha técnica grave num host de laboratório. Não criar uma fórmula universal sem política de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F19: General Settings</a:t>
            </a:r>
          </a:p>
          <a:p xmlns:a="http://schemas.openxmlformats.org/drawingml/2006/main">
            <a:r>
              <a:t>https://docs.tenable.com/vulnerability-management/Content/Settings/General/General.htm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F45: Tenable Scoring Explained: VM</a:t>
            </a:r>
          </a:p>
          <a:p xmlns:a="http://schemas.openxmlformats.org/drawingml/2006/main">
            <a:r>
              <a:t>https://docs.tenable.com/quick-reference/scoring-explained/Content/VM.htm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F34: Vulnerability States</a:t>
            </a:r>
          </a:p>
          <a:p xmlns:a="http://schemas.openxmlformats.org/drawingml/2006/main">
            <a:r>
              <a:t>https://docs.tenable.com/vulnerability-management/Content/Explore/Findings/VulnerabilityStates.htm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Essas ações não aplicam patches. A regra pode levar tempo para refletir nas views. Usar evidências e escopo estreito em exercícios de governança.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F37: Add Recast, Change Result and Accept Rules</a:t>
            </a:r>
          </a:p>
          <a:p xmlns:a="http://schemas.openxmlformats.org/drawingml/2006/main">
            <a:r>
              <a:t>https://docs.tenable.com/vulnerability-management/Content/recast/add-recast-rules.htm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Laboratório L07. Sem console, criar uma decisão de risco para três achados fictícios. Com console, apenas visualizar regras reais ou criar uma regra em tenant de estudo autorizado.</a:t>
            </a:r>
          </a:p>
          <a:p xmlns:a="http://schemas.openxmlformats.org/drawingml/2006/main">
            <a:r>
              <a:t>Material local de apoio: L02 páginas PDF 43, 44, 45, 46, 49, 50, 1010. L03 itens 5, 8, 20, 21, 22, 28. L01 itens 16, 17, 18, 19, 20, 21, 28. CVSS, VPR, contexto e estados. Atualizar severidade com General Settings de 2026. Consultar Fontes/revisao_material_local.md.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F33: Findings</a:t>
            </a:r>
          </a:p>
          <a:p xmlns:a="http://schemas.openxmlformats.org/drawingml/2006/main">
            <a:r>
              <a:t>https://docs.tenable.com/vulnerability-management/Content/Explore/findings-intro.htm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F34: Vulnerability States</a:t>
            </a:r>
          </a:p>
          <a:p xmlns:a="http://schemas.openxmlformats.org/drawingml/2006/main">
            <a:r>
              <a:t>https://docs.tenable.com/vulnerability-management/Content/Explore/Findings/VulnerabilityStates.htm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F37: Add Recast, Change Result and Accept Rules</a:t>
            </a:r>
          </a:p>
          <a:p xmlns:a="http://schemas.openxmlformats.org/drawingml/2006/main">
            <a:r>
              <a:t>https://docs.tenable.com/vulnerability-management/Content/recast/add-recast-rules.htm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L02: Guia oficial local de VM, 1.478 páginas</a:t>
            </a:r>
          </a:p>
          <a:p xmlns:a="http://schemas.openxmlformats.org/drawingml/2006/main">
            <a:r>
              <a:t>C:/Users/rafael.cordeiro/OneDrive - Subsecretaria de Tecnologia da Informação/SGG/Tenable/Doc/User Guide - Tenable Vulnerability Management.pdf</a:t>
            </a:r>
          </a:p>
          <a:p xmlns:a="http://schemas.openxmlformats.org/drawingml/2006/main">
            <a:r>
              <a:t>Data: 2024-06-20. Last Revised na capa e metadados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L03: QUESTÕES: documento local com 33 itens</a:t>
            </a:r>
          </a:p>
          <a:p xmlns:a="http://schemas.openxmlformats.org/drawingml/2006/main">
            <a:r>
              <a:t>C:/Users/rafael.cordeiro/OneDrive - Subsecretaria de Tecnologia da Informação/SGG/Tenable/Doc/QUESTÕES.docx</a:t>
            </a:r>
          </a:p>
          <a:p xmlns:a="http://schemas.openxmlformats.org/drawingml/2006/main">
            <a:r>
              <a:t>Data: sem data comprovada. metadados de criação 04/08/2026 e modificação 05/08/2026, sem publicação comprovada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L01: Compilado local de questões, 13 páginas e 41 itens</a:t>
            </a:r>
          </a:p>
          <a:p xmlns:a="http://schemas.openxmlformats.org/drawingml/2006/main">
            <a:r>
              <a:t>C:/Users/rafael.cordeiro/OneDrive - Subsecretaria de Tecnologia da Informação/SGG/Tenable/Doc/tenable_vulnerability_management_specialist_v3.pdf</a:t>
            </a:r>
          </a:p>
          <a:p xmlns:a="http://schemas.openxmlformats.org/drawingml/2006/main">
            <a:r>
              <a:t>Data: sem data comprovada. título menciona 2026, sem data editorial comprovada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8a78f8b0844b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a6273312d24a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79d584d69b49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80591ade624f0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2b0e1a2c5c43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919e52f9742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168C5E-7500-4C13-9BCF-FE29365B86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59A1DC-8090-4918-B538-7F6B1322B29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8F0A8BA-CAEE-4F5A-9877-9AD84B1839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CD9CFD-8E2D-49D1-BFB2-4C4127B53B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D5A8E69-2A0A-4BB2-945A-7D926C3522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8B94DC-D127-40F9-A227-99A4703376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7DFE2F-D003-4736-B64D-F442462444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2757765-10F6-4D0F-98AD-B8EEA469F4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39856C-D9C2-47DE-8378-6D149BE705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CC036E-DD5D-4540-BE9E-D1776222A3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4fffd2c765465a" /><Relationship Type="http://schemas.openxmlformats.org/officeDocument/2006/relationships/slideLayout" Target="/ppt/slideLayouts/slideLayout1.xml" Id="R4045e06bf27b41bd" /><Relationship Type="http://schemas.openxmlformats.org/officeDocument/2006/relationships/slideLayout" Target="/ppt/slideLayouts/slideLayout2.xml" Id="Ra040dca3e7714ea6" /><Relationship Type="http://schemas.openxmlformats.org/officeDocument/2006/relationships/slideLayout" Target="/ppt/slideLayouts/slideLayout3.xml" Id="Rbd4696819c654656" /><Relationship Type="http://schemas.openxmlformats.org/officeDocument/2006/relationships/slideLayout" Target="/ppt/slideLayouts/slideLayout4.xml" Id="R27af0d25433f4a84" /><Relationship Type="http://schemas.openxmlformats.org/officeDocument/2006/relationships/slideLayout" Target="/ppt/slideLayouts/slideLayout5.xml" Id="Rd36936a481464429" /><Relationship Type="http://schemas.openxmlformats.org/officeDocument/2006/relationships/slideLayout" Target="/ppt/slideLayouts/slideLayout6.xml" Id="Rf0c041aad38b49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45e06bf27b41bd"/>
    <p:sldLayoutId xmlns:r="http://schemas.openxmlformats.org/officeDocument/2006/relationships" id="2147483650" r:id="Ra040dca3e7714ea6"/>
    <p:sldLayoutId xmlns:r="http://schemas.openxmlformats.org/officeDocument/2006/relationships" id="2147483651" r:id="Rbd4696819c654656"/>
    <p:sldLayoutId xmlns:r="http://schemas.openxmlformats.org/officeDocument/2006/relationships" id="2147483652" r:id="R27af0d25433f4a84"/>
    <p:sldLayoutId xmlns:r="http://schemas.openxmlformats.org/officeDocument/2006/relationships" id="2147483653" r:id="Rd36936a481464429"/>
    <p:sldLayoutId xmlns:r="http://schemas.openxmlformats.org/officeDocument/2006/relationships" id="2147483654" r:id="Rf0c041aad38b49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9b239ddb55484b" /><Relationship Type="http://schemas.openxmlformats.org/officeDocument/2006/relationships/notesSlide" Target="/ppt/notesSlides/notesSlide1.xml" Id="R7f4f1d47dbbf47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2f00f67e0c4ca3" /><Relationship Type="http://schemas.openxmlformats.org/officeDocument/2006/relationships/image" Target="/ppt/media/image.png" Id="R60b5a4a35fba49af" /><Relationship Type="http://schemas.openxmlformats.org/officeDocument/2006/relationships/notesSlide" Target="/ppt/notesSlides/notesSlide2.xml" Id="R4885a34d41cd4b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aee7796e1d411e" /><Relationship Type="http://schemas.openxmlformats.org/officeDocument/2006/relationships/notesSlide" Target="/ppt/notesSlides/notesSlide3.xml" Id="Rbd7a6c73bf434a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8dd3e08faf4c95" /><Relationship Type="http://schemas.openxmlformats.org/officeDocument/2006/relationships/notesSlide" Target="/ppt/notesSlides/notesSlide4.xml" Id="R0eb7450b7fe343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6912a8607b47a5" /><Relationship Type="http://schemas.openxmlformats.org/officeDocument/2006/relationships/notesSlide" Target="/ppt/notesSlides/notesSlide5.xml" Id="R600dfde8f76f4f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bb96f97e5f4e83" /><Relationship Type="http://schemas.openxmlformats.org/officeDocument/2006/relationships/notesSlide" Target="/ppt/notesSlides/notesSlide6.xml" Id="R302a291001a84c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3297b4e2e84f86" /><Relationship Type="http://schemas.openxmlformats.org/officeDocument/2006/relationships/notesSlide" Target="/ppt/notesSlides/notesSlide7.xml" Id="R0fc176b8de4c4e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b4480cba584013" /><Relationship Type="http://schemas.openxmlformats.org/officeDocument/2006/relationships/notesSlide" Target="/ppt/notesSlides/notesSlide8.xml" Id="R90bdae5763144d92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264B"/>
            </a:gs>
            <a:gs pos="100000">
              <a:srgbClr val="006FC6"/>
            </a:gs>
          </a:gsLst>
          <a:lin ang="1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7zk6u_Section">
            <a:extLst xmlns:a="http://schemas.openxmlformats.org/drawingml/2006/main">
              <a:ext uri="{FF2B5EF4-FFF2-40B4-BE49-F238E27FC236}">
                <a16:creationId xmlns:a16="http://schemas.microsoft.com/office/drawing/2014/main" id="{324BEF5F-5492-41FF-AAFD-8C0D8B9C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3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4DD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4D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4DDFF"/>
                </a:solidFill>
                <a:latin typeface="Arial"/>
                <a:ea typeface="Arial"/>
                <a:cs typeface="Arial"/>
              </a:rPr>
              <a:t>TEMA 07</a:t>
            </a:r>
          </a:p>
        </p:txBody>
      </p:sp>
      <p:sp>
        <p:nvSpPr>
          <p:cNvPr id="2" name="a7zk6u_Title">
            <a:extLst xmlns:a="http://schemas.openxmlformats.org/drawingml/2006/main">
              <a:ext uri="{FF2B5EF4-FFF2-40B4-BE49-F238E27FC236}">
                <a16:creationId xmlns:a16="http://schemas.microsoft.com/office/drawing/2014/main" id="{44D3EEB6-37A6-4FE7-95E5-2266B9D0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439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Findings, risco e exceções</a:t>
            </a:r>
          </a:p>
        </p:txBody>
      </p:sp>
      <p:sp>
        <p:nvSpPr>
          <p:cNvPr id="3" name="a7zk6u_Subtitle">
            <a:extLst xmlns:a="http://schemas.openxmlformats.org/drawingml/2006/main">
              <a:ext uri="{FF2B5EF4-FFF2-40B4-BE49-F238E27FC236}">
                <a16:creationId xmlns:a16="http://schemas.microsoft.com/office/drawing/2014/main" id="{47A4FA52-6FF6-4854-9592-4DF0FCC0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00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EDF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EDF6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F6FF"/>
                </a:solidFill>
                <a:latin typeface="Arial"/>
                <a:ea typeface="Arial"/>
                <a:cs typeface="Arial"/>
              </a:rPr>
              <a:t>Interpretar achados e justificar prioridades e exceções com evidências.</a:t>
            </a:r>
          </a:p>
        </p:txBody>
      </p:sp>
      <p:sp>
        <p:nvSpPr>
          <p:cNvPr id="4" name="a7zk6u_Schedule">
            <a:extLst xmlns:a="http://schemas.openxmlformats.org/drawingml/2006/main">
              <a:ext uri="{FF2B5EF4-FFF2-40B4-BE49-F238E27FC236}">
                <a16:creationId xmlns:a16="http://schemas.microsoft.com/office/drawing/2014/main" id="{1EC0DC53-9880-4E39-8B14-1B254EA8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439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9FB"/>
                </a:solidFill>
                <a:latin typeface="Arial"/>
                <a:ea typeface="Arial"/>
                <a:cs typeface="Arial"/>
              </a:rPr>
              <a:t>Semana 7 de estudo</a:t>
            </a:r>
          </a:p>
          <a:p xmlns:a="http://schemas.openxmlformats.org/drawingml/2006/main">
            <a: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9FB"/>
                </a:solidFill>
                <a:latin typeface="Arial"/>
                <a:ea typeface="Arial"/>
                <a:cs typeface="Arial"/>
              </a:rPr>
              <a:t>Vulnerability Assessment / Configuration</a:t>
            </a:r>
          </a:p>
        </p:txBody>
      </p:sp>
      <p:sp>
        <p:nvSpPr>
          <p:cNvPr id="5" name="a7zk6u_Footer">
            <a:extLst xmlns:a="http://schemas.openxmlformats.org/drawingml/2006/main">
              <a:ext uri="{FF2B5EF4-FFF2-40B4-BE49-F238E27FC236}">
                <a16:creationId xmlns:a16="http://schemas.microsoft.com/office/drawing/2014/main" id="{21999FEF-426B-4AED-A2A0-C9EDFC6E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FD7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FD7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D7EE"/>
                </a:solidFill>
                <a:latin typeface="Arial"/>
                <a:ea typeface="Arial"/>
                <a:cs typeface="Arial"/>
              </a:rPr>
              <a:t>Tenable Vulnerability Management   /   Written Exam</a:t>
            </a:r>
          </a:p>
        </p:txBody>
      </p:sp>
    </p:spTree>
    <p:extLst>
      <p:ext uri="{BB962C8B-B14F-4D97-AF65-F5344CB8AC3E}">
        <p14:creationId xmlns:p14="http://schemas.microsoft.com/office/powerpoint/2010/main" val="13192769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x7z4hq_Section">
            <a:extLst xmlns:a="http://schemas.openxmlformats.org/drawingml/2006/main">
              <a:ext uri="{FF2B5EF4-FFF2-40B4-BE49-F238E27FC236}">
                <a16:creationId xmlns:a16="http://schemas.microsoft.com/office/drawing/2014/main" id="{10E0CBA1-FC74-4C73-980A-5EA3A31B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07</a:t>
            </a:r>
          </a:p>
        </p:txBody>
      </p:sp>
      <p:sp>
        <p:nvSpPr>
          <p:cNvPr id="2" name="x7z4hq_Title">
            <a:extLst xmlns:a="http://schemas.openxmlformats.org/drawingml/2006/main">
              <a:ext uri="{FF2B5EF4-FFF2-40B4-BE49-F238E27FC236}">
                <a16:creationId xmlns:a16="http://schemas.microsoft.com/office/drawing/2014/main" id="{85518E71-C29B-4FC8-A55A-5AAD54DA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Granularidade e filtros</a:t>
            </a:r>
          </a:p>
        </p:txBody>
      </p:sp>
      <p:sp>
        <p:nvSpPr>
          <p:cNvPr id="3" name="x7z4hq_Body_1">
            <a:extLst xmlns:a="http://schemas.openxmlformats.org/drawingml/2006/main">
              <a:ext uri="{FF2B5EF4-FFF2-40B4-BE49-F238E27FC236}">
                <a16:creationId xmlns:a16="http://schemas.microsoft.com/office/drawing/2014/main" id="{7B870659-25FE-4EAB-9EE5-366FB2B1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Um finding corresponde a uma ocorrência em um ativo.</a:t>
            </a:r>
          </a:p>
        </p:txBody>
      </p:sp>
      <p:sp>
        <p:nvSpPr>
          <p:cNvPr id="4" name="x7z4hq_Body_2">
            <a:extLst xmlns:a="http://schemas.openxmlformats.org/drawingml/2006/main">
              <a:ext uri="{FF2B5EF4-FFF2-40B4-BE49-F238E27FC236}">
                <a16:creationId xmlns:a16="http://schemas.microsoft.com/office/drawing/2014/main" id="{62325945-F18B-4827-A762-13741CC7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Plugin, porta e protocolo distinguem ocorrências.</a:t>
            </a:r>
          </a:p>
        </p:txBody>
      </p:sp>
      <p:sp>
        <p:nvSpPr>
          <p:cNvPr id="5" name="x7z4hq_Body_3">
            <a:extLst xmlns:a="http://schemas.openxmlformats.org/drawingml/2006/main">
              <a:ext uri="{FF2B5EF4-FFF2-40B4-BE49-F238E27FC236}">
                <a16:creationId xmlns:a16="http://schemas.microsoft.com/office/drawing/2014/main" id="{FF8FFA55-54FC-4FA9-B437-0BC84D4F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Agrupar por plugin responde uma pergunta diferente de agrupar por ativo.</a:t>
            </a:r>
          </a:p>
        </p:txBody>
      </p:sp>
      <p:sp>
        <p:nvSpPr>
          <p:cNvPr id="6" name="x7z4hq_Body_4">
            <a:extLst xmlns:a="http://schemas.openxmlformats.org/drawingml/2006/main">
              <a:ext uri="{FF2B5EF4-FFF2-40B4-BE49-F238E27FC236}">
                <a16:creationId xmlns:a16="http://schemas.microsoft.com/office/drawing/2014/main" id="{EEB0E965-846B-4299-AD26-705B687D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Escopo, estado e datas alteram a lista analisada.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52D20-5BAF-4E94-BB8C-37BBE88852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b5a4a35fba49af"/>
          <a:stretch xmlns:a="http://schemas.openxmlformats.org/drawingml/2006/main"/>
        </p:blipFill>
        <p:spPr>
          <a:xfrm xmlns:a="http://schemas.openxmlformats.org/drawingml/2006/main">
            <a:off x="5448300" y="2265998"/>
            <a:ext cx="6057900" cy="3230880"/>
          </a:xfrm>
          <a:prstGeom xmlns:a="http://schemas.openxmlformats.org/drawingml/2006/main" prst="rect">
            <a:avLst/>
          </a:prstGeom>
        </p:spPr>
      </p:pic>
      <p:sp>
        <p:nvSpPr>
          <p:cNvPr id="8" name="x7z4hq_Screenshot_caption">
            <a:extLst xmlns:a="http://schemas.openxmlformats.org/drawingml/2006/main">
              <a:ext uri="{FF2B5EF4-FFF2-40B4-BE49-F238E27FC236}">
                <a16:creationId xmlns:a16="http://schemas.microsoft.com/office/drawing/2014/main" id="{E632CA7A-0A8D-4D5F-9720-E48C4DF7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743575"/>
            <a:ext cx="605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Interface de referência. Dados da demonstração Tenable.</a:t>
            </a:r>
          </a:p>
        </p:txBody>
      </p:sp>
      <p:sp>
        <p:nvSpPr>
          <p:cNvPr id="9" name="x7z4hq_Footer">
            <a:extLst xmlns:a="http://schemas.openxmlformats.org/drawingml/2006/main">
              <a:ext uri="{FF2B5EF4-FFF2-40B4-BE49-F238E27FC236}">
                <a16:creationId xmlns:a16="http://schemas.microsoft.com/office/drawing/2014/main" id="{0EBBC0A0-6A1C-499B-AA4B-D211414C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10" name="x7z4hq_Folio">
            <a:extLst xmlns:a="http://schemas.openxmlformats.org/drawingml/2006/main">
              <a:ext uri="{FF2B5EF4-FFF2-40B4-BE49-F238E27FC236}">
                <a16:creationId xmlns:a16="http://schemas.microsoft.com/office/drawing/2014/main" id="{EAFEA56B-D4AD-426C-8A7C-96C4D49D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576453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89dwtc_Section">
            <a:extLst xmlns:a="http://schemas.openxmlformats.org/drawingml/2006/main">
              <a:ext uri="{FF2B5EF4-FFF2-40B4-BE49-F238E27FC236}">
                <a16:creationId xmlns:a16="http://schemas.microsoft.com/office/drawing/2014/main" id="{2324B07A-005D-48A0-9A2D-6ABF76D9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07</a:t>
            </a:r>
          </a:p>
        </p:txBody>
      </p:sp>
      <p:sp>
        <p:nvSpPr>
          <p:cNvPr id="2" name="89dwtc_Title">
            <a:extLst xmlns:a="http://schemas.openxmlformats.org/drawingml/2006/main">
              <a:ext uri="{FF2B5EF4-FFF2-40B4-BE49-F238E27FC236}">
                <a16:creationId xmlns:a16="http://schemas.microsoft.com/office/drawing/2014/main" id="{30A5AC2F-C62B-44A4-B1D6-52D2FB59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Estados das vulnerabilidades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B5EE9-28F5-418C-B66C-11708BB5B942}"/>
              </a:ext>
            </a:extLst>
          </p:cNvPr>
          <p:cNvGraphicFramePr/>
          <p:nvPr/>
        </p:nvGraphicFramePr>
        <p:xfrm>
          <a:off xmlns:a="http://schemas.openxmlformats.org/drawingml/2006/main" x="685800" y="2219325"/>
          <a:ext xmlns:a="http://schemas.openxmlformats.org/drawingml/2006/main" cx="10820400" cy="3352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8153400"/>
              </a:tblGrid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Estado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006C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Interpretação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006CC1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New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Detecção uma vez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Active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Detecção mais de uma vez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Fixed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A avaliação já não detecta a falha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Resurfaced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Nova detecção após Fixed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4" name="89dwtc_Footer">
            <a:extLst xmlns:a="http://schemas.openxmlformats.org/drawingml/2006/main">
              <a:ext uri="{FF2B5EF4-FFF2-40B4-BE49-F238E27FC236}">
                <a16:creationId xmlns:a16="http://schemas.microsoft.com/office/drawing/2014/main" id="{29B4AC06-07FF-4BDD-87F4-3C860559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5" name="89dwtc_Folio">
            <a:extLst xmlns:a="http://schemas.openxmlformats.org/drawingml/2006/main">
              <a:ext uri="{FF2B5EF4-FFF2-40B4-BE49-F238E27FC236}">
                <a16:creationId xmlns:a16="http://schemas.microsoft.com/office/drawing/2014/main" id="{514E5E77-BCD8-4A2C-958D-73E36D67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230667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cwocy_Section">
            <a:extLst xmlns:a="http://schemas.openxmlformats.org/drawingml/2006/main">
              <a:ext uri="{FF2B5EF4-FFF2-40B4-BE49-F238E27FC236}">
                <a16:creationId xmlns:a16="http://schemas.microsoft.com/office/drawing/2014/main" id="{293216BC-33DF-4667-84CF-A693FDF5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07</a:t>
            </a:r>
          </a:p>
        </p:txBody>
      </p:sp>
      <p:sp>
        <p:nvSpPr>
          <p:cNvPr id="2" name="lcwocy_Title">
            <a:extLst xmlns:a="http://schemas.openxmlformats.org/drawingml/2006/main">
              <a:ext uri="{FF2B5EF4-FFF2-40B4-BE49-F238E27FC236}">
                <a16:creationId xmlns:a16="http://schemas.microsoft.com/office/drawing/2014/main" id="{F1FFDC46-5D23-4348-924C-80C66130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CVSS, VPR e contexto</a:t>
            </a:r>
          </a:p>
        </p:txBody>
      </p:sp>
      <p:sp>
        <p:nvSpPr>
          <p:cNvPr id="3" name="lcwocy_Body_1">
            <a:extLst xmlns:a="http://schemas.openxmlformats.org/drawingml/2006/main">
              <a:ext uri="{FF2B5EF4-FFF2-40B4-BE49-F238E27FC236}">
                <a16:creationId xmlns:a16="http://schemas.microsoft.com/office/drawing/2014/main" id="{19DF7F7F-FDB2-4556-9249-7BC66ED6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CVSS descreve características técnicas da vulnerabilidade.</a:t>
            </a:r>
          </a:p>
        </p:txBody>
      </p:sp>
      <p:sp>
        <p:nvSpPr>
          <p:cNvPr id="4" name="lcwocy_Body_2">
            <a:extLst xmlns:a="http://schemas.openxmlformats.org/drawingml/2006/main">
              <a:ext uri="{FF2B5EF4-FFF2-40B4-BE49-F238E27FC236}">
                <a16:creationId xmlns:a16="http://schemas.microsoft.com/office/drawing/2014/main" id="{1ACB683D-BF4F-437F-8A19-225A0083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VPR utiliza informações dinâmicas de ameaça.</a:t>
            </a:r>
          </a:p>
        </p:txBody>
      </p:sp>
      <p:sp>
        <p:nvSpPr>
          <p:cNvPr id="5" name="lcwocy_Body_3">
            <a:extLst xmlns:a="http://schemas.openxmlformats.org/drawingml/2006/main">
              <a:ext uri="{FF2B5EF4-FFF2-40B4-BE49-F238E27FC236}">
                <a16:creationId xmlns:a16="http://schemas.microsoft.com/office/drawing/2014/main" id="{E8BE2B63-9312-4A32-B6CC-92F679D9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ACR descreve criticidade de negócio do ativo, quando licenciado.</a:t>
            </a:r>
          </a:p>
        </p:txBody>
      </p:sp>
      <p:sp>
        <p:nvSpPr>
          <p:cNvPr id="6" name="lcwocy_Body_4">
            <a:extLst xmlns:a="http://schemas.openxmlformats.org/drawingml/2006/main">
              <a:ext uri="{FF2B5EF4-FFF2-40B4-BE49-F238E27FC236}">
                <a16:creationId xmlns:a16="http://schemas.microsoft.com/office/drawing/2014/main" id="{B3B550F7-35BC-4F65-B91C-FA110D12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 prioridade combina a evidência com o contexto do ambiente.</a:t>
            </a:r>
          </a:p>
        </p:txBody>
      </p:sp>
      <p:sp>
        <p:nvSpPr>
          <p:cNvPr id="7" name="lcwocy_Footer">
            <a:extLst xmlns:a="http://schemas.openxmlformats.org/drawingml/2006/main">
              <a:ext uri="{FF2B5EF4-FFF2-40B4-BE49-F238E27FC236}">
                <a16:creationId xmlns:a16="http://schemas.microsoft.com/office/drawing/2014/main" id="{348B81AE-271F-48A8-8697-3880CA1D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lcwocy_Folio">
            <a:extLst xmlns:a="http://schemas.openxmlformats.org/drawingml/2006/main">
              <a:ext uri="{FF2B5EF4-FFF2-40B4-BE49-F238E27FC236}">
                <a16:creationId xmlns:a16="http://schemas.microsoft.com/office/drawing/2014/main" id="{2E35349F-EC08-4BCC-BF20-8B5DFBC2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379703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vjb9f_Section">
            <a:extLst xmlns:a="http://schemas.openxmlformats.org/drawingml/2006/main">
              <a:ext uri="{FF2B5EF4-FFF2-40B4-BE49-F238E27FC236}">
                <a16:creationId xmlns:a16="http://schemas.microsoft.com/office/drawing/2014/main" id="{5F4D0C09-3434-49A0-9DF3-DDB73125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07</a:t>
            </a:r>
          </a:p>
        </p:txBody>
      </p:sp>
      <p:sp>
        <p:nvSpPr>
          <p:cNvPr id="2" name="hvjb9f_Title">
            <a:extLst xmlns:a="http://schemas.openxmlformats.org/drawingml/2006/main">
              <a:ext uri="{FF2B5EF4-FFF2-40B4-BE49-F238E27FC236}">
                <a16:creationId xmlns:a16="http://schemas.microsoft.com/office/drawing/2014/main" id="{1E8CA550-6A68-4D9E-8A81-4CA17CA5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Drivers de VPR</a:t>
            </a:r>
          </a:p>
        </p:txBody>
      </p:sp>
      <p:sp>
        <p:nvSpPr>
          <p:cNvPr id="3" name="hvjb9f_Body_1">
            <a:extLst xmlns:a="http://schemas.openxmlformats.org/drawingml/2006/main">
              <a:ext uri="{FF2B5EF4-FFF2-40B4-BE49-F238E27FC236}">
                <a16:creationId xmlns:a16="http://schemas.microsoft.com/office/drawing/2014/main" id="{2518B2D7-38FF-48A2-938F-06FADDD9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Maturidade de exploit e probabilidade ajudam a explicar o score.</a:t>
            </a:r>
          </a:p>
        </p:txBody>
      </p:sp>
      <p:sp>
        <p:nvSpPr>
          <p:cNvPr id="4" name="hvjb9f_Body_2">
            <a:extLst xmlns:a="http://schemas.openxmlformats.org/drawingml/2006/main">
              <a:ext uri="{FF2B5EF4-FFF2-40B4-BE49-F238E27FC236}">
                <a16:creationId xmlns:a16="http://schemas.microsoft.com/office/drawing/2014/main" id="{8D0E8199-E9B9-48E4-BB84-2A52199C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Presença no CISA KEV indica contexto de exploração.</a:t>
            </a:r>
          </a:p>
        </p:txBody>
      </p:sp>
      <p:sp>
        <p:nvSpPr>
          <p:cNvPr id="5" name="hvjb9f_Body_3">
            <a:extLst xmlns:a="http://schemas.openxmlformats.org/drawingml/2006/main">
              <a:ext uri="{FF2B5EF4-FFF2-40B4-BE49-F238E27FC236}">
                <a16:creationId xmlns:a16="http://schemas.microsoft.com/office/drawing/2014/main" id="{427EC580-E86E-4509-84F5-7C3556FB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O score pode mudar quando muda a informação de ameaça.</a:t>
            </a:r>
          </a:p>
        </p:txBody>
      </p:sp>
      <p:sp>
        <p:nvSpPr>
          <p:cNvPr id="6" name="hvjb9f_Body_4">
            <a:extLst xmlns:a="http://schemas.openxmlformats.org/drawingml/2006/main">
              <a:ext uri="{FF2B5EF4-FFF2-40B4-BE49-F238E27FC236}">
                <a16:creationId xmlns:a16="http://schemas.microsoft.com/office/drawing/2014/main" id="{1330DD44-5542-4C80-8999-C78954FB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O usuário não edita diretamente o valor calculado.</a:t>
            </a:r>
          </a:p>
        </p:txBody>
      </p:sp>
      <p:sp>
        <p:nvSpPr>
          <p:cNvPr id="7" name="hvjb9f_Footer">
            <a:extLst xmlns:a="http://schemas.openxmlformats.org/drawingml/2006/main">
              <a:ext uri="{FF2B5EF4-FFF2-40B4-BE49-F238E27FC236}">
                <a16:creationId xmlns:a16="http://schemas.microsoft.com/office/drawing/2014/main" id="{2AEB59E2-8FB1-4015-90F8-33E8C9B7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hvjb9f_Folio">
            <a:extLst xmlns:a="http://schemas.openxmlformats.org/drawingml/2006/main">
              <a:ext uri="{FF2B5EF4-FFF2-40B4-BE49-F238E27FC236}">
                <a16:creationId xmlns:a16="http://schemas.microsoft.com/office/drawing/2014/main" id="{0B66B6EC-53E2-48E0-AD9E-ABA0A9E8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554627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7k5myi_Section">
            <a:extLst xmlns:a="http://schemas.openxmlformats.org/drawingml/2006/main">
              <a:ext uri="{FF2B5EF4-FFF2-40B4-BE49-F238E27FC236}">
                <a16:creationId xmlns:a16="http://schemas.microsoft.com/office/drawing/2014/main" id="{59EF90CA-AFE1-427D-91AD-D07A3B5F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07</a:t>
            </a:r>
          </a:p>
        </p:txBody>
      </p:sp>
      <p:sp>
        <p:nvSpPr>
          <p:cNvPr id="2" name="7k5myi_Title">
            <a:extLst xmlns:a="http://schemas.openxmlformats.org/drawingml/2006/main">
              <a:ext uri="{FF2B5EF4-FFF2-40B4-BE49-F238E27FC236}">
                <a16:creationId xmlns:a16="http://schemas.microsoft.com/office/drawing/2014/main" id="{F4A5087F-765E-4C7A-9BDE-4E61E415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Severidade e decisão de correção</a:t>
            </a:r>
          </a:p>
        </p:txBody>
      </p:sp>
      <p:sp>
        <p:nvSpPr>
          <p:cNvPr id="3" name="7k5myi_Body_1">
            <a:extLst xmlns:a="http://schemas.openxmlformats.org/drawingml/2006/main">
              <a:ext uri="{FF2B5EF4-FFF2-40B4-BE49-F238E27FC236}">
                <a16:creationId xmlns:a16="http://schemas.microsoft.com/office/drawing/2014/main" id="{6C4947E7-9305-47DB-B053-FC47B791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Um score alto exige avaliação do alcance e da evidência.</a:t>
            </a:r>
          </a:p>
        </p:txBody>
      </p:sp>
      <p:sp>
        <p:nvSpPr>
          <p:cNvPr id="4" name="7k5myi_Body_2">
            <a:extLst xmlns:a="http://schemas.openxmlformats.org/drawingml/2006/main">
              <a:ext uri="{FF2B5EF4-FFF2-40B4-BE49-F238E27FC236}">
                <a16:creationId xmlns:a16="http://schemas.microsoft.com/office/drawing/2014/main" id="{B059AA5B-15C0-4367-B2CE-65E075C0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Hosts de negócio crítico podem exigir prioridade adicional.</a:t>
            </a:r>
          </a:p>
        </p:txBody>
      </p:sp>
      <p:sp>
        <p:nvSpPr>
          <p:cNvPr id="5" name="7k5myi_Body_3">
            <a:extLst xmlns:a="http://schemas.openxmlformats.org/drawingml/2006/main">
              <a:ext uri="{FF2B5EF4-FFF2-40B4-BE49-F238E27FC236}">
                <a16:creationId xmlns:a16="http://schemas.microsoft.com/office/drawing/2014/main" id="{89D746BE-673E-4810-85AA-5CA9BB73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Uma mudança de métrica pode deixar severidades distintas temporariamente.</a:t>
            </a:r>
          </a:p>
        </p:txBody>
      </p:sp>
      <p:sp>
        <p:nvSpPr>
          <p:cNvPr id="6" name="7k5myi_Body_4">
            <a:extLst xmlns:a="http://schemas.openxmlformats.org/drawingml/2006/main">
              <a:ext uri="{FF2B5EF4-FFF2-40B4-BE49-F238E27FC236}">
                <a16:creationId xmlns:a16="http://schemas.microsoft.com/office/drawing/2014/main" id="{292A2F3F-492C-4625-9A18-F4A03624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Uma nova avaliação comprova o resultado da correção.</a:t>
            </a:r>
          </a:p>
        </p:txBody>
      </p:sp>
      <p:sp>
        <p:nvSpPr>
          <p:cNvPr id="7" name="7k5myi_Footer">
            <a:extLst xmlns:a="http://schemas.openxmlformats.org/drawingml/2006/main">
              <a:ext uri="{FF2B5EF4-FFF2-40B4-BE49-F238E27FC236}">
                <a16:creationId xmlns:a16="http://schemas.microsoft.com/office/drawing/2014/main" id="{E274DF4A-AFD1-4919-9750-DEFAA856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7k5myi_Folio">
            <a:extLst xmlns:a="http://schemas.openxmlformats.org/drawingml/2006/main">
              <a:ext uri="{FF2B5EF4-FFF2-40B4-BE49-F238E27FC236}">
                <a16:creationId xmlns:a16="http://schemas.microsoft.com/office/drawing/2014/main" id="{0654D0CE-BC68-4871-A119-FF8286DE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76398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5lex12_Section">
            <a:extLst xmlns:a="http://schemas.openxmlformats.org/drawingml/2006/main">
              <a:ext uri="{FF2B5EF4-FFF2-40B4-BE49-F238E27FC236}">
                <a16:creationId xmlns:a16="http://schemas.microsoft.com/office/drawing/2014/main" id="{7C9A77F3-26CD-4160-B870-3A23FDF9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07</a:t>
            </a:r>
          </a:p>
        </p:txBody>
      </p:sp>
      <p:sp>
        <p:nvSpPr>
          <p:cNvPr id="2" name="5lex12_Title">
            <a:extLst xmlns:a="http://schemas.openxmlformats.org/drawingml/2006/main">
              <a:ext uri="{FF2B5EF4-FFF2-40B4-BE49-F238E27FC236}">
                <a16:creationId xmlns:a16="http://schemas.microsoft.com/office/drawing/2014/main" id="{C853BFB0-728E-4D02-B103-1EB7256A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Recast, Accept e Change Result</a:t>
            </a:r>
          </a:p>
        </p:txBody>
      </p:sp>
      <p:sp>
        <p:nvSpPr>
          <p:cNvPr id="3" name="5lex12_Body_1">
            <a:extLst xmlns:a="http://schemas.openxmlformats.org/drawingml/2006/main">
              <a:ext uri="{FF2B5EF4-FFF2-40B4-BE49-F238E27FC236}">
                <a16:creationId xmlns:a16="http://schemas.microsoft.com/office/drawing/2014/main" id="{14C5CECD-7FB8-4EFB-B02C-6F12A61A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Recast ajusta a severidade exibida para o escopo da regra.</a:t>
            </a:r>
          </a:p>
        </p:txBody>
      </p:sp>
      <p:sp>
        <p:nvSpPr>
          <p:cNvPr id="4" name="5lex12_Body_2">
            <a:extLst xmlns:a="http://schemas.openxmlformats.org/drawingml/2006/main">
              <a:ext uri="{FF2B5EF4-FFF2-40B4-BE49-F238E27FC236}">
                <a16:creationId xmlns:a16="http://schemas.microsoft.com/office/drawing/2014/main" id="{32164116-5D32-4E6F-ABAB-1D3F9DEB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Accept registra aceitação e oculta findings na tabela.</a:t>
            </a:r>
          </a:p>
        </p:txBody>
      </p:sp>
      <p:sp>
        <p:nvSpPr>
          <p:cNvPr id="5" name="5lex12_Body_3">
            <a:extLst xmlns:a="http://schemas.openxmlformats.org/drawingml/2006/main">
              <a:ext uri="{FF2B5EF4-FFF2-40B4-BE49-F238E27FC236}">
                <a16:creationId xmlns:a16="http://schemas.microsoft.com/office/drawing/2014/main" id="{76F4DCD5-32E7-47A6-998B-A0C62FD8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Change Result altera o resultado de host audits.</a:t>
            </a:r>
          </a:p>
        </p:txBody>
      </p:sp>
      <p:sp>
        <p:nvSpPr>
          <p:cNvPr id="6" name="5lex12_Body_4">
            <a:extLst xmlns:a="http://schemas.openxmlformats.org/drawingml/2006/main">
              <a:ext uri="{FF2B5EF4-FFF2-40B4-BE49-F238E27FC236}">
                <a16:creationId xmlns:a16="http://schemas.microsoft.com/office/drawing/2014/main" id="{E6F271C7-12FA-4717-B576-B06C9289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Critério, justificativa e expiração delimitam a exceção.</a:t>
            </a:r>
          </a:p>
        </p:txBody>
      </p:sp>
      <p:sp>
        <p:nvSpPr>
          <p:cNvPr id="7" name="5lex12_Footer">
            <a:extLst xmlns:a="http://schemas.openxmlformats.org/drawingml/2006/main">
              <a:ext uri="{FF2B5EF4-FFF2-40B4-BE49-F238E27FC236}">
                <a16:creationId xmlns:a16="http://schemas.microsoft.com/office/drawing/2014/main" id="{B8E8C80A-ECE8-4344-9FB6-1C94179C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5lex12_Folio">
            <a:extLst xmlns:a="http://schemas.openxmlformats.org/drawingml/2006/main">
              <a:ext uri="{FF2B5EF4-FFF2-40B4-BE49-F238E27FC236}">
                <a16:creationId xmlns:a16="http://schemas.microsoft.com/office/drawing/2014/main" id="{2DAAF717-CBEF-4E99-9842-1E0A8C96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457677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77nm0p_Section">
            <a:extLst xmlns:a="http://schemas.openxmlformats.org/drawingml/2006/main">
              <a:ext uri="{FF2B5EF4-FFF2-40B4-BE49-F238E27FC236}">
                <a16:creationId xmlns:a16="http://schemas.microsoft.com/office/drawing/2014/main" id="{F25E651E-AE5A-44D0-B648-52CB2886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07</a:t>
            </a:r>
          </a:p>
        </p:txBody>
      </p:sp>
      <p:sp>
        <p:nvSpPr>
          <p:cNvPr id="2" name="77nm0p_Title">
            <a:extLst xmlns:a="http://schemas.openxmlformats.org/drawingml/2006/main">
              <a:ext uri="{FF2B5EF4-FFF2-40B4-BE49-F238E27FC236}">
                <a16:creationId xmlns:a16="http://schemas.microsoft.com/office/drawing/2014/main" id="{EACF0CF5-1201-4AE6-A0CB-9B880A30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Laboratório de risco</a:t>
            </a:r>
          </a:p>
        </p:txBody>
      </p:sp>
      <p:sp>
        <p:nvSpPr>
          <p:cNvPr id="3" name="77nm0p_Body_1">
            <a:extLst xmlns:a="http://schemas.openxmlformats.org/drawingml/2006/main">
              <a:ext uri="{FF2B5EF4-FFF2-40B4-BE49-F238E27FC236}">
                <a16:creationId xmlns:a16="http://schemas.microsoft.com/office/drawing/2014/main" id="{34AFB8C9-F7A4-46B2-B22F-93A720F3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Entrega:</a:t>
            </a:r>
            <a:r>
              <a:t> lista de prioridades com justificativas e evidências.</a:t>
            </a:r>
          </a:p>
        </p:txBody>
      </p:sp>
      <p:sp>
        <p:nvSpPr>
          <p:cNvPr id="4" name="77nm0p_Body_2">
            <a:extLst xmlns:a="http://schemas.openxmlformats.org/drawingml/2006/main">
              <a:ext uri="{FF2B5EF4-FFF2-40B4-BE49-F238E27FC236}">
                <a16:creationId xmlns:a16="http://schemas.microsoft.com/office/drawing/2014/main" id="{A1EEDC79-6091-4EFE-A41D-1689EDFD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Caso:</a:t>
            </a:r>
            <a:r>
              <a:t> uma regra ampla esconde findings fora do objetivo.</a:t>
            </a:r>
          </a:p>
        </p:txBody>
      </p:sp>
      <p:sp>
        <p:nvSpPr>
          <p:cNvPr id="5" name="77nm0p_Body_3">
            <a:extLst xmlns:a="http://schemas.openxmlformats.org/drawingml/2006/main">
              <a:ext uri="{FF2B5EF4-FFF2-40B4-BE49-F238E27FC236}">
                <a16:creationId xmlns:a16="http://schemas.microsoft.com/office/drawing/2014/main" id="{11D70FC2-84F9-4EF3-AF72-C732ADCC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Revisão:</a:t>
            </a:r>
            <a:r>
              <a:t> filtros, critério, prazo e condição de reavaliação.</a:t>
            </a:r>
          </a:p>
        </p:txBody>
      </p:sp>
      <p:sp>
        <p:nvSpPr>
          <p:cNvPr id="6" name="77nm0p_Body_4">
            <a:extLst xmlns:a="http://schemas.openxmlformats.org/drawingml/2006/main">
              <a:ext uri="{FF2B5EF4-FFF2-40B4-BE49-F238E27FC236}">
                <a16:creationId xmlns:a16="http://schemas.microsoft.com/office/drawing/2014/main" id="{6A05A39E-03C2-4DCC-8622-5D2444E0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Simulado 07:</a:t>
            </a:r>
            <a:r>
              <a:t> 20 questões, 40 minutos.</a:t>
            </a:r>
          </a:p>
        </p:txBody>
      </p:sp>
      <p:sp>
        <p:nvSpPr>
          <p:cNvPr id="7" name="77nm0p_Footer">
            <a:extLst xmlns:a="http://schemas.openxmlformats.org/drawingml/2006/main">
              <a:ext uri="{FF2B5EF4-FFF2-40B4-BE49-F238E27FC236}">
                <a16:creationId xmlns:a16="http://schemas.microsoft.com/office/drawing/2014/main" id="{3C32E9F4-82E5-461C-9821-626D31B3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77nm0p_Folio">
            <a:extLst xmlns:a="http://schemas.openxmlformats.org/drawingml/2006/main">
              <a:ext uri="{FF2B5EF4-FFF2-40B4-BE49-F238E27FC236}">
                <a16:creationId xmlns:a16="http://schemas.microsoft.com/office/drawing/2014/main" id="{41494343-85E7-4094-87EC-E2E002C5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579146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2026-10-14T13:34:12.4490000Z</dcterms:created>
  <dcterms:modified xsi:type="dcterms:W3CDTF">2026-10-14T13:34:12.4490000Z</dcterms:modified>
</coreProperties>
</file>