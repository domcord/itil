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55036a97c2429e" /><Relationship Type="http://schemas.openxmlformats.org/officeDocument/2006/relationships/extended-properties" Target="/docProps/app.xml" Id="R829191ee286f4186" /><Relationship Type="http://schemas.openxmlformats.org/officeDocument/2006/relationships/officeDocument" Target="/ppt/presentation.xml" Id="R1471d5a853fe4e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217965f96e436d"/>
  </p:sldMasterIdLst>
  <p:notesMasterIdLst>
    <p:notesMasterId xmlns:r="http://schemas.openxmlformats.org/officeDocument/2006/relationships" r:id="R6ad3c2fb89654cf7"/>
  </p:notesMasterIdLst>
  <p:sldIdLst>
    <p:sldId xmlns:r="http://schemas.openxmlformats.org/officeDocument/2006/relationships" id="256" r:id="Rdda3608e577140bf"/>
    <p:sldId xmlns:r="http://schemas.openxmlformats.org/officeDocument/2006/relationships" id="257" r:id="R6ce963381b244311"/>
    <p:sldId xmlns:r="http://schemas.openxmlformats.org/officeDocument/2006/relationships" id="258" r:id="R8a61deb242d74727"/>
    <p:sldId xmlns:r="http://schemas.openxmlformats.org/officeDocument/2006/relationships" id="259" r:id="R7ab625e6c81947e0"/>
    <p:sldId xmlns:r="http://schemas.openxmlformats.org/officeDocument/2006/relationships" id="260" r:id="R32ca43ccf5cd4fa5"/>
    <p:sldId xmlns:r="http://schemas.openxmlformats.org/officeDocument/2006/relationships" id="261" r:id="Rd3b5de9f2b514687"/>
    <p:sldId xmlns:r="http://schemas.openxmlformats.org/officeDocument/2006/relationships" id="262" r:id="Rb08b863da4394b67"/>
    <p:sldId xmlns:r="http://schemas.openxmlformats.org/officeDocument/2006/relationships" id="263" r:id="Rf105ee32d2a34f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93c488863d468b" /><Relationship Type="http://schemas.openxmlformats.org/officeDocument/2006/relationships/slideMaster" Target="/ppt/slideMasters/slideMaster1.xml" Id="R77217965f96e436d" /><Relationship Type="http://schemas.openxmlformats.org/officeDocument/2006/relationships/notesMaster" Target="/ppt/notesMasters/notesMaster1.xml" Id="R6ad3c2fb89654cf7" /><Relationship Type="http://schemas.openxmlformats.org/officeDocument/2006/relationships/presProps" Target="/ppt/presProps.xml" Id="R5ca6e42ac60a44ad" /><Relationship Type="http://schemas.openxmlformats.org/officeDocument/2006/relationships/tableStyles" Target="/ppt/tableStyles.xml" Id="Rf732e1a037014637" /><Relationship Type="http://schemas.openxmlformats.org/officeDocument/2006/relationships/slide" Target="/ppt/slides/slide1.xml" Id="Rdda3608e577140bf" /><Relationship Type="http://schemas.openxmlformats.org/officeDocument/2006/relationships/slide" Target="/ppt/slides/slide2.xml" Id="R6ce963381b244311" /><Relationship Type="http://schemas.openxmlformats.org/officeDocument/2006/relationships/slide" Target="/ppt/slides/slide3.xml" Id="R8a61deb242d74727" /><Relationship Type="http://schemas.openxmlformats.org/officeDocument/2006/relationships/slide" Target="/ppt/slides/slide4.xml" Id="R7ab625e6c81947e0" /><Relationship Type="http://schemas.openxmlformats.org/officeDocument/2006/relationships/slide" Target="/ppt/slides/slide5.xml" Id="R32ca43ccf5cd4fa5" /><Relationship Type="http://schemas.openxmlformats.org/officeDocument/2006/relationships/slide" Target="/ppt/slides/slide6.xml" Id="Rd3b5de9f2b514687" /><Relationship Type="http://schemas.openxmlformats.org/officeDocument/2006/relationships/slide" Target="/ppt/slides/slide7.xml" Id="Rb08b863da4394b67" /><Relationship Type="http://schemas.openxmlformats.org/officeDocument/2006/relationships/slide" Target="/ppt/slides/slide8.xml" Id="Rf105ee32d2a34f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b692fa53ce47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8b8354cd004840" /><Relationship Type="http://schemas.openxmlformats.org/officeDocument/2006/relationships/notesMaster" Target="/ppt/notesMasters/notesMaster1.xml" Id="Rc6929483ffdf47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897d077a37465b" /><Relationship Type="http://schemas.openxmlformats.org/officeDocument/2006/relationships/notesMaster" Target="/ppt/notesMasters/notesMaster1.xml" Id="Rf953428fa0dd4e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e881bee35d4c63" /><Relationship Type="http://schemas.openxmlformats.org/officeDocument/2006/relationships/notesMaster" Target="/ppt/notesMasters/notesMaster1.xml" Id="Rfd422ccec39245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bd4974a267484c" /><Relationship Type="http://schemas.openxmlformats.org/officeDocument/2006/relationships/notesMaster" Target="/ppt/notesMasters/notesMaster1.xml" Id="R74ea763870d640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4f172d07b34b83" /><Relationship Type="http://schemas.openxmlformats.org/officeDocument/2006/relationships/notesMaster" Target="/ppt/notesMasters/notesMaster1.xml" Id="R4eafd162db624a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7035e446bb4fbc" /><Relationship Type="http://schemas.openxmlformats.org/officeDocument/2006/relationships/notesMaster" Target="/ppt/notesMasters/notesMaster1.xml" Id="Rc0f1ec4364514d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629a68c4204b99" /><Relationship Type="http://schemas.openxmlformats.org/officeDocument/2006/relationships/notesMaster" Target="/ppt/notesMasters/notesMaster1.xml" Id="R5884b590ae054f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4c6e02fcf04c39" /><Relationship Type="http://schemas.openxmlformats.org/officeDocument/2006/relationships/notesMaster" Target="/ppt/notesMasters/notesMaster1.xml" Id="Rf8f1709cc68c43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Interpretar audits e comunicar correção com dados rastreáveis.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Escolher benchmark compatível com sistema, versão e perfil. Revisar controles não aplicáveis antes de interpretar percentuais.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F38: Compliance in Scans</a:t>
            </a:r>
          </a:p>
          <a:p xmlns:a="http://schemas.openxmlformats.org/drawingml/2006/main">
            <a:r>
              <a:t>https://docs.tenable.com/vulnerability-management/Content/Scans/Compliance.htm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F39: System Hardening</a:t>
            </a:r>
          </a:p>
          <a:p xmlns:a="http://schemas.openxmlformats.org/drawingml/2006/main">
            <a:r>
              <a:t>https://docs.tenable.com/cyber-exposure-studies/system-hardening/Content/system-hardening.htm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Exercício autoral: comparar um requisito de serviço com a evidência retornada. Testar caminhos then e else em um exemplo textual. Não fornecer um audit de produção não validado.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F38: Compliance in Scans</a:t>
            </a:r>
          </a:p>
          <a:p xmlns:a="http://schemas.openxmlformats.org/drawingml/2006/main">
            <a:r>
              <a:t>https://docs.tenable.com/vulnerability-management/Content/Scans/Compliance.htm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F48: Compliance Checks Reference: Conditions</a:t>
            </a:r>
          </a:p>
          <a:p xmlns:a="http://schemas.openxmlformats.org/drawingml/2006/main">
            <a:r>
              <a:t>https://docs.tenable.com/nessus/compliance-checks-reference/Content/Conditions.htm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falha comprovada de resultado inconclusivo. Falta de privilégio ou coleta insuficiente requer investigação antes de classificar conformidade.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F39: System Hardening</a:t>
            </a:r>
          </a:p>
          <a:p xmlns:a="http://schemas.openxmlformats.org/drawingml/2006/main">
            <a:r>
              <a:t>https://docs.tenable.com/cyber-exposure-studies/system-hardening/Content/system-hardening.htm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a gestão, apresentar tendência, ativos afetados e responsáveis. Para operação, apresentar ativo, plugin, evidência e solução. Manter a mesma definição ao comparar períodos.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F40: Create a Dashboard</a:t>
            </a:r>
          </a:p>
          <a:p xmlns:a="http://schemas.openxmlformats.org/drawingml/2006/main">
            <a:r>
              <a:t>https://docs.tenable.com/vulnerability-management/Content/Dashboards/CreateADashboard.htm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F42: Create Report API</a:t>
            </a:r>
          </a:p>
          <a:p xmlns:a="http://schemas.openxmlformats.org/drawingml/2006/main">
            <a:r>
              <a:t>https://developer.tenable.com/reference/vm-reports-create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 de referência da interface oficial, consultada em 14/10/2026:</a:t>
            </a:r>
          </a:p>
          <a:p xmlns:a="http://schemas.openxmlformats.org/drawingml/2006/main">
            <a:r>
              <a:t>https://www.tenable.com/themes/custom/tenable/images-new/products/vulnerability-management/vm-see-everything.webp</a:t>
            </a:r>
          </a:p>
          <a:p xmlns:a="http://schemas.openxmlformats.org/drawingml/2006/main">
            <a:r>
              <a:t>Página: https://www.tenable.com/products/vulnerability-management</a:t>
            </a:r>
          </a:p>
          <a:p xmlns:a="http://schemas.openxmlformats.org/drawingml/2006/main">
            <a:r>
              <a:t>Os dados da captura pertencem à demonstração da Tenable, sem representar o ambiente do candidato. A imagem contextualiza a interface e não substitui as regras atuais da documentação.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total de relatório só pode ser reconciliado com outra view usando unidade de contagem, filtros, datas e permissões comparáveis.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F41: Exports</a:t>
            </a:r>
          </a:p>
          <a:p xmlns:a="http://schemas.openxmlformats.org/drawingml/2006/main">
            <a:r>
              <a:t>https://docs.tenable.com/vulnerability-management/Content/Settings/Exports/Exports.htm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F42: Create Report API</a:t>
            </a:r>
          </a:p>
          <a:p xmlns:a="http://schemas.openxmlformats.org/drawingml/2006/main">
            <a:r>
              <a:t>https://developer.tenable.com/reference/vm-reports-create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curso oficial inclui Exposure Response. Estudar conceitos e fluxo do produto. Recursos e nomes podem mudar. Evitar ampliar a preparação para automação avançada fora do escopo Specialist.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F43: Use Report Cards</a:t>
            </a:r>
          </a:p>
          <a:p xmlns:a="http://schemas.openxmlformats.org/drawingml/2006/main">
            <a:r>
              <a:t>https://docs.tenable.com/vulnerability-management/Content/exposure-response/use-report-cards.htm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F34: Vulnerability States</a:t>
            </a:r>
          </a:p>
          <a:p xmlns:a="http://schemas.openxmlformats.org/drawingml/2006/main">
            <a:r>
              <a:t>https://docs.tenable.com/vulnerability-management/Content/Explore/Findings/VulnerabilityStates.htm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F37: Add Recast, Change Result and Accept Rules</a:t>
            </a:r>
          </a:p>
          <a:p xmlns:a="http://schemas.openxmlformats.org/drawingml/2006/main">
            <a:r>
              <a:t>https://docs.tenable.com/vulnerability-management/Content/recast/add-recast-rules.htm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Imagem de referência da interface oficial, consultada em 14/10/2026:</a:t>
            </a:r>
          </a:p>
          <a:p xmlns:a="http://schemas.openxmlformats.org/drawingml/2006/main">
            <a:r>
              <a:t>https://www.tenable.com/themes/custom/tenable/images-new/products/vulnerability-management/exposure-response.webp</a:t>
            </a:r>
          </a:p>
          <a:p xmlns:a="http://schemas.openxmlformats.org/drawingml/2006/main">
            <a:r>
              <a:t>Página: https://www.tenable.com/products/vulnerability-management</a:t>
            </a:r>
          </a:p>
          <a:p xmlns:a="http://schemas.openxmlformats.org/drawingml/2006/main">
            <a:r>
              <a:t>Os dados da captura pertencem à demonstração da Tenable, sem representar o ambiente do candidato. A imagem contextualiza a interface e não substitui as regras atuais da documentação.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L08. Dados fictícios: 40 ativos esperados, 28 observados e 20 com coleta autenticada confirmada. O relatório deve separar os denominadores e explicar a lacuna.</a:t>
            </a:r>
          </a:p>
          <a:p xmlns:a="http://schemas.openxmlformats.org/drawingml/2006/main">
            <a:r>
              <a:t>Material local de apoio: L02 páginas PDF 98, 293, 294, 340. L03 itens 11, 17, 28, 33. L01 itens 13, 14, 22, 23, 26, 37. Audits e relatórios, com formatos e regras conferidos no produto VM.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F38: Compliance in Scans</a:t>
            </a:r>
          </a:p>
          <a:p xmlns:a="http://schemas.openxmlformats.org/drawingml/2006/main">
            <a:r>
              <a:t>https://docs.tenable.com/vulnerability-management/Content/Scans/Compliance.htm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F41: Exports</a:t>
            </a:r>
          </a:p>
          <a:p xmlns:a="http://schemas.openxmlformats.org/drawingml/2006/main">
            <a:r>
              <a:t>https://docs.tenable.com/vulnerability-management/Content/Settings/Exports/Exports.htm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F43: Use Report Cards</a:t>
            </a:r>
          </a:p>
          <a:p xmlns:a="http://schemas.openxmlformats.org/drawingml/2006/main">
            <a:r>
              <a:t>https://docs.tenable.com/vulnerability-management/Content/exposure-response/use-report-cards.htm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51632a28d47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c9b9d9fb347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99e97bb624f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832d7500543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e02448ea541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ccb3d106744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A5C73B-5EEF-4116-AD93-7792BC6348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BE858E-B5EC-4EB1-9B56-BA39FADC05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8A1116-6BE4-494C-A750-8D74055DE0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BDBCCF-3FBF-4D61-9FEF-A503BB0F11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F1F673-C9AD-4E94-9C92-FE22E292DD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392564-E9B7-43FD-89DD-5626B9232A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B8103C-87E4-40EE-BA9D-3A1641B937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FEF975-17CE-44D5-973E-9E7836EE1C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6E76F4-EB8D-4CC9-A2E2-5032FC329F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F67DB6-2978-4661-9A66-2F81C985F6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caf139d01f4d0e" /><Relationship Type="http://schemas.openxmlformats.org/officeDocument/2006/relationships/slideLayout" Target="/ppt/slideLayouts/slideLayout1.xml" Id="R19f72fc6a1e94830" /><Relationship Type="http://schemas.openxmlformats.org/officeDocument/2006/relationships/slideLayout" Target="/ppt/slideLayouts/slideLayout2.xml" Id="Rc59fbb3ef4584a4f" /><Relationship Type="http://schemas.openxmlformats.org/officeDocument/2006/relationships/slideLayout" Target="/ppt/slideLayouts/slideLayout3.xml" Id="Rb3acef7565f445e4" /><Relationship Type="http://schemas.openxmlformats.org/officeDocument/2006/relationships/slideLayout" Target="/ppt/slideLayouts/slideLayout4.xml" Id="Rc21e95735a154336" /><Relationship Type="http://schemas.openxmlformats.org/officeDocument/2006/relationships/slideLayout" Target="/ppt/slideLayouts/slideLayout5.xml" Id="R33c8b8bfabbc44f2" /><Relationship Type="http://schemas.openxmlformats.org/officeDocument/2006/relationships/slideLayout" Target="/ppt/slideLayouts/slideLayout6.xml" Id="R22f3e1d05b334c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f72fc6a1e94830"/>
    <p:sldLayoutId xmlns:r="http://schemas.openxmlformats.org/officeDocument/2006/relationships" id="2147483650" r:id="Rc59fbb3ef4584a4f"/>
    <p:sldLayoutId xmlns:r="http://schemas.openxmlformats.org/officeDocument/2006/relationships" id="2147483651" r:id="Rb3acef7565f445e4"/>
    <p:sldLayoutId xmlns:r="http://schemas.openxmlformats.org/officeDocument/2006/relationships" id="2147483652" r:id="Rc21e95735a154336"/>
    <p:sldLayoutId xmlns:r="http://schemas.openxmlformats.org/officeDocument/2006/relationships" id="2147483653" r:id="R33c8b8bfabbc44f2"/>
    <p:sldLayoutId xmlns:r="http://schemas.openxmlformats.org/officeDocument/2006/relationships" id="2147483654" r:id="R22f3e1d05b334c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244b62df414be8" /><Relationship Type="http://schemas.openxmlformats.org/officeDocument/2006/relationships/notesSlide" Target="/ppt/notesSlides/notesSlide1.xml" Id="R5b7d9d25617d41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3710866ff42c5" /><Relationship Type="http://schemas.openxmlformats.org/officeDocument/2006/relationships/notesSlide" Target="/ppt/notesSlides/notesSlide2.xml" Id="R9954b094eba445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ebd3eec354043" /><Relationship Type="http://schemas.openxmlformats.org/officeDocument/2006/relationships/notesSlide" Target="/ppt/notesSlides/notesSlide3.xml" Id="Rf28b746328934f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a0475f8bf456b" /><Relationship Type="http://schemas.openxmlformats.org/officeDocument/2006/relationships/notesSlide" Target="/ppt/notesSlides/notesSlide4.xml" Id="R1887f117421244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31b7cbf2042ff" /><Relationship Type="http://schemas.openxmlformats.org/officeDocument/2006/relationships/image" Target="/ppt/media/image.png" Id="R6f3e0022b649421d" /><Relationship Type="http://schemas.openxmlformats.org/officeDocument/2006/relationships/notesSlide" Target="/ppt/notesSlides/notesSlide5.xml" Id="R004d4c177dc14b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67d6cf27f147ec" /><Relationship Type="http://schemas.openxmlformats.org/officeDocument/2006/relationships/notesSlide" Target="/ppt/notesSlides/notesSlide6.xml" Id="R6b367b4724f641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badd8997b41ac" /><Relationship Type="http://schemas.openxmlformats.org/officeDocument/2006/relationships/image" Target="/ppt/media/image2.png" Id="R5a72bd9b61ff4594" /><Relationship Type="http://schemas.openxmlformats.org/officeDocument/2006/relationships/notesSlide" Target="/ppt/notesSlides/notesSlide7.xml" Id="R18df79c94a4946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b4d0ffa3a47fa" /><Relationship Type="http://schemas.openxmlformats.org/officeDocument/2006/relationships/notesSlide" Target="/ppt/notesSlides/notesSlide8.xml" Id="Rd8d8b35ae117402b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264B"/>
            </a:gs>
            <a:gs pos="100000">
              <a:srgbClr val="006FC6"/>
            </a:gs>
          </a:gsLst>
          <a:lin ang="1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x0ga05_Section">
            <a:extLst xmlns:a="http://schemas.openxmlformats.org/drawingml/2006/main">
              <a:ext uri="{FF2B5EF4-FFF2-40B4-BE49-F238E27FC236}">
                <a16:creationId xmlns:a16="http://schemas.microsoft.com/office/drawing/2014/main" id="{196BD595-DE28-4277-94BD-0E5640CE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3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DDFF"/>
                </a:solidFill>
                <a:latin typeface="Arial"/>
                <a:ea typeface="Arial"/>
                <a:cs typeface="Arial"/>
              </a:rPr>
              <a:t>TEMA 08</a:t>
            </a:r>
          </a:p>
        </p:txBody>
      </p:sp>
      <p:sp>
        <p:nvSpPr>
          <p:cNvPr id="2" name="x0ga05_Title">
            <a:extLst xmlns:a="http://schemas.openxmlformats.org/drawingml/2006/main">
              <a:ext uri="{FF2B5EF4-FFF2-40B4-BE49-F238E27FC236}">
                <a16:creationId xmlns:a16="http://schemas.microsoft.com/office/drawing/2014/main" id="{7A9376BC-E11A-41B0-9E4F-9878211C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439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Compliance, relatórios e resposta</a:t>
            </a:r>
          </a:p>
        </p:txBody>
      </p:sp>
      <p:sp>
        <p:nvSpPr>
          <p:cNvPr id="3" name="x0ga05_Subtitle">
            <a:extLst xmlns:a="http://schemas.openxmlformats.org/drawingml/2006/main">
              <a:ext uri="{FF2B5EF4-FFF2-40B4-BE49-F238E27FC236}">
                <a16:creationId xmlns:a16="http://schemas.microsoft.com/office/drawing/2014/main" id="{C6CA238B-CA4F-4B3C-952E-A005A6B9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6FF"/>
                </a:solidFill>
                <a:latin typeface="Arial"/>
                <a:ea typeface="Arial"/>
                <a:cs typeface="Arial"/>
              </a:rPr>
              <a:t>Interpretar audits e comunicar correção com dados rastreáveis.</a:t>
            </a:r>
          </a:p>
        </p:txBody>
      </p:sp>
      <p:sp>
        <p:nvSpPr>
          <p:cNvPr id="4" name="x0ga05_Schedule">
            <a:extLst xmlns:a="http://schemas.openxmlformats.org/drawingml/2006/main">
              <a:ext uri="{FF2B5EF4-FFF2-40B4-BE49-F238E27FC236}">
                <a16:creationId xmlns:a16="http://schemas.microsoft.com/office/drawing/2014/main" id="{9E8E83BB-7D37-47B0-A605-85F28138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39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Semana 8 de estudo</a:t>
            </a:r>
          </a:p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Vulnerability Assessment / Configuration</a:t>
            </a:r>
          </a:p>
        </p:txBody>
      </p:sp>
      <p:sp>
        <p:nvSpPr>
          <p:cNvPr id="5" name="x0ga05_Footer">
            <a:extLst xmlns:a="http://schemas.openxmlformats.org/drawingml/2006/main">
              <a:ext uri="{FF2B5EF4-FFF2-40B4-BE49-F238E27FC236}">
                <a16:creationId xmlns:a16="http://schemas.microsoft.com/office/drawing/2014/main" id="{FBDA6907-1860-4DAE-95B7-7806B6E1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EE"/>
                </a:solidFill>
                <a:latin typeface="Arial"/>
                <a:ea typeface="Arial"/>
                <a:cs typeface="Arial"/>
              </a:rPr>
              <a:t>Tenable Vulnerability Management   /   Written Exam</a:t>
            </a:r>
          </a:p>
        </p:txBody>
      </p:sp>
    </p:spTree>
    <p:extLst>
      <p:ext uri="{BB962C8B-B14F-4D97-AF65-F5344CB8AC3E}">
        <p14:creationId xmlns:p14="http://schemas.microsoft.com/office/powerpoint/2010/main" val="1906386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chdei_Section">
            <a:extLst xmlns:a="http://schemas.openxmlformats.org/drawingml/2006/main">
              <a:ext uri="{FF2B5EF4-FFF2-40B4-BE49-F238E27FC236}">
                <a16:creationId xmlns:a16="http://schemas.microsoft.com/office/drawing/2014/main" id="{8B7EC533-2FFC-4468-8ED9-3EB5707F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08</a:t>
            </a:r>
          </a:p>
        </p:txBody>
      </p:sp>
      <p:sp>
        <p:nvSpPr>
          <p:cNvPr id="2" name="schdei_Title">
            <a:extLst xmlns:a="http://schemas.openxmlformats.org/drawingml/2006/main">
              <a:ext uri="{FF2B5EF4-FFF2-40B4-BE49-F238E27FC236}">
                <a16:creationId xmlns:a16="http://schemas.microsoft.com/office/drawing/2014/main" id="{FDEE535C-16DB-422C-960A-2AC5FF52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Vulnerabilidades e compliance</a:t>
            </a:r>
          </a:p>
        </p:txBody>
      </p:sp>
      <p:sp>
        <p:nvSpPr>
          <p:cNvPr id="3" name="schdei_Body_1">
            <a:extLst xmlns:a="http://schemas.openxmlformats.org/drawingml/2006/main">
              <a:ext uri="{FF2B5EF4-FFF2-40B4-BE49-F238E27FC236}">
                <a16:creationId xmlns:a16="http://schemas.microsoft.com/office/drawing/2014/main" id="{7A88CA45-196C-48DD-A1EE-C1EC0AF7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Uma avaliação de patches mede uma parte da segurança.</a:t>
            </a:r>
          </a:p>
        </p:txBody>
      </p:sp>
      <p:sp>
        <p:nvSpPr>
          <p:cNvPr id="4" name="schdei_Body_2">
            <a:extLst xmlns:a="http://schemas.openxmlformats.org/drawingml/2006/main">
              <a:ext uri="{FF2B5EF4-FFF2-40B4-BE49-F238E27FC236}">
                <a16:creationId xmlns:a16="http://schemas.microsoft.com/office/drawing/2014/main" id="{3FAE08C0-AE64-40AB-9615-09B7701E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Compliance compara a configuração com requisitos de um benchmark.</a:t>
            </a:r>
          </a:p>
        </p:txBody>
      </p:sp>
      <p:sp>
        <p:nvSpPr>
          <p:cNvPr id="5" name="schdei_Body_3">
            <a:extLst xmlns:a="http://schemas.openxmlformats.org/drawingml/2006/main">
              <a:ext uri="{FF2B5EF4-FFF2-40B4-BE49-F238E27FC236}">
                <a16:creationId xmlns:a16="http://schemas.microsoft.com/office/drawing/2014/main" id="{3046F0CE-D3AA-4D8A-AE0A-75A4B085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Ausência de CVEs detectadas não comprova conformidade.</a:t>
            </a:r>
          </a:p>
        </p:txBody>
      </p:sp>
      <p:sp>
        <p:nvSpPr>
          <p:cNvPr id="6" name="schdei_Body_4">
            <a:extLst xmlns:a="http://schemas.openxmlformats.org/drawingml/2006/main">
              <a:ext uri="{FF2B5EF4-FFF2-40B4-BE49-F238E27FC236}">
                <a16:creationId xmlns:a16="http://schemas.microsoft.com/office/drawing/2014/main" id="{720CEE30-5CD5-4D59-A118-FEB720B4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Credenciais e audit correto determinam o que pode ser verificado.</a:t>
            </a:r>
          </a:p>
        </p:txBody>
      </p:sp>
      <p:sp>
        <p:nvSpPr>
          <p:cNvPr id="7" name="schdei_Footer">
            <a:extLst xmlns:a="http://schemas.openxmlformats.org/drawingml/2006/main">
              <a:ext uri="{FF2B5EF4-FFF2-40B4-BE49-F238E27FC236}">
                <a16:creationId xmlns:a16="http://schemas.microsoft.com/office/drawing/2014/main" id="{65B3650F-7EBF-4734-9EA7-926F6C9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schdei_Folio">
            <a:extLst xmlns:a="http://schemas.openxmlformats.org/drawingml/2006/main">
              <a:ext uri="{FF2B5EF4-FFF2-40B4-BE49-F238E27FC236}">
                <a16:creationId xmlns:a16="http://schemas.microsoft.com/office/drawing/2014/main" id="{F5B16B85-390F-49CB-BE05-0384C87D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4723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3mg10_Section">
            <a:extLst xmlns:a="http://schemas.openxmlformats.org/drawingml/2006/main">
              <a:ext uri="{FF2B5EF4-FFF2-40B4-BE49-F238E27FC236}">
                <a16:creationId xmlns:a16="http://schemas.microsoft.com/office/drawing/2014/main" id="{AAE3BF81-E9D7-4BC0-B1F4-485A1815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08</a:t>
            </a:r>
          </a:p>
        </p:txBody>
      </p:sp>
      <p:sp>
        <p:nvSpPr>
          <p:cNvPr id="2" name="b3mg10_Title">
            <a:extLst xmlns:a="http://schemas.openxmlformats.org/drawingml/2006/main">
              <a:ext uri="{FF2B5EF4-FFF2-40B4-BE49-F238E27FC236}">
                <a16:creationId xmlns:a16="http://schemas.microsoft.com/office/drawing/2014/main" id="{BFC76D37-0E36-4E81-BFB1-04DA1D54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Audit files e customização</a:t>
            </a:r>
          </a:p>
        </p:txBody>
      </p:sp>
      <p:sp>
        <p:nvSpPr>
          <p:cNvPr id="3" name="b3mg10_Body_1">
            <a:extLst xmlns:a="http://schemas.openxmlformats.org/drawingml/2006/main">
              <a:ext uri="{FF2B5EF4-FFF2-40B4-BE49-F238E27FC236}">
                <a16:creationId xmlns:a16="http://schemas.microsoft.com/office/drawing/2014/main" id="{0C47EC0F-622B-4BF6-80A6-88755214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arquivo .audit define verificações de configuração.</a:t>
            </a:r>
          </a:p>
        </p:txBody>
      </p:sp>
      <p:sp>
        <p:nvSpPr>
          <p:cNvPr id="4" name="b3mg10_Body_2">
            <a:extLst xmlns:a="http://schemas.openxmlformats.org/drawingml/2006/main">
              <a:ext uri="{FF2B5EF4-FFF2-40B4-BE49-F238E27FC236}">
                <a16:creationId xmlns:a16="http://schemas.microsoft.com/office/drawing/2014/main" id="{83C435FC-57A6-4614-8C73-6338F4AD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benchmark e sua versão precisam corresponder ao alvo.</a:t>
            </a:r>
          </a:p>
        </p:txBody>
      </p:sp>
      <p:sp>
        <p:nvSpPr>
          <p:cNvPr id="5" name="b3mg10_Body_3">
            <a:extLst xmlns:a="http://schemas.openxmlformats.org/drawingml/2006/main">
              <a:ext uri="{FF2B5EF4-FFF2-40B4-BE49-F238E27FC236}">
                <a16:creationId xmlns:a16="http://schemas.microsoft.com/office/drawing/2014/main" id="{5538F581-EC19-4260-AB7D-813136AD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Condições podem controlar a aplicação de uma verificação.</a:t>
            </a:r>
          </a:p>
        </p:txBody>
      </p:sp>
      <p:sp>
        <p:nvSpPr>
          <p:cNvPr id="6" name="b3mg10_Body_4">
            <a:extLst xmlns:a="http://schemas.openxmlformats.org/drawingml/2006/main">
              <a:ext uri="{FF2B5EF4-FFF2-40B4-BE49-F238E27FC236}">
                <a16:creationId xmlns:a16="http://schemas.microsoft.com/office/drawing/2014/main" id="{F7AF44BF-35F4-4AEE-BB72-46037FBF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Uma customização exige validação de lógica e resultado.</a:t>
            </a:r>
          </a:p>
        </p:txBody>
      </p:sp>
      <p:sp>
        <p:nvSpPr>
          <p:cNvPr id="7" name="b3mg10_Footer">
            <a:extLst xmlns:a="http://schemas.openxmlformats.org/drawingml/2006/main">
              <a:ext uri="{FF2B5EF4-FFF2-40B4-BE49-F238E27FC236}">
                <a16:creationId xmlns:a16="http://schemas.microsoft.com/office/drawing/2014/main" id="{C5CFAD69-867B-49C4-8DDB-A35DB424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b3mg10_Folio">
            <a:extLst xmlns:a="http://schemas.openxmlformats.org/drawingml/2006/main">
              <a:ext uri="{FF2B5EF4-FFF2-40B4-BE49-F238E27FC236}">
                <a16:creationId xmlns:a16="http://schemas.microsoft.com/office/drawing/2014/main" id="{2FB6AF8C-CABF-4383-A431-2212D17F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291497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6f0i7_Section">
            <a:extLst xmlns:a="http://schemas.openxmlformats.org/drawingml/2006/main">
              <a:ext uri="{FF2B5EF4-FFF2-40B4-BE49-F238E27FC236}">
                <a16:creationId xmlns:a16="http://schemas.microsoft.com/office/drawing/2014/main" id="{00A3B1E0-2C00-40C0-A211-8B1738AC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08</a:t>
            </a:r>
          </a:p>
        </p:txBody>
      </p:sp>
      <p:sp>
        <p:nvSpPr>
          <p:cNvPr id="2" name="g6f0i7_Title">
            <a:extLst xmlns:a="http://schemas.openxmlformats.org/drawingml/2006/main">
              <a:ext uri="{FF2B5EF4-FFF2-40B4-BE49-F238E27FC236}">
                <a16:creationId xmlns:a16="http://schemas.microsoft.com/office/drawing/2014/main" id="{0696B62D-CBDF-443D-93E9-1567CF2D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Resultados de audits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F8EB7-F719-4307-89B3-64750BE9223D}"/>
              </a:ext>
            </a:extLst>
          </p:cNvPr>
          <p:cNvGraphicFramePr/>
          <p:nvPr/>
        </p:nvGraphicFramePr>
        <p:xfrm>
          <a:off xmlns:a="http://schemas.openxmlformats.org/drawingml/2006/main" x="685800" y="2219325"/>
          <a:ext xmlns:a="http://schemas.openxmlformats.org/drawingml/2006/main" cx="10820400" cy="3352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19375"/>
                <a:gridCol w="3762375"/>
                <a:gridCol w="443865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prática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Próximo passo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8244"/>
                          </a:solidFill>
                          <a:latin typeface="Arial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Atende ao parâmetro testado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Preservar evidência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AD3038"/>
                          </a:solidFill>
                          <a:latin typeface="Arial"/>
                          <a:ea typeface="Arial"/>
                          <a:cs typeface="Arial"/>
                        </a:rPr>
                        <a:t>Failed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Não atende ao parâmetro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Validar e corrigir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9D6500"/>
                          </a:solidFill>
                          <a:latin typeface="Arial"/>
                          <a:ea typeface="Arial"/>
                          <a:cs typeface="Arial"/>
                        </a:rPr>
                        <a:t>Warning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Revisão ou conclusão pendente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Investigar contexto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g6f0i7_Footer">
            <a:extLst xmlns:a="http://schemas.openxmlformats.org/drawingml/2006/main">
              <a:ext uri="{FF2B5EF4-FFF2-40B4-BE49-F238E27FC236}">
                <a16:creationId xmlns:a16="http://schemas.microsoft.com/office/drawing/2014/main" id="{50D79A6E-71A6-4316-8E5A-B9CE4485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5" name="g6f0i7_Folio">
            <a:extLst xmlns:a="http://schemas.openxmlformats.org/drawingml/2006/main">
              <a:ext uri="{FF2B5EF4-FFF2-40B4-BE49-F238E27FC236}">
                <a16:creationId xmlns:a16="http://schemas.microsoft.com/office/drawing/2014/main" id="{50C1BDDF-1AEE-4D8F-93DF-136AFF46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92673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8s5d7y_Section">
            <a:extLst xmlns:a="http://schemas.openxmlformats.org/drawingml/2006/main">
              <a:ext uri="{FF2B5EF4-FFF2-40B4-BE49-F238E27FC236}">
                <a16:creationId xmlns:a16="http://schemas.microsoft.com/office/drawing/2014/main" id="{BA095900-50CD-4F1A-93F0-B01D0A22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08</a:t>
            </a:r>
          </a:p>
        </p:txBody>
      </p:sp>
      <p:sp>
        <p:nvSpPr>
          <p:cNvPr id="2" name="8s5d7y_Title">
            <a:extLst xmlns:a="http://schemas.openxmlformats.org/drawingml/2006/main">
              <a:ext uri="{FF2B5EF4-FFF2-40B4-BE49-F238E27FC236}">
                <a16:creationId xmlns:a16="http://schemas.microsoft.com/office/drawing/2014/main" id="{749475B6-66AF-4881-9605-611AC489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Dashboards e relatórios</a:t>
            </a:r>
          </a:p>
        </p:txBody>
      </p:sp>
      <p:sp>
        <p:nvSpPr>
          <p:cNvPr id="3" name="8s5d7y_Body_1">
            <a:extLst xmlns:a="http://schemas.openxmlformats.org/drawingml/2006/main">
              <a:ext uri="{FF2B5EF4-FFF2-40B4-BE49-F238E27FC236}">
                <a16:creationId xmlns:a16="http://schemas.microsoft.com/office/drawing/2014/main" id="{24CD12D4-BD84-4D7F-94EE-F1A49C93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Dashboards permitem visão agregada e drill-down.</a:t>
            </a:r>
          </a:p>
        </p:txBody>
      </p:sp>
      <p:sp>
        <p:nvSpPr>
          <p:cNvPr id="4" name="8s5d7y_Body_2">
            <a:extLst xmlns:a="http://schemas.openxmlformats.org/drawingml/2006/main">
              <a:ext uri="{FF2B5EF4-FFF2-40B4-BE49-F238E27FC236}">
                <a16:creationId xmlns:a16="http://schemas.microsoft.com/office/drawing/2014/main" id="{82F197C0-FF56-4571-93CD-41F8DA95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Filtros e escopo precisam acompanhar cada indicador.</a:t>
            </a:r>
          </a:p>
        </p:txBody>
      </p:sp>
      <p:sp>
        <p:nvSpPr>
          <p:cNvPr id="5" name="8s5d7y_Body_3">
            <a:extLst xmlns:a="http://schemas.openxmlformats.org/drawingml/2006/main">
              <a:ext uri="{FF2B5EF4-FFF2-40B4-BE49-F238E27FC236}">
                <a16:creationId xmlns:a16="http://schemas.microsoft.com/office/drawing/2014/main" id="{7BE0D030-5BDA-4C29-BCFC-76FBFDA9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Relatórios PDF comunicam resultados definidos por template.</a:t>
            </a:r>
          </a:p>
        </p:txBody>
      </p:sp>
      <p:sp>
        <p:nvSpPr>
          <p:cNvPr id="6" name="8s5d7y_Body_4">
            <a:extLst xmlns:a="http://schemas.openxmlformats.org/drawingml/2006/main">
              <a:ext uri="{FF2B5EF4-FFF2-40B4-BE49-F238E27FC236}">
                <a16:creationId xmlns:a16="http://schemas.microsoft.com/office/drawing/2014/main" id="{70CEB249-09B2-4F29-8E40-378B812E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Cobertura e data da coleta dão contexto ao risco.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F7FE3-DB61-4CF9-B73A-E1396822B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e0022b649421d"/>
          <a:stretch xmlns:a="http://schemas.openxmlformats.org/drawingml/2006/main"/>
        </p:blipFill>
        <p:spPr>
          <a:xfrm xmlns:a="http://schemas.openxmlformats.org/drawingml/2006/main">
            <a:off x="5468790" y="2190750"/>
            <a:ext cx="6016920" cy="3381375"/>
          </a:xfrm>
          <a:prstGeom xmlns:a="http://schemas.openxmlformats.org/drawingml/2006/main" prst="rect">
            <a:avLst/>
          </a:prstGeom>
        </p:spPr>
      </p:pic>
      <p:sp>
        <p:nvSpPr>
          <p:cNvPr id="8" name="8s5d7y_Screenshot_caption">
            <a:extLst xmlns:a="http://schemas.openxmlformats.org/drawingml/2006/main">
              <a:ext uri="{FF2B5EF4-FFF2-40B4-BE49-F238E27FC236}">
                <a16:creationId xmlns:a16="http://schemas.microsoft.com/office/drawing/2014/main" id="{2956605F-682D-4AD7-9DE6-75D00DC3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743575"/>
            <a:ext cx="605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Interface de referência. Dados da demonstração Tenable.</a:t>
            </a:r>
          </a:p>
        </p:txBody>
      </p:sp>
      <p:sp>
        <p:nvSpPr>
          <p:cNvPr id="9" name="8s5d7y_Footer">
            <a:extLst xmlns:a="http://schemas.openxmlformats.org/drawingml/2006/main">
              <a:ext uri="{FF2B5EF4-FFF2-40B4-BE49-F238E27FC236}">
                <a16:creationId xmlns:a16="http://schemas.microsoft.com/office/drawing/2014/main" id="{21155317-EFD8-4B07-BCDE-DB91076C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10" name="8s5d7y_Folio">
            <a:extLst xmlns:a="http://schemas.openxmlformats.org/drawingml/2006/main">
              <a:ext uri="{FF2B5EF4-FFF2-40B4-BE49-F238E27FC236}">
                <a16:creationId xmlns:a16="http://schemas.microsoft.com/office/drawing/2014/main" id="{C9AC51FD-F934-40DC-9F8E-8BB054E5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533778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szxnl_Section">
            <a:extLst xmlns:a="http://schemas.openxmlformats.org/drawingml/2006/main">
              <a:ext uri="{FF2B5EF4-FFF2-40B4-BE49-F238E27FC236}">
                <a16:creationId xmlns:a16="http://schemas.microsoft.com/office/drawing/2014/main" id="{5FA87D07-A305-43CF-9239-5F72A48E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08</a:t>
            </a:r>
          </a:p>
        </p:txBody>
      </p:sp>
      <p:sp>
        <p:nvSpPr>
          <p:cNvPr id="2" name="0szxnl_Title">
            <a:extLst xmlns:a="http://schemas.openxmlformats.org/drawingml/2006/main">
              <a:ext uri="{FF2B5EF4-FFF2-40B4-BE49-F238E27FC236}">
                <a16:creationId xmlns:a16="http://schemas.microsoft.com/office/drawing/2014/main" id="{9F7E1BB1-EC30-42D0-8720-24366CD3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Exports e evidência</a:t>
            </a:r>
          </a:p>
        </p:txBody>
      </p:sp>
      <p:sp>
        <p:nvSpPr>
          <p:cNvPr id="3" name="0szxnl_Body_1">
            <a:extLst xmlns:a="http://schemas.openxmlformats.org/drawingml/2006/main">
              <a:ext uri="{FF2B5EF4-FFF2-40B4-BE49-F238E27FC236}">
                <a16:creationId xmlns:a16="http://schemas.microsoft.com/office/drawing/2014/main" id="{2BFC9E84-4BC4-4374-9EA5-1622D4F7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CSV e JSON favorecem análise estruturada.</a:t>
            </a:r>
          </a:p>
        </p:txBody>
      </p:sp>
      <p:sp>
        <p:nvSpPr>
          <p:cNvPr id="4" name="0szxnl_Body_2">
            <a:extLst xmlns:a="http://schemas.openxmlformats.org/drawingml/2006/main">
              <a:ext uri="{FF2B5EF4-FFF2-40B4-BE49-F238E27FC236}">
                <a16:creationId xmlns:a16="http://schemas.microsoft.com/office/drawing/2014/main" id="{60F5E34D-A9C1-413E-8688-2F094A65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Exportações podem ser imediatas ou agendadas.</a:t>
            </a:r>
          </a:p>
        </p:txBody>
      </p:sp>
      <p:sp>
        <p:nvSpPr>
          <p:cNvPr id="5" name="0szxnl_Body_3">
            <a:extLst xmlns:a="http://schemas.openxmlformats.org/drawingml/2006/main">
              <a:ext uri="{FF2B5EF4-FFF2-40B4-BE49-F238E27FC236}">
                <a16:creationId xmlns:a16="http://schemas.microsoft.com/office/drawing/2014/main" id="{7152E30C-E0CF-48C2-BF31-8EDE0CAE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resultado reflete filtros e acesso do usuário.</a:t>
            </a:r>
          </a:p>
        </p:txBody>
      </p:sp>
      <p:sp>
        <p:nvSpPr>
          <p:cNvPr id="6" name="0szxnl_Body_4">
            <a:extLst xmlns:a="http://schemas.openxmlformats.org/drawingml/2006/main">
              <a:ext uri="{FF2B5EF4-FFF2-40B4-BE49-F238E27FC236}">
                <a16:creationId xmlns:a16="http://schemas.microsoft.com/office/drawing/2014/main" id="{BA796680-6A73-4231-AD39-86208B4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Dados exportados precisam de data e escopo registrados.</a:t>
            </a:r>
          </a:p>
        </p:txBody>
      </p:sp>
      <p:sp>
        <p:nvSpPr>
          <p:cNvPr id="7" name="0szxnl_Footer">
            <a:extLst xmlns:a="http://schemas.openxmlformats.org/drawingml/2006/main">
              <a:ext uri="{FF2B5EF4-FFF2-40B4-BE49-F238E27FC236}">
                <a16:creationId xmlns:a16="http://schemas.microsoft.com/office/drawing/2014/main" id="{F1CF877E-C37B-4977-8BCB-290439A0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0szxnl_Folio">
            <a:extLst xmlns:a="http://schemas.openxmlformats.org/drawingml/2006/main">
              <a:ext uri="{FF2B5EF4-FFF2-40B4-BE49-F238E27FC236}">
                <a16:creationId xmlns:a16="http://schemas.microsoft.com/office/drawing/2014/main" id="{DB2DBDA6-D088-4B20-B8C0-572555F3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78948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2c337s_Section">
            <a:extLst xmlns:a="http://schemas.openxmlformats.org/drawingml/2006/main">
              <a:ext uri="{FF2B5EF4-FFF2-40B4-BE49-F238E27FC236}">
                <a16:creationId xmlns:a16="http://schemas.microsoft.com/office/drawing/2014/main" id="{9FF00FEF-6525-4B96-BF39-1638115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08</a:t>
            </a:r>
          </a:p>
        </p:txBody>
      </p:sp>
      <p:sp>
        <p:nvSpPr>
          <p:cNvPr id="2" name="2c337s_Title">
            <a:extLst xmlns:a="http://schemas.openxmlformats.org/drawingml/2006/main">
              <a:ext uri="{FF2B5EF4-FFF2-40B4-BE49-F238E27FC236}">
                <a16:creationId xmlns:a16="http://schemas.microsoft.com/office/drawing/2014/main" id="{86F7864E-EB89-497A-B287-19858FD0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Exposure Response e acompanhamento</a:t>
            </a:r>
          </a:p>
        </p:txBody>
      </p:sp>
      <p:sp>
        <p:nvSpPr>
          <p:cNvPr id="3" name="2c337s_Body_1">
            <a:extLst xmlns:a="http://schemas.openxmlformats.org/drawingml/2006/main">
              <a:ext uri="{FF2B5EF4-FFF2-40B4-BE49-F238E27FC236}">
                <a16:creationId xmlns:a16="http://schemas.microsoft.com/office/drawing/2014/main" id="{28572A45-528B-405E-B0B9-EB0DBE51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Initiatives organizam ações de correção.</a:t>
            </a:r>
          </a:p>
        </p:txBody>
      </p:sp>
      <p:sp>
        <p:nvSpPr>
          <p:cNvPr id="4" name="2c337s_Body_2">
            <a:extLst xmlns:a="http://schemas.openxmlformats.org/drawingml/2006/main">
              <a:ext uri="{FF2B5EF4-FFF2-40B4-BE49-F238E27FC236}">
                <a16:creationId xmlns:a16="http://schemas.microsoft.com/office/drawing/2014/main" id="{AA00E5EA-7B1E-4C2A-A103-7C90E07B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Report Cards apresentam andamento por responsável ou iniciativa.</a:t>
            </a:r>
          </a:p>
        </p:txBody>
      </p:sp>
      <p:sp>
        <p:nvSpPr>
          <p:cNvPr id="5" name="2c337s_Body_3">
            <a:extLst xmlns:a="http://schemas.openxmlformats.org/drawingml/2006/main">
              <a:ext uri="{FF2B5EF4-FFF2-40B4-BE49-F238E27FC236}">
                <a16:creationId xmlns:a16="http://schemas.microsoft.com/office/drawing/2014/main" id="{57F48085-C249-40BF-9AF0-127D4C16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visão de progresso precisa se apoiar em novos resultados.</a:t>
            </a:r>
          </a:p>
        </p:txBody>
      </p:sp>
      <p:sp>
        <p:nvSpPr>
          <p:cNvPr id="6" name="2c337s_Body_4">
            <a:extLst xmlns:a="http://schemas.openxmlformats.org/drawingml/2006/main">
              <a:ext uri="{FF2B5EF4-FFF2-40B4-BE49-F238E27FC236}">
                <a16:creationId xmlns:a16="http://schemas.microsoft.com/office/drawing/2014/main" id="{68180890-0A56-4234-89F1-C1C25A94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Aceitar risco e corrigir vulnerabilidade produzem efeitos diferentes.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9FB24-DF4B-4001-AF21-F09B1C73A5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2bd9b61ff4594"/>
          <a:stretch xmlns:a="http://schemas.openxmlformats.org/drawingml/2006/main"/>
        </p:blipFill>
        <p:spPr>
          <a:xfrm xmlns:a="http://schemas.openxmlformats.org/drawingml/2006/main">
            <a:off x="5448300" y="2449015"/>
            <a:ext cx="6057900" cy="2864845"/>
          </a:xfrm>
          <a:prstGeom xmlns:a="http://schemas.openxmlformats.org/drawingml/2006/main" prst="rect">
            <a:avLst/>
          </a:prstGeom>
        </p:spPr>
      </p:pic>
      <p:sp>
        <p:nvSpPr>
          <p:cNvPr id="8" name="2c337s_Screenshot_caption">
            <a:extLst xmlns:a="http://schemas.openxmlformats.org/drawingml/2006/main">
              <a:ext uri="{FF2B5EF4-FFF2-40B4-BE49-F238E27FC236}">
                <a16:creationId xmlns:a16="http://schemas.microsoft.com/office/drawing/2014/main" id="{3E29C701-040E-45F0-B674-7EEAE421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743575"/>
            <a:ext cx="605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Interface de referência. Dados da demonstração Tenable.</a:t>
            </a:r>
          </a:p>
        </p:txBody>
      </p:sp>
      <p:sp>
        <p:nvSpPr>
          <p:cNvPr id="9" name="2c337s_Footer">
            <a:extLst xmlns:a="http://schemas.openxmlformats.org/drawingml/2006/main">
              <a:ext uri="{FF2B5EF4-FFF2-40B4-BE49-F238E27FC236}">
                <a16:creationId xmlns:a16="http://schemas.microsoft.com/office/drawing/2014/main" id="{FF677D4E-848E-433B-BAF6-E0444D7D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10" name="2c337s_Folio">
            <a:extLst xmlns:a="http://schemas.openxmlformats.org/drawingml/2006/main">
              <a:ext uri="{FF2B5EF4-FFF2-40B4-BE49-F238E27FC236}">
                <a16:creationId xmlns:a16="http://schemas.microsoft.com/office/drawing/2014/main" id="{7D171214-B366-4FD4-9AEE-DB26020E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059666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wznb2n_Section">
            <a:extLst xmlns:a="http://schemas.openxmlformats.org/drawingml/2006/main">
              <a:ext uri="{FF2B5EF4-FFF2-40B4-BE49-F238E27FC236}">
                <a16:creationId xmlns:a16="http://schemas.microsoft.com/office/drawing/2014/main" id="{E3BB782F-0716-47AC-BFF6-A70BADDC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08</a:t>
            </a:r>
          </a:p>
        </p:txBody>
      </p:sp>
      <p:sp>
        <p:nvSpPr>
          <p:cNvPr id="2" name="wznb2n_Title">
            <a:extLst xmlns:a="http://schemas.openxmlformats.org/drawingml/2006/main">
              <a:ext uri="{FF2B5EF4-FFF2-40B4-BE49-F238E27FC236}">
                <a16:creationId xmlns:a16="http://schemas.microsoft.com/office/drawing/2014/main" id="{8628D64C-11CB-4FE7-B6E6-949910BA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Laboratório de comunicação</a:t>
            </a:r>
          </a:p>
        </p:txBody>
      </p:sp>
      <p:sp>
        <p:nvSpPr>
          <p:cNvPr id="3" name="wznb2n_Body_1">
            <a:extLst xmlns:a="http://schemas.openxmlformats.org/drawingml/2006/main">
              <a:ext uri="{FF2B5EF4-FFF2-40B4-BE49-F238E27FC236}">
                <a16:creationId xmlns:a16="http://schemas.microsoft.com/office/drawing/2014/main" id="{84CA2A06-BDCE-4F98-813E-834C84C2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Entrega:</a:t>
            </a:r>
            <a:r>
              <a:t> relatório de uma página e export de exemplo.</a:t>
            </a:r>
          </a:p>
        </p:txBody>
      </p:sp>
      <p:sp>
        <p:nvSpPr>
          <p:cNvPr id="4" name="wznb2n_Body_2">
            <a:extLst xmlns:a="http://schemas.openxmlformats.org/drawingml/2006/main">
              <a:ext uri="{FF2B5EF4-FFF2-40B4-BE49-F238E27FC236}">
                <a16:creationId xmlns:a16="http://schemas.microsoft.com/office/drawing/2014/main" id="{2FDC2B73-84E7-4DB5-B615-F1A9C35B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Conteúdo:</a:t>
            </a:r>
            <a:r>
              <a:t> escopo, coleta, evidência, responsável e prazo.</a:t>
            </a:r>
          </a:p>
        </p:txBody>
      </p:sp>
      <p:sp>
        <p:nvSpPr>
          <p:cNvPr id="5" name="wznb2n_Body_3">
            <a:extLst xmlns:a="http://schemas.openxmlformats.org/drawingml/2006/main">
              <a:ext uri="{FF2B5EF4-FFF2-40B4-BE49-F238E27FC236}">
                <a16:creationId xmlns:a16="http://schemas.microsoft.com/office/drawing/2014/main" id="{375AC225-EC52-47CC-B7CC-D59AF8FA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Caso:</a:t>
            </a:r>
            <a:r>
              <a:t> queda de findings causada por perda de autenticação.</a:t>
            </a:r>
          </a:p>
        </p:txBody>
      </p:sp>
      <p:sp>
        <p:nvSpPr>
          <p:cNvPr id="6" name="wznb2n_Body_4">
            <a:extLst xmlns:a="http://schemas.openxmlformats.org/drawingml/2006/main">
              <a:ext uri="{FF2B5EF4-FFF2-40B4-BE49-F238E27FC236}">
                <a16:creationId xmlns:a16="http://schemas.microsoft.com/office/drawing/2014/main" id="{DB7D71FE-B685-47B2-B565-446EE4EB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Simulado 08:</a:t>
            </a:r>
            <a:r>
              <a:t> 20 questões, 40 minutos.</a:t>
            </a:r>
          </a:p>
        </p:txBody>
      </p:sp>
      <p:sp>
        <p:nvSpPr>
          <p:cNvPr id="7" name="wznb2n_Footer">
            <a:extLst xmlns:a="http://schemas.openxmlformats.org/drawingml/2006/main">
              <a:ext uri="{FF2B5EF4-FFF2-40B4-BE49-F238E27FC236}">
                <a16:creationId xmlns:a16="http://schemas.microsoft.com/office/drawing/2014/main" id="{0B6A2F06-CF80-43AE-98CE-77C6CF7B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wznb2n_Folio">
            <a:extLst xmlns:a="http://schemas.openxmlformats.org/drawingml/2006/main">
              <a:ext uri="{FF2B5EF4-FFF2-40B4-BE49-F238E27FC236}">
                <a16:creationId xmlns:a16="http://schemas.microsoft.com/office/drawing/2014/main" id="{F9B8337C-79ED-4E54-A839-2E640B3A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8430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2026-10-14T13:34:18.1380000Z</dcterms:created>
  <dcterms:modified xsi:type="dcterms:W3CDTF">2026-10-14T13:34:18.1380000Z</dcterms:modified>
</coreProperties>
</file>