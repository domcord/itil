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d3826c3644913" /><Relationship Type="http://schemas.openxmlformats.org/officeDocument/2006/relationships/extended-properties" Target="/docProps/app.xml" Id="R439e068431d14da1" /><Relationship Type="http://schemas.openxmlformats.org/officeDocument/2006/relationships/officeDocument" Target="/ppt/presentation.xml" Id="Rb2cb42d1124c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076ff4da84bea"/>
  </p:sldMasterIdLst>
  <p:notesMasterIdLst>
    <p:notesMasterId xmlns:r="http://schemas.openxmlformats.org/officeDocument/2006/relationships" r:id="Refd05fe733174941"/>
  </p:notesMasterIdLst>
  <p:sldIdLst>
    <p:sldId xmlns:r="http://schemas.openxmlformats.org/officeDocument/2006/relationships" id="256" r:id="Rb34c1836919e4897"/>
    <p:sldId xmlns:r="http://schemas.openxmlformats.org/officeDocument/2006/relationships" id="257" r:id="R74faaa45e7e64e42"/>
    <p:sldId xmlns:r="http://schemas.openxmlformats.org/officeDocument/2006/relationships" id="258" r:id="Ra60b06d46e9047c4"/>
    <p:sldId xmlns:r="http://schemas.openxmlformats.org/officeDocument/2006/relationships" id="259" r:id="R5f65090f20114749"/>
    <p:sldId xmlns:r="http://schemas.openxmlformats.org/officeDocument/2006/relationships" id="260" r:id="R7f88d72db8fb4dfb"/>
    <p:sldId xmlns:r="http://schemas.openxmlformats.org/officeDocument/2006/relationships" id="261" r:id="R2729e4866a724b68"/>
    <p:sldId xmlns:r="http://schemas.openxmlformats.org/officeDocument/2006/relationships" id="262" r:id="R8bac1ede739a4090"/>
    <p:sldId xmlns:r="http://schemas.openxmlformats.org/officeDocument/2006/relationships" id="263" r:id="R9b96f3f682734c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842a8d069404c" /><Relationship Type="http://schemas.openxmlformats.org/officeDocument/2006/relationships/slideMaster" Target="/ppt/slideMasters/slideMaster1.xml" Id="R322076ff4da84bea" /><Relationship Type="http://schemas.openxmlformats.org/officeDocument/2006/relationships/notesMaster" Target="/ppt/notesMasters/notesMaster1.xml" Id="Refd05fe733174941" /><Relationship Type="http://schemas.openxmlformats.org/officeDocument/2006/relationships/presProps" Target="/ppt/presProps.xml" Id="R771fe755013f4f94" /><Relationship Type="http://schemas.openxmlformats.org/officeDocument/2006/relationships/tableStyles" Target="/ppt/tableStyles.xml" Id="R26d0e06df9a44fbb" /><Relationship Type="http://schemas.openxmlformats.org/officeDocument/2006/relationships/slide" Target="/ppt/slides/slide1.xml" Id="Rb34c1836919e4897" /><Relationship Type="http://schemas.openxmlformats.org/officeDocument/2006/relationships/slide" Target="/ppt/slides/slide2.xml" Id="R74faaa45e7e64e42" /><Relationship Type="http://schemas.openxmlformats.org/officeDocument/2006/relationships/slide" Target="/ppt/slides/slide3.xml" Id="Ra60b06d46e9047c4" /><Relationship Type="http://schemas.openxmlformats.org/officeDocument/2006/relationships/slide" Target="/ppt/slides/slide4.xml" Id="R5f65090f20114749" /><Relationship Type="http://schemas.openxmlformats.org/officeDocument/2006/relationships/slide" Target="/ppt/slides/slide5.xml" Id="R7f88d72db8fb4dfb" /><Relationship Type="http://schemas.openxmlformats.org/officeDocument/2006/relationships/slide" Target="/ppt/slides/slide6.xml" Id="R2729e4866a724b68" /><Relationship Type="http://schemas.openxmlformats.org/officeDocument/2006/relationships/slide" Target="/ppt/slides/slide7.xml" Id="R8bac1ede739a4090" /><Relationship Type="http://schemas.openxmlformats.org/officeDocument/2006/relationships/slide" Target="/ppt/slides/slide8.xml" Id="R9b96f3f682734c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5fb2e07f840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608d2e38c14b58" /><Relationship Type="http://schemas.openxmlformats.org/officeDocument/2006/relationships/notesMaster" Target="/ppt/notesMasters/notesMaster1.xml" Id="R050d7335b0c34a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d5c683a3934cc8" /><Relationship Type="http://schemas.openxmlformats.org/officeDocument/2006/relationships/notesMaster" Target="/ppt/notesMasters/notesMaster1.xml" Id="R77f39d7b6b1f45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4b8b7f434a43f2" /><Relationship Type="http://schemas.openxmlformats.org/officeDocument/2006/relationships/notesMaster" Target="/ppt/notesMasters/notesMaster1.xml" Id="R3443ff5d179940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4598174e64606" /><Relationship Type="http://schemas.openxmlformats.org/officeDocument/2006/relationships/notesMaster" Target="/ppt/notesMasters/notesMaster1.xml" Id="R5c2c2aabecc843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9b0299f8644ee" /><Relationship Type="http://schemas.openxmlformats.org/officeDocument/2006/relationships/notesMaster" Target="/ppt/notesMasters/notesMaster1.xml" Id="R9453b47cefa24c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0818393ea248d5" /><Relationship Type="http://schemas.openxmlformats.org/officeDocument/2006/relationships/notesMaster" Target="/ppt/notesMasters/notesMaster1.xml" Id="R8cc6b4103c3142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e53a7c97bd449e" /><Relationship Type="http://schemas.openxmlformats.org/officeDocument/2006/relationships/notesMaster" Target="/ppt/notesMasters/notesMaster1.xml" Id="R9bc0d9965d45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fc2250e8554b77" /><Relationship Type="http://schemas.openxmlformats.org/officeDocument/2006/relationships/notesMaster" Target="/ppt/notesMasters/notesMaster1.xml" Id="R2539b4553d56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Vincular sensores, distinguir interfaces e diagnosticar falhas de comunicação.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curso inclui Tenable Core. Revisar instalação e administração sem presumir que Core substitui o console SaaS.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F08: Tenable Core + Nessus</a:t>
            </a:r>
          </a:p>
          <a:p xmlns:a="http://schemas.openxmlformats.org/drawingml/2006/main">
            <a:r>
              <a:t>https://docs.tenable.com/tenable-core/Nessus/Content/Introduction_Nessus.htm</a:t>
            </a:r>
          </a:p>
          <a:p xmlns:a="http://schemas.openxmlformats.org/drawingml/2006/main">
            <a:r>
              <a:t>Data: 2026-08-24. Last updated explícito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Portas padrão no guia Sensor Security. Regras de acesso aos alvos variam conforme o serviço avaliado. Conferir exceções regionais e de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Revisar a tabela atual de hardware, evitando memorizar um número universal. O guia alerta para efeitos de NAT em operações de rede de baixo 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F10: Hardware Requirements</a:t>
            </a:r>
          </a:p>
          <a:p xmlns:a="http://schemas.openxmlformats.org/drawingml/2006/main">
            <a:r>
              <a:t>https://docs.tenable.com/nessus/Content/HardwareRequirements.htm</a:t>
            </a:r>
          </a:p>
          <a:p xmlns:a="http://schemas.openxmlformats.org/drawingml/2006/main">
            <a:r>
              <a:t>Data: sem data comprovada. Nessus 10.12,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linking key não equivale a access key e secret key de API. Manter segredos fora do caderno de estudo.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F11: Manage Sensors</a:t>
            </a:r>
          </a:p>
          <a:p xmlns:a="http://schemas.openxmlformats.org/drawingml/2006/main">
            <a:r>
              <a:t>https://docs.tenable.com/vulnerability-management/Content/Settings/Sensors/manage-sensors.htm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nessuscli agent link --key=&lt;LINKING_KEY&gt; --host=sensor.cloud.tenable.com --port=443 --groups="Lab". Não executar com dados fictícios em ambiente produtivo. No FedRAMP, usar o endpoint documentado.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guia atualizado em 27/08/2026 ressalta que atributos de identidade podem demorar ou não ser observáveis no tráfego.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L02. No modo sem console, ordenar hipóteses e evidências. Com console, consultar status e logs sem expor tokens. Não executar comandos de reset para tentar corrigir uma falha não diagnosticada.</a:t>
            </a:r>
          </a:p>
          <a:p xmlns:a="http://schemas.openxmlformats.org/drawingml/2006/main">
            <a:r>
              <a:t>Material local de apoio: L02 páginas PDF 41, 42, 1354, 1355, 1357. L03 itens 6, 7, 14. L01 itens 5, 7, 33. Interfaces, linking keys e comunicação HTTPS. Corrigir a confusão entre protocolo de aplicação e transporte.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F11: Manage Sensors</a:t>
            </a:r>
          </a:p>
          <a:p xmlns:a="http://schemas.openxmlformats.org/drawingml/2006/main">
            <a:r>
              <a:t>https://docs.tenable.com/vulnerability-management/Content/Settings/Sensors/manage-sensors.htm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b3fc9bad349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cc05772ae41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2bf5484ee4e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0110ace4c45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fb4fc0ecd47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e8eea461a43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C4A883-A392-4D1A-86B3-14D4C21B5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DE03CA-BD5E-4470-AB06-CCEACDCF34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3C3F1E-C93A-4812-B5BE-59AB40894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DC8578-8701-4D0D-BC44-5E5039C6E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5B33E8-9BDF-4FA8-ADCD-19E202CB4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30D433-93C3-4D39-8E4C-91A9B4EED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3CADDD-6C7D-4566-895B-A6C95766B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F4BC94-580C-4A42-B5F6-3EE7796B13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E0151-540F-48FC-ADD2-3C268BF82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D6377-2342-4766-9ACD-FBBD36360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a4ecc9eb4b4b47" /><Relationship Type="http://schemas.openxmlformats.org/officeDocument/2006/relationships/slideLayout" Target="/ppt/slideLayouts/slideLayout1.xml" Id="Rcfee6562fd1c4828" /><Relationship Type="http://schemas.openxmlformats.org/officeDocument/2006/relationships/slideLayout" Target="/ppt/slideLayouts/slideLayout2.xml" Id="R40949c6d854948d0" /><Relationship Type="http://schemas.openxmlformats.org/officeDocument/2006/relationships/slideLayout" Target="/ppt/slideLayouts/slideLayout3.xml" Id="R552455e4e72344c7" /><Relationship Type="http://schemas.openxmlformats.org/officeDocument/2006/relationships/slideLayout" Target="/ppt/slideLayouts/slideLayout4.xml" Id="R9130590be924401a" /><Relationship Type="http://schemas.openxmlformats.org/officeDocument/2006/relationships/slideLayout" Target="/ppt/slideLayouts/slideLayout5.xml" Id="R25db71f2d1114918" /><Relationship Type="http://schemas.openxmlformats.org/officeDocument/2006/relationships/slideLayout" Target="/ppt/slideLayouts/slideLayout6.xml" Id="R6e0aa8f3f85b4f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e6562fd1c4828"/>
    <p:sldLayoutId xmlns:r="http://schemas.openxmlformats.org/officeDocument/2006/relationships" id="2147483650" r:id="R40949c6d854948d0"/>
    <p:sldLayoutId xmlns:r="http://schemas.openxmlformats.org/officeDocument/2006/relationships" id="2147483651" r:id="R552455e4e72344c7"/>
    <p:sldLayoutId xmlns:r="http://schemas.openxmlformats.org/officeDocument/2006/relationships" id="2147483652" r:id="R9130590be924401a"/>
    <p:sldLayoutId xmlns:r="http://schemas.openxmlformats.org/officeDocument/2006/relationships" id="2147483653" r:id="R25db71f2d1114918"/>
    <p:sldLayoutId xmlns:r="http://schemas.openxmlformats.org/officeDocument/2006/relationships" id="2147483654" r:id="R6e0aa8f3f85b4f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732daeb38461e" /><Relationship Type="http://schemas.openxmlformats.org/officeDocument/2006/relationships/notesSlide" Target="/ppt/notesSlides/notesSlide1.xml" Id="R2a70f3ec222c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3dffb47d9434c" /><Relationship Type="http://schemas.openxmlformats.org/officeDocument/2006/relationships/notesSlide" Target="/ppt/notesSlides/notesSlide2.xml" Id="Ra410e67ccc5d47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e101679544f25" /><Relationship Type="http://schemas.openxmlformats.org/officeDocument/2006/relationships/notesSlide" Target="/ppt/notesSlides/notesSlide3.xml" Id="R040e0d36fef44d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c36ebccd74f7d" /><Relationship Type="http://schemas.openxmlformats.org/officeDocument/2006/relationships/notesSlide" Target="/ppt/notesSlides/notesSlide4.xml" Id="R34d3facbbe1e46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2362566b44951" /><Relationship Type="http://schemas.openxmlformats.org/officeDocument/2006/relationships/notesSlide" Target="/ppt/notesSlides/notesSlide5.xml" Id="R8f81cb3f2a184b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b9f9c9ba94632" /><Relationship Type="http://schemas.openxmlformats.org/officeDocument/2006/relationships/notesSlide" Target="/ppt/notesSlides/notesSlide6.xml" Id="R8c7d872c03fa48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cdef1e9f54682" /><Relationship Type="http://schemas.openxmlformats.org/officeDocument/2006/relationships/notesSlide" Target="/ppt/notesSlides/notesSlide7.xml" Id="R9a09c72ae5ce40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d3d88aca0413b" /><Relationship Type="http://schemas.openxmlformats.org/officeDocument/2006/relationships/notesSlide" Target="/ppt/notesSlides/notesSlide8.xml" Id="R7101765af6174c0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xxggv3_Section">
            <a:extLst xmlns:a="http://schemas.openxmlformats.org/drawingml/2006/main">
              <a:ext uri="{FF2B5EF4-FFF2-40B4-BE49-F238E27FC236}">
                <a16:creationId xmlns:a16="http://schemas.microsoft.com/office/drawing/2014/main" id="{99300A53-A5D0-424F-93A3-B41AC573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02</a:t>
            </a:r>
          </a:p>
        </p:txBody>
      </p:sp>
      <p:sp>
        <p:nvSpPr>
          <p:cNvPr id="2" name="xxggv3_Title">
            <a:extLst xmlns:a="http://schemas.openxmlformats.org/drawingml/2006/main">
              <a:ext uri="{FF2B5EF4-FFF2-40B4-BE49-F238E27FC236}">
                <a16:creationId xmlns:a16="http://schemas.microsoft.com/office/drawing/2014/main" id="{38F8FB74-5D5A-4324-90DA-3FE6277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Instalação e sensores</a:t>
            </a:r>
          </a:p>
        </p:txBody>
      </p:sp>
      <p:sp>
        <p:nvSpPr>
          <p:cNvPr id="3" name="xxggv3_Subtitle">
            <a:extLst xmlns:a="http://schemas.openxmlformats.org/drawingml/2006/main">
              <a:ext uri="{FF2B5EF4-FFF2-40B4-BE49-F238E27FC236}">
                <a16:creationId xmlns:a16="http://schemas.microsoft.com/office/drawing/2014/main" id="{BFBC5570-9F17-4750-8AC6-C033A79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Vincular sensores, distinguir interfaces e diagnosticar falhas de comunicação.</a:t>
            </a:r>
          </a:p>
        </p:txBody>
      </p:sp>
      <p:sp>
        <p:nvSpPr>
          <p:cNvPr id="4" name="xxggv3_Schedule">
            <a:extLst xmlns:a="http://schemas.openxmlformats.org/drawingml/2006/main">
              <a:ext uri="{FF2B5EF4-FFF2-40B4-BE49-F238E27FC236}">
                <a16:creationId xmlns:a16="http://schemas.microsoft.com/office/drawing/2014/main" id="{E4AFD18A-00FC-4EB1-88CF-5CEEC222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2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Installation</a:t>
            </a:r>
          </a:p>
        </p:txBody>
      </p:sp>
      <p:sp>
        <p:nvSpPr>
          <p:cNvPr id="5" name="xxggv3_Footer">
            <a:extLst xmlns:a="http://schemas.openxmlformats.org/drawingml/2006/main">
              <a:ext uri="{FF2B5EF4-FFF2-40B4-BE49-F238E27FC236}">
                <a16:creationId xmlns:a16="http://schemas.microsoft.com/office/drawing/2014/main" id="{6D27DFB5-36C2-4637-9163-84906B30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597379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77mwd_Section">
            <a:extLst xmlns:a="http://schemas.openxmlformats.org/drawingml/2006/main">
              <a:ext uri="{FF2B5EF4-FFF2-40B4-BE49-F238E27FC236}">
                <a16:creationId xmlns:a16="http://schemas.microsoft.com/office/drawing/2014/main" id="{7ACB44B8-CF4D-49CD-AA5D-435DD1A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d77mwd_Title">
            <a:extLst xmlns:a="http://schemas.openxmlformats.org/drawingml/2006/main">
              <a:ext uri="{FF2B5EF4-FFF2-40B4-BE49-F238E27FC236}">
                <a16:creationId xmlns:a16="http://schemas.microsoft.com/office/drawing/2014/main" id="{46BDBC16-F2E2-405B-90F0-9A99248F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Tenable Core e Nessus</a:t>
            </a:r>
          </a:p>
        </p:txBody>
      </p:sp>
      <p:sp>
        <p:nvSpPr>
          <p:cNvPr id="3" name="d77mwd_Body_1">
            <a:extLst xmlns:a="http://schemas.openxmlformats.org/drawingml/2006/main">
              <a:ext uri="{FF2B5EF4-FFF2-40B4-BE49-F238E27FC236}">
                <a16:creationId xmlns:a16="http://schemas.microsoft.com/office/drawing/2014/main" id="{A3E79F7E-3E7E-472B-BC2E-8129E55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Tenable Core oferece o sistema e a administração da appliance.</a:t>
            </a:r>
          </a:p>
        </p:txBody>
      </p:sp>
      <p:sp>
        <p:nvSpPr>
          <p:cNvPr id="4" name="d77mwd_Body_2">
            <a:extLst xmlns:a="http://schemas.openxmlformats.org/drawingml/2006/main">
              <a:ext uri="{FF2B5EF4-FFF2-40B4-BE49-F238E27FC236}">
                <a16:creationId xmlns:a16="http://schemas.microsoft.com/office/drawing/2014/main" id="{A5B160F2-1288-4A0E-9362-3CCC431C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Nessus fornece o mecanismo de avaliação.</a:t>
            </a:r>
          </a:p>
        </p:txBody>
      </p:sp>
      <p:sp>
        <p:nvSpPr>
          <p:cNvPr id="5" name="d77mwd_Body_3">
            <a:extLst xmlns:a="http://schemas.openxmlformats.org/drawingml/2006/main">
              <a:ext uri="{FF2B5EF4-FFF2-40B4-BE49-F238E27FC236}">
                <a16:creationId xmlns:a16="http://schemas.microsoft.com/office/drawing/2014/main" id="{D636764C-65D8-4E71-B71F-0CD98759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interface de Core é distinta da interface do scanner.</a:t>
            </a:r>
          </a:p>
        </p:txBody>
      </p:sp>
      <p:sp>
        <p:nvSpPr>
          <p:cNvPr id="6" name="d77mwd_Footer">
            <a:extLst xmlns:a="http://schemas.openxmlformats.org/drawingml/2006/main">
              <a:ext uri="{FF2B5EF4-FFF2-40B4-BE49-F238E27FC236}">
                <a16:creationId xmlns:a16="http://schemas.microsoft.com/office/drawing/2014/main" id="{92A17D49-3B64-4B8F-8BC1-AA6D1422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7" name="d77mwd_Folio">
            <a:extLst xmlns:a="http://schemas.openxmlformats.org/drawingml/2006/main">
              <a:ext uri="{FF2B5EF4-FFF2-40B4-BE49-F238E27FC236}">
                <a16:creationId xmlns:a16="http://schemas.microsoft.com/office/drawing/2014/main" id="{2E604E0A-781E-4F3D-A3F8-CC21C77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134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6aov8_Section">
            <a:extLst xmlns:a="http://schemas.openxmlformats.org/drawingml/2006/main">
              <a:ext uri="{FF2B5EF4-FFF2-40B4-BE49-F238E27FC236}">
                <a16:creationId xmlns:a16="http://schemas.microsoft.com/office/drawing/2014/main" id="{7BABA113-5AA2-4A60-BB49-618F1D4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l6aov8_Title">
            <a:extLst xmlns:a="http://schemas.openxmlformats.org/drawingml/2006/main">
              <a:ext uri="{FF2B5EF4-FFF2-40B4-BE49-F238E27FC236}">
                <a16:creationId xmlns:a16="http://schemas.microsoft.com/office/drawing/2014/main" id="{E1B0954F-B37B-4523-A3A3-BC1F073C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Portas e interfaces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9035-FB91-472E-8609-229BB6FE98E0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33800"/>
                <a:gridCol w="2038350"/>
                <a:gridCol w="50482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Porta padrão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Destino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Comunicação do sensor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TCP 443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sensor.cloud.tenable.com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Interface Nessus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TCP 8834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IP do scanner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Interface Network Monitor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TCP 8835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IP do monitor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Interface Tenable Core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TCP 8000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IP da appliance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4" name="l6aov8_Footer">
            <a:extLst xmlns:a="http://schemas.openxmlformats.org/drawingml/2006/main">
              <a:ext uri="{FF2B5EF4-FFF2-40B4-BE49-F238E27FC236}">
                <a16:creationId xmlns:a16="http://schemas.microsoft.com/office/drawing/2014/main" id="{B59C143C-2677-48E8-B162-76C3B581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l6aov8_Folio">
            <a:extLst xmlns:a="http://schemas.openxmlformats.org/drawingml/2006/main">
              <a:ext uri="{FF2B5EF4-FFF2-40B4-BE49-F238E27FC236}">
                <a16:creationId xmlns:a16="http://schemas.microsoft.com/office/drawing/2014/main" id="{38C1BEF8-4B22-47AF-9522-D6891B6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6835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zpxpu_Section">
            <a:extLst xmlns:a="http://schemas.openxmlformats.org/drawingml/2006/main">
              <a:ext uri="{FF2B5EF4-FFF2-40B4-BE49-F238E27FC236}">
                <a16:creationId xmlns:a16="http://schemas.microsoft.com/office/drawing/2014/main" id="{A666C3F3-9391-4C08-9FC8-6EDD09B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azpxpu_Title">
            <a:extLst xmlns:a="http://schemas.openxmlformats.org/drawingml/2006/main">
              <a:ext uri="{FF2B5EF4-FFF2-40B4-BE49-F238E27FC236}">
                <a16:creationId xmlns:a16="http://schemas.microsoft.com/office/drawing/2014/main" id="{DEBB9FC8-7312-4B57-A10A-C1E5EC0B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Dimensionamento</a:t>
            </a:r>
          </a:p>
        </p:txBody>
      </p:sp>
      <p:sp>
        <p:nvSpPr>
          <p:cNvPr id="3" name="azpxpu_Body_1">
            <a:extLst xmlns:a="http://schemas.openxmlformats.org/drawingml/2006/main">
              <a:ext uri="{FF2B5EF4-FFF2-40B4-BE49-F238E27FC236}">
                <a16:creationId xmlns:a16="http://schemas.microsoft.com/office/drawing/2014/main" id="{68203273-F08C-46FB-88B6-B8E56377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CPU, memória e disco dependem do escopo e da política.</a:t>
            </a:r>
          </a:p>
        </p:txBody>
      </p:sp>
      <p:sp>
        <p:nvSpPr>
          <p:cNvPr id="4" name="azpxpu_Body_2">
            <a:extLst xmlns:a="http://schemas.openxmlformats.org/drawingml/2006/main">
              <a:ext uri="{FF2B5EF4-FFF2-40B4-BE49-F238E27FC236}">
                <a16:creationId xmlns:a16="http://schemas.microsoft.com/office/drawing/2014/main" id="{5A07D2D8-87B8-4558-A516-87EA1982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Scans autenticados e complexos podem exigir mais recursos.</a:t>
            </a:r>
          </a:p>
        </p:txBody>
      </p:sp>
      <p:sp>
        <p:nvSpPr>
          <p:cNvPr id="5" name="azpxpu_Body_3">
            <a:extLst xmlns:a="http://schemas.openxmlformats.org/drawingml/2006/main">
              <a:ext uri="{FF2B5EF4-FFF2-40B4-BE49-F238E27FC236}">
                <a16:creationId xmlns:a16="http://schemas.microsoft.com/office/drawing/2014/main" id="{1E2FC41F-729D-468A-A989-04838BA3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Logs e plugins consomem espaço ao longo do tempo.</a:t>
            </a:r>
          </a:p>
        </p:txBody>
      </p:sp>
      <p:sp>
        <p:nvSpPr>
          <p:cNvPr id="6" name="azpxpu_Body_4">
            <a:extLst xmlns:a="http://schemas.openxmlformats.org/drawingml/2006/main">
              <a:ext uri="{FF2B5EF4-FFF2-40B4-BE49-F238E27FC236}">
                <a16:creationId xmlns:a16="http://schemas.microsoft.com/office/drawing/2014/main" id="{052A5ED8-8C60-4FE6-A17B-6A3A60DD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Recursos reservados da VM precisam suportar o piloto.</a:t>
            </a:r>
          </a:p>
        </p:txBody>
      </p:sp>
      <p:sp>
        <p:nvSpPr>
          <p:cNvPr id="7" name="azpxpu_Footer">
            <a:extLst xmlns:a="http://schemas.openxmlformats.org/drawingml/2006/main">
              <a:ext uri="{FF2B5EF4-FFF2-40B4-BE49-F238E27FC236}">
                <a16:creationId xmlns:a16="http://schemas.microsoft.com/office/drawing/2014/main" id="{ACAA6D49-6E5E-4050-BD35-8B3BBA06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azpxpu_Folio">
            <a:extLst xmlns:a="http://schemas.openxmlformats.org/drawingml/2006/main">
              <a:ext uri="{FF2B5EF4-FFF2-40B4-BE49-F238E27FC236}">
                <a16:creationId xmlns:a16="http://schemas.microsoft.com/office/drawing/2014/main" id="{CAFAB150-049C-4F8B-BCDE-E9ED2213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9467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k16vb_Section">
            <a:extLst xmlns:a="http://schemas.openxmlformats.org/drawingml/2006/main">
              <a:ext uri="{FF2B5EF4-FFF2-40B4-BE49-F238E27FC236}">
                <a16:creationId xmlns:a16="http://schemas.microsoft.com/office/drawing/2014/main" id="{685CDA78-37DC-43ED-BB78-4B49708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qk16vb_Title">
            <a:extLst xmlns:a="http://schemas.openxmlformats.org/drawingml/2006/main">
              <a:ext uri="{FF2B5EF4-FFF2-40B4-BE49-F238E27FC236}">
                <a16:creationId xmlns:a16="http://schemas.microsoft.com/office/drawing/2014/main" id="{008A58AA-9587-4F81-AE0B-927BB74E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Vinculação do sensor</a:t>
            </a:r>
          </a:p>
        </p:txBody>
      </p:sp>
      <p:sp>
        <p:nvSpPr>
          <p:cNvPr id="3" name="qk16vb_Body_1">
            <a:extLst xmlns:a="http://schemas.openxmlformats.org/drawingml/2006/main">
              <a:ext uri="{FF2B5EF4-FFF2-40B4-BE49-F238E27FC236}">
                <a16:creationId xmlns:a16="http://schemas.microsoft.com/office/drawing/2014/main" id="{46B32969-83ED-474A-AB77-DB68A79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linking key inicia a associação com a plataforma.</a:t>
            </a:r>
          </a:p>
        </p:txBody>
      </p:sp>
      <p:sp>
        <p:nvSpPr>
          <p:cNvPr id="4" name="qk16vb_Body_2">
            <a:extLst xmlns:a="http://schemas.openxmlformats.org/drawingml/2006/main">
              <a:ext uri="{FF2B5EF4-FFF2-40B4-BE49-F238E27FC236}">
                <a16:creationId xmlns:a16="http://schemas.microsoft.com/office/drawing/2014/main" id="{960A0CBD-C8F0-4041-B4F6-957D511B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Após o vínculo, o sensor utiliza credenciais próprias.</a:t>
            </a:r>
          </a:p>
        </p:txBody>
      </p:sp>
      <p:sp>
        <p:nvSpPr>
          <p:cNvPr id="5" name="qk16vb_Body_3">
            <a:extLst xmlns:a="http://schemas.openxmlformats.org/drawingml/2006/main">
              <a:ext uri="{FF2B5EF4-FFF2-40B4-BE49-F238E27FC236}">
                <a16:creationId xmlns:a16="http://schemas.microsoft.com/office/drawing/2014/main" id="{93101892-D9CB-44DF-9C72-454A82E1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DNS, TLS, proxy e saída HTTPS precisam funcionar.</a:t>
            </a:r>
          </a:p>
        </p:txBody>
      </p:sp>
      <p:sp>
        <p:nvSpPr>
          <p:cNvPr id="6" name="qk16vb_Body_4">
            <a:extLst xmlns:a="http://schemas.openxmlformats.org/drawingml/2006/main">
              <a:ext uri="{FF2B5EF4-FFF2-40B4-BE49-F238E27FC236}">
                <a16:creationId xmlns:a16="http://schemas.microsoft.com/office/drawing/2014/main" id="{C33AFCC3-2773-4603-9447-B09050B5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console deve mostrar o sensor esperado e sua comunicação.</a:t>
            </a:r>
          </a:p>
        </p:txBody>
      </p:sp>
      <p:sp>
        <p:nvSpPr>
          <p:cNvPr id="7" name="qk16vb_Footer">
            <a:extLst xmlns:a="http://schemas.openxmlformats.org/drawingml/2006/main">
              <a:ext uri="{FF2B5EF4-FFF2-40B4-BE49-F238E27FC236}">
                <a16:creationId xmlns:a16="http://schemas.microsoft.com/office/drawing/2014/main" id="{E015BCD3-CD38-4882-9D16-BC118E1C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qk16vb_Folio">
            <a:extLst xmlns:a="http://schemas.openxmlformats.org/drawingml/2006/main">
              <a:ext uri="{FF2B5EF4-FFF2-40B4-BE49-F238E27FC236}">
                <a16:creationId xmlns:a16="http://schemas.microsoft.com/office/drawing/2014/main" id="{B9388480-1FC2-419E-860B-7DD0CD8C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3076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gdgrg_Section">
            <a:extLst xmlns:a="http://schemas.openxmlformats.org/drawingml/2006/main">
              <a:ext uri="{FF2B5EF4-FFF2-40B4-BE49-F238E27FC236}">
                <a16:creationId xmlns:a16="http://schemas.microsoft.com/office/drawing/2014/main" id="{3BBA3806-6B71-4759-880C-C21BF9AC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ggdgrg_Title">
            <a:extLst xmlns:a="http://schemas.openxmlformats.org/drawingml/2006/main">
              <a:ext uri="{FF2B5EF4-FFF2-40B4-BE49-F238E27FC236}">
                <a16:creationId xmlns:a16="http://schemas.microsoft.com/office/drawing/2014/main" id="{8E233A9A-3BF0-4222-8CD2-9AC2941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Instalação do Agent</a:t>
            </a:r>
          </a:p>
        </p:txBody>
      </p:sp>
      <p:sp>
        <p:nvSpPr>
          <p:cNvPr id="3" name="ggdgrg_Body_1">
            <a:extLst xmlns:a="http://schemas.openxmlformats.org/drawingml/2006/main">
              <a:ext uri="{FF2B5EF4-FFF2-40B4-BE49-F238E27FC236}">
                <a16:creationId xmlns:a16="http://schemas.microsoft.com/office/drawing/2014/main" id="{29DB21ED-CE5A-414D-893C-62D31F71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endpoint e a porta precisam corresponder ao ambiente.</a:t>
            </a:r>
          </a:p>
        </p:txBody>
      </p:sp>
      <p:sp>
        <p:nvSpPr>
          <p:cNvPr id="4" name="ggdgrg_Body_2">
            <a:extLst xmlns:a="http://schemas.openxmlformats.org/drawingml/2006/main">
              <a:ext uri="{FF2B5EF4-FFF2-40B4-BE49-F238E27FC236}">
                <a16:creationId xmlns:a16="http://schemas.microsoft.com/office/drawing/2014/main" id="{9506CA94-B1B6-4EF2-9B45-B52CA99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agent link associa o host ao gerenciador.</a:t>
            </a:r>
          </a:p>
        </p:txBody>
      </p:sp>
      <p:sp>
        <p:nvSpPr>
          <p:cNvPr id="5" name="ggdgrg_Body_3">
            <a:extLst xmlns:a="http://schemas.openxmlformats.org/drawingml/2006/main">
              <a:ext uri="{FF2B5EF4-FFF2-40B4-BE49-F238E27FC236}">
                <a16:creationId xmlns:a16="http://schemas.microsoft.com/office/drawing/2014/main" id="{8B1123BD-168F-4349-891A-E75276FC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agent status mostra vínculo, comunicação e plugin set.</a:t>
            </a:r>
          </a:p>
        </p:txBody>
      </p:sp>
      <p:sp>
        <p:nvSpPr>
          <p:cNvPr id="6" name="ggdgrg_Body_4">
            <a:extLst xmlns:a="http://schemas.openxmlformats.org/drawingml/2006/main">
              <a:ext uri="{FF2B5EF4-FFF2-40B4-BE49-F238E27FC236}">
                <a16:creationId xmlns:a16="http://schemas.microsoft.com/office/drawing/2014/main" id="{D254BF0A-4065-4FC7-B2EE-C17B761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Nome de agent group diferencia maiúsculas e minúsculas.</a:t>
            </a:r>
          </a:p>
        </p:txBody>
      </p:sp>
      <p:sp>
        <p:nvSpPr>
          <p:cNvPr id="7" name="ggdgrg_Footer">
            <a:extLst xmlns:a="http://schemas.openxmlformats.org/drawingml/2006/main">
              <a:ext uri="{FF2B5EF4-FFF2-40B4-BE49-F238E27FC236}">
                <a16:creationId xmlns:a16="http://schemas.microsoft.com/office/drawing/2014/main" id="{F80CE59B-D1E5-409C-A7F2-90942BF1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ggdgrg_Folio">
            <a:extLst xmlns:a="http://schemas.openxmlformats.org/drawingml/2006/main">
              <a:ext uri="{FF2B5EF4-FFF2-40B4-BE49-F238E27FC236}">
                <a16:creationId xmlns:a16="http://schemas.microsoft.com/office/drawing/2014/main" id="{A49F6771-6E2A-4DD6-8C7F-5C441054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21492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lg0xg_Section">
            <a:extLst xmlns:a="http://schemas.openxmlformats.org/drawingml/2006/main">
              <a:ext uri="{FF2B5EF4-FFF2-40B4-BE49-F238E27FC236}">
                <a16:creationId xmlns:a16="http://schemas.microsoft.com/office/drawing/2014/main" id="{4645A519-B521-4AE6-8491-E15BBC85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alg0xg_Title">
            <a:extLst xmlns:a="http://schemas.openxmlformats.org/drawingml/2006/main">
              <a:ext uri="{FF2B5EF4-FFF2-40B4-BE49-F238E27FC236}">
                <a16:creationId xmlns:a16="http://schemas.microsoft.com/office/drawing/2014/main" id="{C5E6BE23-4949-4B1F-A700-08782B2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Instalação do monitor passivo</a:t>
            </a:r>
          </a:p>
        </p:txBody>
      </p:sp>
      <p:sp>
        <p:nvSpPr>
          <p:cNvPr id="3" name="alg0xg_Body_1">
            <a:extLst xmlns:a="http://schemas.openxmlformats.org/drawingml/2006/main">
              <a:ext uri="{FF2B5EF4-FFF2-40B4-BE49-F238E27FC236}">
                <a16:creationId xmlns:a16="http://schemas.microsoft.com/office/drawing/2014/main" id="{676EDC4A-66B5-4BFF-92ED-A860D12C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SPAN ou TAP deve fornecer visão bidirecional do tráfego.</a:t>
            </a:r>
          </a:p>
        </p:txBody>
      </p:sp>
      <p:sp>
        <p:nvSpPr>
          <p:cNvPr id="4" name="alg0xg_Body_2">
            <a:extLst xmlns:a="http://schemas.openxmlformats.org/drawingml/2006/main">
              <a:ext uri="{FF2B5EF4-FFF2-40B4-BE49-F238E27FC236}">
                <a16:creationId xmlns:a16="http://schemas.microsoft.com/office/drawing/2014/main" id="{4FA88C74-11C2-402B-9596-1196F95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posição do monitor determina o que ele observa.</a:t>
            </a:r>
          </a:p>
        </p:txBody>
      </p:sp>
      <p:sp>
        <p:nvSpPr>
          <p:cNvPr id="5" name="alg0xg_Body_3">
            <a:extLst xmlns:a="http://schemas.openxmlformats.org/drawingml/2006/main">
              <a:ext uri="{FF2B5EF4-FFF2-40B4-BE49-F238E27FC236}">
                <a16:creationId xmlns:a16="http://schemas.microsoft.com/office/drawing/2014/main" id="{6911A6C3-0FED-428A-9F9C-50B9BE87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Hosts silenciosos podem não aparecer imediatamente.</a:t>
            </a:r>
          </a:p>
        </p:txBody>
      </p:sp>
      <p:sp>
        <p:nvSpPr>
          <p:cNvPr id="6" name="alg0xg_Body_4">
            <a:extLst xmlns:a="http://schemas.openxmlformats.org/drawingml/2006/main">
              <a:ext uri="{FF2B5EF4-FFF2-40B4-BE49-F238E27FC236}">
                <a16:creationId xmlns:a16="http://schemas.microsoft.com/office/drawing/2014/main" id="{F4E9A881-C49E-4B42-89E0-9AC694DB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Resultados passivos complementam a avaliação ativa.</a:t>
            </a:r>
          </a:p>
        </p:txBody>
      </p:sp>
      <p:sp>
        <p:nvSpPr>
          <p:cNvPr id="7" name="alg0xg_Footer">
            <a:extLst xmlns:a="http://schemas.openxmlformats.org/drawingml/2006/main">
              <a:ext uri="{FF2B5EF4-FFF2-40B4-BE49-F238E27FC236}">
                <a16:creationId xmlns:a16="http://schemas.microsoft.com/office/drawing/2014/main" id="{94B984BF-FEA9-439C-BC5B-C53C0F76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alg0xg_Folio">
            <a:extLst xmlns:a="http://schemas.openxmlformats.org/drawingml/2006/main">
              <a:ext uri="{FF2B5EF4-FFF2-40B4-BE49-F238E27FC236}">
                <a16:creationId xmlns:a16="http://schemas.microsoft.com/office/drawing/2014/main" id="{FA152D3E-7D3C-4863-9D43-B28D7E5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3667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cuins_Section">
            <a:extLst xmlns:a="http://schemas.openxmlformats.org/drawingml/2006/main">
              <a:ext uri="{FF2B5EF4-FFF2-40B4-BE49-F238E27FC236}">
                <a16:creationId xmlns:a16="http://schemas.microsoft.com/office/drawing/2014/main" id="{FD12C1D0-0821-46E4-B811-076CBACC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02</a:t>
            </a:r>
          </a:p>
        </p:txBody>
      </p:sp>
      <p:sp>
        <p:nvSpPr>
          <p:cNvPr id="2" name="hcuins_Title">
            <a:extLst xmlns:a="http://schemas.openxmlformats.org/drawingml/2006/main">
              <a:ext uri="{FF2B5EF4-FFF2-40B4-BE49-F238E27FC236}">
                <a16:creationId xmlns:a16="http://schemas.microsoft.com/office/drawing/2014/main" id="{4CC106FF-BD59-4549-AC53-14C2A2E3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conectividade</a:t>
            </a:r>
          </a:p>
        </p:txBody>
      </p:sp>
      <p:sp>
        <p:nvSpPr>
          <p:cNvPr id="3" name="hcuins_Body_1">
            <a:extLst xmlns:a="http://schemas.openxmlformats.org/drawingml/2006/main">
              <a:ext uri="{FF2B5EF4-FFF2-40B4-BE49-F238E27FC236}">
                <a16:creationId xmlns:a16="http://schemas.microsoft.com/office/drawing/2014/main" id="{9693404B-18A9-44C9-BA19-BE96337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tabela de interfaces e evidências de comunicação.</a:t>
            </a:r>
          </a:p>
        </p:txBody>
      </p:sp>
      <p:sp>
        <p:nvSpPr>
          <p:cNvPr id="4" name="hcuins_Body_2">
            <a:extLst xmlns:a="http://schemas.openxmlformats.org/drawingml/2006/main">
              <a:ext uri="{FF2B5EF4-FFF2-40B4-BE49-F238E27FC236}">
                <a16:creationId xmlns:a16="http://schemas.microsoft.com/office/drawing/2014/main" id="{D9CA36EF-D89B-4977-959E-BD0FB74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Falha simulada:</a:t>
            </a:r>
            <a:r>
              <a:t> DNS ou proxy impede o vínculo.</a:t>
            </a:r>
          </a:p>
        </p:txBody>
      </p:sp>
      <p:sp>
        <p:nvSpPr>
          <p:cNvPr id="5" name="hcuins_Body_3">
            <a:extLst xmlns:a="http://schemas.openxmlformats.org/drawingml/2006/main">
              <a:ext uri="{FF2B5EF4-FFF2-40B4-BE49-F238E27FC236}">
                <a16:creationId xmlns:a16="http://schemas.microsoft.com/office/drawing/2014/main" id="{57F05F8C-5B1C-416D-B701-89B9B785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Diagnóstico:</a:t>
            </a:r>
            <a:r>
              <a:t> serviço local, resolução, TLS, endpoint e vínculo.</a:t>
            </a:r>
          </a:p>
        </p:txBody>
      </p:sp>
      <p:sp>
        <p:nvSpPr>
          <p:cNvPr id="6" name="hcuins_Body_4">
            <a:extLst xmlns:a="http://schemas.openxmlformats.org/drawingml/2006/main">
              <a:ext uri="{FF2B5EF4-FFF2-40B4-BE49-F238E27FC236}">
                <a16:creationId xmlns:a16="http://schemas.microsoft.com/office/drawing/2014/main" id="{502EA07D-BA9B-43EB-8E19-EB4485D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02:</a:t>
            </a:r>
            <a:r>
              <a:t> 20 questões, 40 minutos.</a:t>
            </a:r>
          </a:p>
        </p:txBody>
      </p:sp>
      <p:sp>
        <p:nvSpPr>
          <p:cNvPr id="7" name="hcuins_Footer">
            <a:extLst xmlns:a="http://schemas.openxmlformats.org/drawingml/2006/main">
              <a:ext uri="{FF2B5EF4-FFF2-40B4-BE49-F238E27FC236}">
                <a16:creationId xmlns:a16="http://schemas.microsoft.com/office/drawing/2014/main" id="{53652049-1430-4426-B81F-9EB2EF1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hcuins_Folio">
            <a:extLst xmlns:a="http://schemas.openxmlformats.org/drawingml/2006/main">
              <a:ext uri="{FF2B5EF4-FFF2-40B4-BE49-F238E27FC236}">
                <a16:creationId xmlns:a16="http://schemas.microsoft.com/office/drawing/2014/main" id="{DCD27412-AB95-439E-95A1-C802B64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26942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2026-10-14T13:33:39.5930000Z</dcterms:created>
  <dcterms:modified xsi:type="dcterms:W3CDTF">2026-10-14T13:33:39.5930000Z</dcterms:modified>
</coreProperties>
</file>