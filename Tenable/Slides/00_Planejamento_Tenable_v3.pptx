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bfdf9a35044334" /><Relationship Type="http://schemas.openxmlformats.org/officeDocument/2006/relationships/extended-properties" Target="/docProps/app.xml" Id="Rad68109ca0594c90" /><Relationship Type="http://schemas.openxmlformats.org/officeDocument/2006/relationships/officeDocument" Target="/ppt/presentation.xml" Id="R5ccfaaa0eb8a48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dbe8ea391e48c3"/>
  </p:sldMasterIdLst>
  <p:notesMasterIdLst>
    <p:notesMasterId xmlns:r="http://schemas.openxmlformats.org/officeDocument/2006/relationships" r:id="R1bdc11c8788741dd"/>
  </p:notesMasterIdLst>
  <p:sldIdLst>
    <p:sldId xmlns:r="http://schemas.openxmlformats.org/officeDocument/2006/relationships" id="256" r:id="Rc729d6f12e5542cc"/>
    <p:sldId xmlns:r="http://schemas.openxmlformats.org/officeDocument/2006/relationships" id="257" r:id="R40e06d8d644a40bc"/>
    <p:sldId xmlns:r="http://schemas.openxmlformats.org/officeDocument/2006/relationships" id="258" r:id="R77085a5ea62c41df"/>
    <p:sldId xmlns:r="http://schemas.openxmlformats.org/officeDocument/2006/relationships" id="259" r:id="Rb674a2c78e27410d"/>
    <p:sldId xmlns:r="http://schemas.openxmlformats.org/officeDocument/2006/relationships" id="260" r:id="Rb0cfd6c99f9f48ac"/>
    <p:sldId xmlns:r="http://schemas.openxmlformats.org/officeDocument/2006/relationships" id="261" r:id="R6549e0a70eba4c56"/>
    <p:sldId xmlns:r="http://schemas.openxmlformats.org/officeDocument/2006/relationships" id="262" r:id="R18519bd2c1a84ee9"/>
    <p:sldId xmlns:r="http://schemas.openxmlformats.org/officeDocument/2006/relationships" id="263" r:id="R354e6bcd56404621"/>
    <p:sldId xmlns:r="http://schemas.openxmlformats.org/officeDocument/2006/relationships" id="264" r:id="R24e889e6c79440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b0a75885fd4719" /><Relationship Type="http://schemas.openxmlformats.org/officeDocument/2006/relationships/slideMaster" Target="/ppt/slideMasters/slideMaster1.xml" Id="Ra1dbe8ea391e48c3" /><Relationship Type="http://schemas.openxmlformats.org/officeDocument/2006/relationships/notesMaster" Target="/ppt/notesMasters/notesMaster1.xml" Id="R1bdc11c8788741dd" /><Relationship Type="http://schemas.openxmlformats.org/officeDocument/2006/relationships/presProps" Target="/ppt/presProps.xml" Id="R3b00455026f54e06" /><Relationship Type="http://schemas.openxmlformats.org/officeDocument/2006/relationships/tableStyles" Target="/ppt/tableStyles.xml" Id="R0bdc07ac4d8849cc" /><Relationship Type="http://schemas.openxmlformats.org/officeDocument/2006/relationships/slide" Target="/ppt/slides/slide1.xml" Id="Rc729d6f12e5542cc" /><Relationship Type="http://schemas.openxmlformats.org/officeDocument/2006/relationships/slide" Target="/ppt/slides/slide2.xml" Id="R40e06d8d644a40bc" /><Relationship Type="http://schemas.openxmlformats.org/officeDocument/2006/relationships/slide" Target="/ppt/slides/slide3.xml" Id="R77085a5ea62c41df" /><Relationship Type="http://schemas.openxmlformats.org/officeDocument/2006/relationships/slide" Target="/ppt/slides/slide4.xml" Id="Rb674a2c78e27410d" /><Relationship Type="http://schemas.openxmlformats.org/officeDocument/2006/relationships/slide" Target="/ppt/slides/slide5.xml" Id="Rb0cfd6c99f9f48ac" /><Relationship Type="http://schemas.openxmlformats.org/officeDocument/2006/relationships/slide" Target="/ppt/slides/slide6.xml" Id="R6549e0a70eba4c56" /><Relationship Type="http://schemas.openxmlformats.org/officeDocument/2006/relationships/slide" Target="/ppt/slides/slide7.xml" Id="R18519bd2c1a84ee9" /><Relationship Type="http://schemas.openxmlformats.org/officeDocument/2006/relationships/slide" Target="/ppt/slides/slide8.xml" Id="R354e6bcd56404621" /><Relationship Type="http://schemas.openxmlformats.org/officeDocument/2006/relationships/slide" Target="/ppt/slides/slide9.xml" Id="R24e889e6c79440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0123aae19648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4d095d789e4a7f" /><Relationship Type="http://schemas.openxmlformats.org/officeDocument/2006/relationships/notesMaster" Target="/ppt/notesMasters/notesMaster1.xml" Id="Rf8b066e13e3f45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b90da7c07942fa" /><Relationship Type="http://schemas.openxmlformats.org/officeDocument/2006/relationships/notesMaster" Target="/ppt/notesMasters/notesMaster1.xml" Id="Ra7a06da61ecd42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d05b315d5a497d" /><Relationship Type="http://schemas.openxmlformats.org/officeDocument/2006/relationships/notesMaster" Target="/ppt/notesMasters/notesMaster1.xml" Id="R28b088c0f2634e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b6a2837a564bf1" /><Relationship Type="http://schemas.openxmlformats.org/officeDocument/2006/relationships/notesMaster" Target="/ppt/notesMasters/notesMaster1.xml" Id="Rc663db015d2a4e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0f1065b054457f" /><Relationship Type="http://schemas.openxmlformats.org/officeDocument/2006/relationships/notesMaster" Target="/ppt/notesMasters/notesMaster1.xml" Id="R4cc1756c01564c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c982dc896548db" /><Relationship Type="http://schemas.openxmlformats.org/officeDocument/2006/relationships/notesMaster" Target="/ppt/notesMasters/notesMaster1.xml" Id="Rcdc3117f2d4847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dbae89479644aa" /><Relationship Type="http://schemas.openxmlformats.org/officeDocument/2006/relationships/notesMaster" Target="/ppt/notesMasters/notesMaster1.xml" Id="Rb38904dbb57b43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69accd977a4619" /><Relationship Type="http://schemas.openxmlformats.org/officeDocument/2006/relationships/notesMaster" Target="/ppt/notesMasters/notesMaster1.xml" Id="Ra732de5bb83648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67154283354ee2" /><Relationship Type="http://schemas.openxmlformats.org/officeDocument/2006/relationships/notesMaster" Target="/ppt/notesMasters/notesMaster1.xml" Id="R4d2836a7afc645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Plano personalizado para duas horas diárias, de segunda a sexta. A data exata do exame permanece a definir.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Metas pedagógicas propostas, sem garantia de aprovação. O PDF permite ferramentas de tradução sem extensão por idioma. Confirmar como utilizá-las nas instruções do agendamento.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F03: FAQ de certificação e treinamento</a:t>
            </a:r>
          </a:p>
          <a:p xmlns:a="http://schemas.openxmlformats.org/drawingml/2006/main">
            <a:r>
              <a:t>https://www.tenable.com/education?view=cert</a:t>
            </a:r>
          </a:p>
          <a:p xmlns:a="http://schemas.openxmlformats.org/drawingml/2006/main">
            <a:r>
              <a:t>Data: sem data comprovada. sem data de publicação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Agrupamento didático com base na ementa. Não é um blueprint oficial detalhado.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Distribuição editorial. Nos dias de simulado completo, reservar os 120 minutos somente para responder. A correção ocorre na sessão seguinte.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Planejamento pedagógico autoral.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A/B usam questões do banco temático. Repetir itens ajuda a revisar, mas não mede prontidão independente. Explicar respostas e resolver laboratórios reduz o efeito de memorização.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Planejamento pedagógico autoral.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Método de revisão proposto. Reservar os itens finais do banco para a revisão mista. Se acertar por memória, explicar o mecanismo sem consultar o gabarito.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Planejamento pedagógico autoral.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Revalidar fontes nas semanas 9 e 13. Não presumir que toda novidade do produto foi incorporada ao banco oficial do exame.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F44: VM 2026 Release Notes</a:t>
            </a:r>
          </a:p>
          <a:p xmlns:a="http://schemas.openxmlformats.org/drawingml/2006/main">
            <a:r>
              <a:t>https://docs.tenable.com/release-notes/Content/vulnerability-management/2026.htm</a:t>
            </a:r>
          </a:p>
          <a:p xmlns:a="http://schemas.openxmlformats.org/drawingml/2006/main">
            <a:r>
              <a:t>Data: 2026-10-06. última entrada observada, até o corte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Critérios pedagógicos. Um único acerto a mais ou a menos não determina habilidade. Se houver lacunas, priorizar evidência e conceitos antes de agendar. A certificação completa exige também a prática.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F03: FAQ de certificação e treinamento</a:t>
            </a:r>
          </a:p>
          <a:p xmlns:a="http://schemas.openxmlformats.org/drawingml/2006/main">
            <a:r>
              <a:t>https://www.tenable.com/education?view=cert</a:t>
            </a:r>
          </a:p>
          <a:p xmlns:a="http://schemas.openxmlformats.org/drawingml/2006/main">
            <a:r>
              <a:t>Data: sem data comprovada. sem data de publicação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guia local fundamenta leituras por páginas. Os bancos locais não têm autenticidade como exame comprovada. As gravações têm apenas inventário e metadados revisados, sem transcrição integral. As regras atuais de severidade e acesso precisam ser lidas na documentação viva.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F19: General Settings</a:t>
            </a:r>
          </a:p>
          <a:p xmlns:a="http://schemas.openxmlformats.org/drawingml/2006/main">
            <a:r>
              <a:t>https://docs.tenable.com/vulnerability-management/Content/Settings/General/General.htm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7c3ac5c2c242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a181c18ed4d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453f2010ef4a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a0667383546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0d3c849ff44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51a1126c249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C043A2-7F90-492C-AB40-7F1CCCF4B2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68A47E-689F-4C45-9E35-F395C07EEC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84BAF13-4F03-4E7A-A595-1F057F76FF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37F8B6-CDC4-44BB-990F-1B336B1DA7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E8C9A6-4625-4D5E-817D-6399054C0C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7E1DE1-D3EB-4C63-8CA4-5A682CDF56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5433B6-342A-4192-AF21-C30796D5C1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1C6E9B-653B-4E67-907B-9895B2AF8A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243D56-F89B-4F78-99E2-2FD6B0693E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A954B5-D965-4862-8E3D-5D50D5201C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5f857ef6d8430c" /><Relationship Type="http://schemas.openxmlformats.org/officeDocument/2006/relationships/slideLayout" Target="/ppt/slideLayouts/slideLayout1.xml" Id="R7504d86498624634" /><Relationship Type="http://schemas.openxmlformats.org/officeDocument/2006/relationships/slideLayout" Target="/ppt/slideLayouts/slideLayout2.xml" Id="R8877890798e24309" /><Relationship Type="http://schemas.openxmlformats.org/officeDocument/2006/relationships/slideLayout" Target="/ppt/slideLayouts/slideLayout3.xml" Id="Rc0dc331da0f24360" /><Relationship Type="http://schemas.openxmlformats.org/officeDocument/2006/relationships/slideLayout" Target="/ppt/slideLayouts/slideLayout4.xml" Id="R8244a5cb8bed4ce8" /><Relationship Type="http://schemas.openxmlformats.org/officeDocument/2006/relationships/slideLayout" Target="/ppt/slideLayouts/slideLayout5.xml" Id="Ra75de0662d7f4ac6" /><Relationship Type="http://schemas.openxmlformats.org/officeDocument/2006/relationships/slideLayout" Target="/ppt/slideLayouts/slideLayout6.xml" Id="R9b683facfe0c47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04d86498624634"/>
    <p:sldLayoutId xmlns:r="http://schemas.openxmlformats.org/officeDocument/2006/relationships" id="2147483650" r:id="R8877890798e24309"/>
    <p:sldLayoutId xmlns:r="http://schemas.openxmlformats.org/officeDocument/2006/relationships" id="2147483651" r:id="Rc0dc331da0f24360"/>
    <p:sldLayoutId xmlns:r="http://schemas.openxmlformats.org/officeDocument/2006/relationships" id="2147483652" r:id="R8244a5cb8bed4ce8"/>
    <p:sldLayoutId xmlns:r="http://schemas.openxmlformats.org/officeDocument/2006/relationships" id="2147483653" r:id="Ra75de0662d7f4ac6"/>
    <p:sldLayoutId xmlns:r="http://schemas.openxmlformats.org/officeDocument/2006/relationships" id="2147483654" r:id="R9b683facfe0c47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1e356afc84b27" /><Relationship Type="http://schemas.openxmlformats.org/officeDocument/2006/relationships/notesSlide" Target="/ppt/notesSlides/notesSlide1.xml" Id="Rdb34fb3edeec42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1c32928a664735" /><Relationship Type="http://schemas.openxmlformats.org/officeDocument/2006/relationships/notesSlide" Target="/ppt/notesSlides/notesSlide2.xml" Id="R67d83cc98eb743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db418899c4690" /><Relationship Type="http://schemas.openxmlformats.org/officeDocument/2006/relationships/notesSlide" Target="/ppt/notesSlides/notesSlide3.xml" Id="Rdc9f4b37679a44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4894a5d6e403e" /><Relationship Type="http://schemas.openxmlformats.org/officeDocument/2006/relationships/notesSlide" Target="/ppt/notesSlides/notesSlide4.xml" Id="R7c973e19506c40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c7dbc37aa48ec" /><Relationship Type="http://schemas.openxmlformats.org/officeDocument/2006/relationships/notesSlide" Target="/ppt/notesSlides/notesSlide5.xml" Id="R5dcbbec9394243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40dd573d54b19" /><Relationship Type="http://schemas.openxmlformats.org/officeDocument/2006/relationships/notesSlide" Target="/ppt/notesSlides/notesSlide6.xml" Id="Rf41f9fad4ca843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35ce315b9140f6" /><Relationship Type="http://schemas.openxmlformats.org/officeDocument/2006/relationships/notesSlide" Target="/ppt/notesSlides/notesSlide7.xml" Id="R53794f3736064f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bd574bf080411d" /><Relationship Type="http://schemas.openxmlformats.org/officeDocument/2006/relationships/notesSlide" Target="/ppt/notesSlides/notesSlide8.xml" Id="Rf279c6b5095641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dabda9b613490b" /><Relationship Type="http://schemas.openxmlformats.org/officeDocument/2006/relationships/notesSlide" Target="/ppt/notesSlides/notesSlide9.xml" Id="Rfd98e2f67b1c402c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264B"/>
            </a:gs>
            <a:gs pos="100000">
              <a:srgbClr val="006FC6"/>
            </a:gs>
          </a:gsLst>
          <a:lin ang="1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9gdnd_Section">
            <a:extLst xmlns:a="http://schemas.openxmlformats.org/drawingml/2006/main">
              <a:ext uri="{FF2B5EF4-FFF2-40B4-BE49-F238E27FC236}">
                <a16:creationId xmlns:a16="http://schemas.microsoft.com/office/drawing/2014/main" id="{78AD0F09-E473-40FA-872B-2ADED7DB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3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DDFF"/>
                </a:solidFill>
                <a:latin typeface="Arial"/>
                <a:ea typeface="Arial"/>
                <a:cs typeface="Arial"/>
              </a:rPr>
              <a:t>PLANEJAMENTO DE ESTUDO</a:t>
            </a:r>
          </a:p>
        </p:txBody>
      </p:sp>
      <p:sp>
        <p:nvSpPr>
          <p:cNvPr id="2" name="o9gdnd_Title">
            <a:extLst xmlns:a="http://schemas.openxmlformats.org/drawingml/2006/main">
              <a:ext uri="{FF2B5EF4-FFF2-40B4-BE49-F238E27FC236}">
                <a16:creationId xmlns:a16="http://schemas.microsoft.com/office/drawing/2014/main" id="{4D698C58-AB64-4A8B-912E-D82E15F7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439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Preparação para o Written Exam</a:t>
            </a:r>
          </a:p>
        </p:txBody>
      </p:sp>
      <p:sp>
        <p:nvSpPr>
          <p:cNvPr id="3" name="o9gdnd_Subtitle">
            <a:extLst xmlns:a="http://schemas.openxmlformats.org/drawingml/2006/main">
              <a:ext uri="{FF2B5EF4-FFF2-40B4-BE49-F238E27FC236}">
                <a16:creationId xmlns:a16="http://schemas.microsoft.com/office/drawing/2014/main" id="{73127C9D-0DBC-4D51-BC9D-FF3A94B0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F6FF"/>
                </a:solidFill>
                <a:latin typeface="Arial"/>
                <a:ea typeface="Arial"/>
                <a:cs typeface="Arial"/>
              </a:rPr>
              <a:t>Tenable One Vulnerability Management Specialist</a:t>
            </a:r>
          </a:p>
        </p:txBody>
      </p:sp>
      <p:sp>
        <p:nvSpPr>
          <p:cNvPr id="4" name="o9gdnd_Schedule">
            <a:extLst xmlns:a="http://schemas.openxmlformats.org/drawingml/2006/main">
              <a:ext uri="{FF2B5EF4-FFF2-40B4-BE49-F238E27FC236}">
                <a16:creationId xmlns:a16="http://schemas.microsoft.com/office/drawing/2014/main" id="{F80B56DF-10E7-43D2-B3A1-1D5C74FF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439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13 semanas de estudo, 130 horas</a:t>
            </a:r>
          </a:p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12 de outubro de 2026 a 8 de janeiro de 2027</a:t>
            </a:r>
          </a:p>
        </p:txBody>
      </p:sp>
      <p:sp>
        <p:nvSpPr>
          <p:cNvPr id="5" name="o9gdnd_Footer">
            <a:extLst xmlns:a="http://schemas.openxmlformats.org/drawingml/2006/main">
              <a:ext uri="{FF2B5EF4-FFF2-40B4-BE49-F238E27FC236}">
                <a16:creationId xmlns:a16="http://schemas.microsoft.com/office/drawing/2014/main" id="{E43E2591-D98B-41A6-8ECA-5A75EEC6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7EE"/>
                </a:solidFill>
                <a:latin typeface="Arial"/>
                <a:ea typeface="Arial"/>
                <a:cs typeface="Arial"/>
              </a:rPr>
              <a:t>Tenable Vulnerability Management   /   Written Exam</a:t>
            </a:r>
          </a:p>
        </p:txBody>
      </p:sp>
    </p:spTree>
    <p:extLst>
      <p:ext uri="{BB962C8B-B14F-4D97-AF65-F5344CB8AC3E}">
        <p14:creationId xmlns:p14="http://schemas.microsoft.com/office/powerpoint/2010/main" val="16696963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nosl7d_Section">
            <a:extLst xmlns:a="http://schemas.openxmlformats.org/drawingml/2006/main">
              <a:ext uri="{FF2B5EF4-FFF2-40B4-BE49-F238E27FC236}">
                <a16:creationId xmlns:a16="http://schemas.microsoft.com/office/drawing/2014/main" id="{13DB355E-4AF3-4A3F-A8C2-4B89D522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PLANEJAMENTO</a:t>
            </a:r>
          </a:p>
        </p:txBody>
      </p:sp>
      <p:sp>
        <p:nvSpPr>
          <p:cNvPr id="2" name="nosl7d_Title">
            <a:extLst xmlns:a="http://schemas.openxmlformats.org/drawingml/2006/main">
              <a:ext uri="{FF2B5EF4-FFF2-40B4-BE49-F238E27FC236}">
                <a16:creationId xmlns:a16="http://schemas.microsoft.com/office/drawing/2014/main" id="{96581333-D3F0-4E39-A415-F4B5F527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Formato e objetivo</a:t>
            </a:r>
          </a:p>
        </p:txBody>
      </p:sp>
      <p:sp>
        <p:nvSpPr>
          <p:cNvPr id="3" name="nosl7d_Body_1">
            <a:extLst xmlns:a="http://schemas.openxmlformats.org/drawingml/2006/main">
              <a:ext uri="{FF2B5EF4-FFF2-40B4-BE49-F238E27FC236}">
                <a16:creationId xmlns:a16="http://schemas.microsoft.com/office/drawing/2014/main" id="{98FA9646-6C8F-43EF-93E3-EA00E370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60 questões em inglês, com múltipla escolha e verdadeiro/falso.</a:t>
            </a:r>
          </a:p>
        </p:txBody>
      </p:sp>
      <p:sp>
        <p:nvSpPr>
          <p:cNvPr id="4" name="nosl7d_Body_2">
            <a:extLst xmlns:a="http://schemas.openxmlformats.org/drawingml/2006/main">
              <a:ext uri="{FF2B5EF4-FFF2-40B4-BE49-F238E27FC236}">
                <a16:creationId xmlns:a16="http://schemas.microsoft.com/office/drawing/2014/main" id="{10F5AFED-1275-4CB2-AE49-DFA2C14E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120 minutos e mínimo oficial de 80%.</a:t>
            </a:r>
          </a:p>
        </p:txBody>
      </p:sp>
      <p:sp>
        <p:nvSpPr>
          <p:cNvPr id="5" name="nosl7d_Body_3">
            <a:extLst xmlns:a="http://schemas.openxmlformats.org/drawingml/2006/main">
              <a:ext uri="{FF2B5EF4-FFF2-40B4-BE49-F238E27FC236}">
                <a16:creationId xmlns:a16="http://schemas.microsoft.com/office/drawing/2014/main" id="{184F4F46-831E-4E73-9DA5-7D637BD8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escrita precede a etapa prática.</a:t>
            </a:r>
          </a:p>
        </p:txBody>
      </p:sp>
      <p:sp>
        <p:nvSpPr>
          <p:cNvPr id="6" name="nosl7d_Body_4">
            <a:extLst xmlns:a="http://schemas.openxmlformats.org/drawingml/2006/main">
              <a:ext uri="{FF2B5EF4-FFF2-40B4-BE49-F238E27FC236}">
                <a16:creationId xmlns:a16="http://schemas.microsoft.com/office/drawing/2014/main" id="{81C052CC-1828-4503-B261-8D1990C0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Meta de estudo:</a:t>
            </a:r>
            <a:r>
              <a:t> 90% geral e 85% em cada tema.</a:t>
            </a:r>
          </a:p>
        </p:txBody>
      </p:sp>
      <p:sp>
        <p:nvSpPr>
          <p:cNvPr id="7" name="nosl7d_Footer">
            <a:extLst xmlns:a="http://schemas.openxmlformats.org/drawingml/2006/main">
              <a:ext uri="{FF2B5EF4-FFF2-40B4-BE49-F238E27FC236}">
                <a16:creationId xmlns:a16="http://schemas.microsoft.com/office/drawing/2014/main" id="{043FEEE1-3830-4025-ADAD-A980DC22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nosl7d_Folio">
            <a:extLst xmlns:a="http://schemas.openxmlformats.org/drawingml/2006/main">
              <a:ext uri="{FF2B5EF4-FFF2-40B4-BE49-F238E27FC236}">
                <a16:creationId xmlns:a16="http://schemas.microsoft.com/office/drawing/2014/main" id="{4C411E25-29E6-401E-B13B-865A184D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76150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y2y2qg_Section">
            <a:extLst xmlns:a="http://schemas.openxmlformats.org/drawingml/2006/main">
              <a:ext uri="{FF2B5EF4-FFF2-40B4-BE49-F238E27FC236}">
                <a16:creationId xmlns:a16="http://schemas.microsoft.com/office/drawing/2014/main" id="{C3B15680-CA3F-49D1-A149-03DA49B4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PLANEJAMENTO</a:t>
            </a:r>
          </a:p>
        </p:txBody>
      </p:sp>
      <p:sp>
        <p:nvSpPr>
          <p:cNvPr id="2" name="y2y2qg_Title">
            <a:extLst xmlns:a="http://schemas.openxmlformats.org/drawingml/2006/main">
              <a:ext uri="{FF2B5EF4-FFF2-40B4-BE49-F238E27FC236}">
                <a16:creationId xmlns:a16="http://schemas.microsoft.com/office/drawing/2014/main" id="{706F4C71-3612-4918-822C-3D14E245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Mapa dos temas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0A9B4-895D-4A8C-83F5-83313AC65C3F}"/>
              </a:ext>
            </a:extLst>
          </p:cNvPr>
          <p:cNvGraphicFramePr/>
          <p:nvPr/>
        </p:nvGraphicFramePr>
        <p:xfrm>
          <a:off xmlns:a="http://schemas.openxmlformats.org/drawingml/2006/main" x="685800" y="2219325"/>
          <a:ext xmlns:a="http://schemas.openxmlformats.org/drawingml/2006/main" cx="10820400" cy="3352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815340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Semanas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Conteúdo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1 e 2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Arquitetura e instalação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3 e 4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Configuração e Host Discovery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5 e 6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Scans de rede, credenciais e agents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7 e 8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Findings, risco, compliance e relatórios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9 a 13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Integração, revisão e simulados completos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y2y2qg_Footer">
            <a:extLst xmlns:a="http://schemas.openxmlformats.org/drawingml/2006/main">
              <a:ext uri="{FF2B5EF4-FFF2-40B4-BE49-F238E27FC236}">
                <a16:creationId xmlns:a16="http://schemas.microsoft.com/office/drawing/2014/main" id="{0ADCEEED-1B44-4A8C-A922-8D3993E0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5" name="y2y2qg_Folio">
            <a:extLst xmlns:a="http://schemas.openxmlformats.org/drawingml/2006/main">
              <a:ext uri="{FF2B5EF4-FFF2-40B4-BE49-F238E27FC236}">
                <a16:creationId xmlns:a16="http://schemas.microsoft.com/office/drawing/2014/main" id="{5AB3ED0B-A65D-4008-B7D3-F4D28A61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9857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58os5a_Section">
            <a:extLst xmlns:a="http://schemas.openxmlformats.org/drawingml/2006/main">
              <a:ext uri="{FF2B5EF4-FFF2-40B4-BE49-F238E27FC236}">
                <a16:creationId xmlns:a16="http://schemas.microsoft.com/office/drawing/2014/main" id="{6C9F6198-5B1B-4173-B355-9A1A0704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PLANEJAMENTO</a:t>
            </a:r>
          </a:p>
        </p:txBody>
      </p:sp>
      <p:sp>
        <p:nvSpPr>
          <p:cNvPr id="2" name="58os5a_Title">
            <a:extLst xmlns:a="http://schemas.openxmlformats.org/drawingml/2006/main">
              <a:ext uri="{FF2B5EF4-FFF2-40B4-BE49-F238E27FC236}">
                <a16:creationId xmlns:a16="http://schemas.microsoft.com/office/drawing/2014/main" id="{A3CA61ED-2EE4-4CDF-A592-954609DF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Rotina de duas horas</a:t>
            </a:r>
          </a:p>
        </p:txBody>
      </p:sp>
      <p:sp>
        <p:nvSpPr>
          <p:cNvPr id="3" name="58os5a_Body_1">
            <a:extLst xmlns:a="http://schemas.openxmlformats.org/drawingml/2006/main">
              <a:ext uri="{FF2B5EF4-FFF2-40B4-BE49-F238E27FC236}">
                <a16:creationId xmlns:a16="http://schemas.microsoft.com/office/drawing/2014/main" id="{E96A6C6B-A5FC-4DB0-A0C8-B3AFE9A2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20 minutos de revisão por recuperação ativa.</a:t>
            </a:r>
          </a:p>
        </p:txBody>
      </p:sp>
      <p:sp>
        <p:nvSpPr>
          <p:cNvPr id="4" name="58os5a_Body_2">
            <a:extLst xmlns:a="http://schemas.openxmlformats.org/drawingml/2006/main">
              <a:ext uri="{FF2B5EF4-FFF2-40B4-BE49-F238E27FC236}">
                <a16:creationId xmlns:a16="http://schemas.microsoft.com/office/drawing/2014/main" id="{DED67293-35CF-4AE1-8FC7-CEFA6D85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50 minutos de leitura oficial e slides.</a:t>
            </a:r>
          </a:p>
        </p:txBody>
      </p:sp>
      <p:sp>
        <p:nvSpPr>
          <p:cNvPr id="5" name="58os5a_Body_3">
            <a:extLst xmlns:a="http://schemas.openxmlformats.org/drawingml/2006/main">
              <a:ext uri="{FF2B5EF4-FFF2-40B4-BE49-F238E27FC236}">
                <a16:creationId xmlns:a16="http://schemas.microsoft.com/office/drawing/2014/main" id="{79844814-225D-4B98-AF36-F90533CC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35 minutos de exercício ou laboratório.</a:t>
            </a:r>
          </a:p>
        </p:txBody>
      </p:sp>
      <p:sp>
        <p:nvSpPr>
          <p:cNvPr id="6" name="58os5a_Body_4">
            <a:extLst xmlns:a="http://schemas.openxmlformats.org/drawingml/2006/main">
              <a:ext uri="{FF2B5EF4-FFF2-40B4-BE49-F238E27FC236}">
                <a16:creationId xmlns:a16="http://schemas.microsoft.com/office/drawing/2014/main" id="{86E68B8B-A088-464F-B331-1539E571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15 minutos de questões e registro de erros.</a:t>
            </a:r>
          </a:p>
        </p:txBody>
      </p:sp>
      <p:sp>
        <p:nvSpPr>
          <p:cNvPr id="7" name="58os5a_Footer">
            <a:extLst xmlns:a="http://schemas.openxmlformats.org/drawingml/2006/main">
              <a:ext uri="{FF2B5EF4-FFF2-40B4-BE49-F238E27FC236}">
                <a16:creationId xmlns:a16="http://schemas.microsoft.com/office/drawing/2014/main" id="{BBF2281D-F7A6-45F0-A2E7-FDE0ACB5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58os5a_Folio">
            <a:extLst xmlns:a="http://schemas.openxmlformats.org/drawingml/2006/main">
              <a:ext uri="{FF2B5EF4-FFF2-40B4-BE49-F238E27FC236}">
                <a16:creationId xmlns:a16="http://schemas.microsoft.com/office/drawing/2014/main" id="{83DEBEB2-1734-420D-BC30-E9C4C924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6871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7ksye1_Section">
            <a:extLst xmlns:a="http://schemas.openxmlformats.org/drawingml/2006/main">
              <a:ext uri="{FF2B5EF4-FFF2-40B4-BE49-F238E27FC236}">
                <a16:creationId xmlns:a16="http://schemas.microsoft.com/office/drawing/2014/main" id="{906D41AC-D28A-4300-B469-4CF56CFA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PLANEJAMENTO</a:t>
            </a:r>
          </a:p>
        </p:txBody>
      </p:sp>
      <p:sp>
        <p:nvSpPr>
          <p:cNvPr id="2" name="7ksye1_Title">
            <a:extLst xmlns:a="http://schemas.openxmlformats.org/drawingml/2006/main">
              <a:ext uri="{FF2B5EF4-FFF2-40B4-BE49-F238E27FC236}">
                <a16:creationId xmlns:a16="http://schemas.microsoft.com/office/drawing/2014/main" id="{B86AC2DB-E31F-4A18-B519-ED255D2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Etapas e entregas</a:t>
            </a:r>
          </a:p>
        </p:txBody>
      </p:sp>
      <p:sp>
        <p:nvSpPr>
          <p:cNvPr id="3" name="7ksye1_Body_1">
            <a:extLst xmlns:a="http://schemas.openxmlformats.org/drawingml/2006/main">
              <a:ext uri="{FF2B5EF4-FFF2-40B4-BE49-F238E27FC236}">
                <a16:creationId xmlns:a16="http://schemas.microsoft.com/office/drawing/2014/main" id="{62BA7C4C-8DE5-4EF1-9B33-EA5EDC78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Semanas 1 a 8:</a:t>
            </a:r>
            <a:r>
              <a:t> um módulo e seu simulado por semana.</a:t>
            </a:r>
          </a:p>
        </p:txBody>
      </p:sp>
      <p:sp>
        <p:nvSpPr>
          <p:cNvPr id="4" name="7ksye1_Body_2">
            <a:extLst xmlns:a="http://schemas.openxmlformats.org/drawingml/2006/main">
              <a:ext uri="{FF2B5EF4-FFF2-40B4-BE49-F238E27FC236}">
                <a16:creationId xmlns:a16="http://schemas.microsoft.com/office/drawing/2014/main" id="{09C926C6-9561-45C8-BB8A-E7CAD96D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Semana 9:</a:t>
            </a:r>
            <a:r>
              <a:t> cenário integrado e auditoria de cobertura.</a:t>
            </a:r>
          </a:p>
        </p:txBody>
      </p:sp>
      <p:sp>
        <p:nvSpPr>
          <p:cNvPr id="5" name="7ksye1_Body_3">
            <a:extLst xmlns:a="http://schemas.openxmlformats.org/drawingml/2006/main">
              <a:ext uri="{FF2B5EF4-FFF2-40B4-BE49-F238E27FC236}">
                <a16:creationId xmlns:a16="http://schemas.microsoft.com/office/drawing/2014/main" id="{1BDA1692-CA79-4836-87DE-8DD4EA53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Semanas 10 a 12:</a:t>
            </a:r>
            <a:r>
              <a:t> simulados A/B e correção de lacunas.</a:t>
            </a:r>
          </a:p>
        </p:txBody>
      </p:sp>
      <p:sp>
        <p:nvSpPr>
          <p:cNvPr id="6" name="7ksye1_Body_4">
            <a:extLst xmlns:a="http://schemas.openxmlformats.org/drawingml/2006/main">
              <a:ext uri="{FF2B5EF4-FFF2-40B4-BE49-F238E27FC236}">
                <a16:creationId xmlns:a16="http://schemas.microsoft.com/office/drawing/2014/main" id="{D59022E7-CD94-43B8-A6EF-395A7F43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Semana 13:</a:t>
            </a:r>
            <a:r>
              <a:t> revisão leve e preparação do ambiente da prova.</a:t>
            </a:r>
          </a:p>
        </p:txBody>
      </p:sp>
      <p:sp>
        <p:nvSpPr>
          <p:cNvPr id="7" name="7ksye1_Footer">
            <a:extLst xmlns:a="http://schemas.openxmlformats.org/drawingml/2006/main">
              <a:ext uri="{FF2B5EF4-FFF2-40B4-BE49-F238E27FC236}">
                <a16:creationId xmlns:a16="http://schemas.microsoft.com/office/drawing/2014/main" id="{B57EF536-2689-41FC-9E38-B095438C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7ksye1_Folio">
            <a:extLst xmlns:a="http://schemas.openxmlformats.org/drawingml/2006/main">
              <a:ext uri="{FF2B5EF4-FFF2-40B4-BE49-F238E27FC236}">
                <a16:creationId xmlns:a16="http://schemas.microsoft.com/office/drawing/2014/main" id="{7A33F23B-744A-4997-B870-930436AF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263377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3lr8l_Section">
            <a:extLst xmlns:a="http://schemas.openxmlformats.org/drawingml/2006/main">
              <a:ext uri="{FF2B5EF4-FFF2-40B4-BE49-F238E27FC236}">
                <a16:creationId xmlns:a16="http://schemas.microsoft.com/office/drawing/2014/main" id="{76E0A1BD-179E-48BF-99C7-4EDA12B7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PLANEJAMENTO</a:t>
            </a:r>
          </a:p>
        </p:txBody>
      </p:sp>
      <p:sp>
        <p:nvSpPr>
          <p:cNvPr id="2" name="p3lr8l_Title">
            <a:extLst xmlns:a="http://schemas.openxmlformats.org/drawingml/2006/main">
              <a:ext uri="{FF2B5EF4-FFF2-40B4-BE49-F238E27FC236}">
                <a16:creationId xmlns:a16="http://schemas.microsoft.com/office/drawing/2014/main" id="{711320CB-2902-4FC1-B9BF-E5FB31E7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Revisão e caderno de erros</a:t>
            </a:r>
          </a:p>
        </p:txBody>
      </p:sp>
      <p:sp>
        <p:nvSpPr>
          <p:cNvPr id="3" name="p3lr8l_Body_1">
            <a:extLst xmlns:a="http://schemas.openxmlformats.org/drawingml/2006/main">
              <a:ext uri="{FF2B5EF4-FFF2-40B4-BE49-F238E27FC236}">
                <a16:creationId xmlns:a16="http://schemas.microsoft.com/office/drawing/2014/main" id="{9A62B6A1-55D4-4306-ACC0-C93AD1CF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Revisar o erro após 1, 7 e 21 dias.</a:t>
            </a:r>
          </a:p>
        </p:txBody>
      </p:sp>
      <p:sp>
        <p:nvSpPr>
          <p:cNvPr id="4" name="p3lr8l_Body_2">
            <a:extLst xmlns:a="http://schemas.openxmlformats.org/drawingml/2006/main">
              <a:ext uri="{FF2B5EF4-FFF2-40B4-BE49-F238E27FC236}">
                <a16:creationId xmlns:a16="http://schemas.microsoft.com/office/drawing/2014/main" id="{787E0527-1071-4893-B36C-7F616474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Classificar causa:</a:t>
            </a:r>
            <a:r>
              <a:t> conceito, inglês, evidência ou leitura.</a:t>
            </a:r>
          </a:p>
        </p:txBody>
      </p:sp>
      <p:sp>
        <p:nvSpPr>
          <p:cNvPr id="5" name="p3lr8l_Body_3">
            <a:extLst xmlns:a="http://schemas.openxmlformats.org/drawingml/2006/main">
              <a:ext uri="{FF2B5EF4-FFF2-40B4-BE49-F238E27FC236}">
                <a16:creationId xmlns:a16="http://schemas.microsoft.com/office/drawing/2014/main" id="{283D52A0-2002-410E-B127-90D199F0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Registrar a fonte que sustenta a resposta.</a:t>
            </a:r>
          </a:p>
        </p:txBody>
      </p:sp>
      <p:sp>
        <p:nvSpPr>
          <p:cNvPr id="6" name="p3lr8l_Body_4">
            <a:extLst xmlns:a="http://schemas.openxmlformats.org/drawingml/2006/main">
              <a:ext uri="{FF2B5EF4-FFF2-40B4-BE49-F238E27FC236}">
                <a16:creationId xmlns:a16="http://schemas.microsoft.com/office/drawing/2014/main" id="{BEFA549E-2AA7-4E7B-83A2-092BB2B5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Retestar o tema com questões ainda não usadas.</a:t>
            </a:r>
          </a:p>
        </p:txBody>
      </p:sp>
      <p:sp>
        <p:nvSpPr>
          <p:cNvPr id="7" name="p3lr8l_Footer">
            <a:extLst xmlns:a="http://schemas.openxmlformats.org/drawingml/2006/main">
              <a:ext uri="{FF2B5EF4-FFF2-40B4-BE49-F238E27FC236}">
                <a16:creationId xmlns:a16="http://schemas.microsoft.com/office/drawing/2014/main" id="{0082A374-F72F-4B17-9D14-0D25BC37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p3lr8l_Folio">
            <a:extLst xmlns:a="http://schemas.openxmlformats.org/drawingml/2006/main">
              <a:ext uri="{FF2B5EF4-FFF2-40B4-BE49-F238E27FC236}">
                <a16:creationId xmlns:a16="http://schemas.microsoft.com/office/drawing/2014/main" id="{A10F0D76-6FFE-41E2-9843-24DA905B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4493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wzq5hi_Section">
            <a:extLst xmlns:a="http://schemas.openxmlformats.org/drawingml/2006/main">
              <a:ext uri="{FF2B5EF4-FFF2-40B4-BE49-F238E27FC236}">
                <a16:creationId xmlns:a16="http://schemas.microsoft.com/office/drawing/2014/main" id="{644CF84A-5FE7-4F37-925B-78A56533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PLANEJAMENTO</a:t>
            </a:r>
          </a:p>
        </p:txBody>
      </p:sp>
      <p:sp>
        <p:nvSpPr>
          <p:cNvPr id="2" name="wzq5hi_Title">
            <a:extLst xmlns:a="http://schemas.openxmlformats.org/drawingml/2006/main">
              <a:ext uri="{FF2B5EF4-FFF2-40B4-BE49-F238E27FC236}">
                <a16:creationId xmlns:a16="http://schemas.microsoft.com/office/drawing/2014/main" id="{BF63ED30-71B7-4B09-8588-1D8F9ABE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Pesquisa e atualização</a:t>
            </a:r>
          </a:p>
        </p:txBody>
      </p:sp>
      <p:sp>
        <p:nvSpPr>
          <p:cNvPr id="3" name="wzq5hi_Body_1">
            <a:extLst xmlns:a="http://schemas.openxmlformats.org/drawingml/2006/main">
              <a:ext uri="{FF2B5EF4-FFF2-40B4-BE49-F238E27FC236}">
                <a16:creationId xmlns:a16="http://schemas.microsoft.com/office/drawing/2014/main" id="{F7BE42B1-30F9-457B-9C47-B0993359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Corte de questões recentes:</a:t>
            </a:r>
            <a:r>
              <a:t> 09/10/2025 a 09/10/2026.</a:t>
            </a:r>
          </a:p>
        </p:txBody>
      </p:sp>
      <p:sp>
        <p:nvSpPr>
          <p:cNvPr id="4" name="wzq5hi_Body_2">
            <a:extLst xmlns:a="http://schemas.openxmlformats.org/drawingml/2006/main">
              <a:ext uri="{FF2B5EF4-FFF2-40B4-BE49-F238E27FC236}">
                <a16:creationId xmlns:a16="http://schemas.microsoft.com/office/drawing/2014/main" id="{5DA2E6EA-63FE-4BE5-953F-4BC5DB97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Fontes sem data explícita ficam marcadas como documentação viva.</a:t>
            </a:r>
          </a:p>
        </p:txBody>
      </p:sp>
      <p:sp>
        <p:nvSpPr>
          <p:cNvPr id="5" name="wzq5hi_Body_3">
            <a:extLst xmlns:a="http://schemas.openxmlformats.org/drawingml/2006/main">
              <a:ext uri="{FF2B5EF4-FFF2-40B4-BE49-F238E27FC236}">
                <a16:creationId xmlns:a16="http://schemas.microsoft.com/office/drawing/2014/main" id="{EF03519E-E926-4B24-81E5-34E4835B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Anúncios comerciais não comprovam questões oficiais.</a:t>
            </a:r>
          </a:p>
        </p:txBody>
      </p:sp>
      <p:sp>
        <p:nvSpPr>
          <p:cNvPr id="6" name="wzq5hi_Body_4">
            <a:extLst xmlns:a="http://schemas.openxmlformats.org/drawingml/2006/main">
              <a:ext uri="{FF2B5EF4-FFF2-40B4-BE49-F238E27FC236}">
                <a16:creationId xmlns:a16="http://schemas.microsoft.com/office/drawing/2014/main" id="{3DB12798-3D2C-4245-BBEA-5E05D48E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As 160 questões do pacote são autorais e datadas.</a:t>
            </a:r>
          </a:p>
        </p:txBody>
      </p:sp>
      <p:sp>
        <p:nvSpPr>
          <p:cNvPr id="7" name="wzq5hi_Footer">
            <a:extLst xmlns:a="http://schemas.openxmlformats.org/drawingml/2006/main">
              <a:ext uri="{FF2B5EF4-FFF2-40B4-BE49-F238E27FC236}">
                <a16:creationId xmlns:a16="http://schemas.microsoft.com/office/drawing/2014/main" id="{3FEDEF99-953B-4248-B881-4C0C85C0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wzq5hi_Folio">
            <a:extLst xmlns:a="http://schemas.openxmlformats.org/drawingml/2006/main">
              <a:ext uri="{FF2B5EF4-FFF2-40B4-BE49-F238E27FC236}">
                <a16:creationId xmlns:a16="http://schemas.microsoft.com/office/drawing/2014/main" id="{E8547CBF-9CDB-4110-8507-4252D589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575570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wsoni_Section">
            <a:extLst xmlns:a="http://schemas.openxmlformats.org/drawingml/2006/main">
              <a:ext uri="{FF2B5EF4-FFF2-40B4-BE49-F238E27FC236}">
                <a16:creationId xmlns:a16="http://schemas.microsoft.com/office/drawing/2014/main" id="{8E7CEF6E-FAF2-4C9B-944E-7907D74A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PLANEJAMENTO</a:t>
            </a:r>
          </a:p>
        </p:txBody>
      </p:sp>
      <p:sp>
        <p:nvSpPr>
          <p:cNvPr id="2" name="twsoni_Title">
            <a:extLst xmlns:a="http://schemas.openxmlformats.org/drawingml/2006/main">
              <a:ext uri="{FF2B5EF4-FFF2-40B4-BE49-F238E27FC236}">
                <a16:creationId xmlns:a16="http://schemas.microsoft.com/office/drawing/2014/main" id="{59B979A3-FF81-4E06-BA67-2670F242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Critérios de prontidão</a:t>
            </a:r>
          </a:p>
        </p:txBody>
      </p:sp>
      <p:sp>
        <p:nvSpPr>
          <p:cNvPr id="3" name="twsoni_Body_1">
            <a:extLst xmlns:a="http://schemas.openxmlformats.org/drawingml/2006/main">
              <a:ext uri="{FF2B5EF4-FFF2-40B4-BE49-F238E27FC236}">
                <a16:creationId xmlns:a16="http://schemas.microsoft.com/office/drawing/2014/main" id="{08C2CF29-2180-444D-99C9-B79C324A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Simulados completos com pelo menos 54 acertos em 60.</a:t>
            </a:r>
          </a:p>
        </p:txBody>
      </p:sp>
      <p:sp>
        <p:nvSpPr>
          <p:cNvPr id="4" name="twsoni_Body_2">
            <a:extLst xmlns:a="http://schemas.openxmlformats.org/drawingml/2006/main">
              <a:ext uri="{FF2B5EF4-FFF2-40B4-BE49-F238E27FC236}">
                <a16:creationId xmlns:a16="http://schemas.microsoft.com/office/drawing/2014/main" id="{DD2A1892-5CE1-4D97-A893-08B7478A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Cada tema com pelo menos 17 acertos em 20.</a:t>
            </a:r>
          </a:p>
        </p:txBody>
      </p:sp>
      <p:sp>
        <p:nvSpPr>
          <p:cNvPr id="5" name="twsoni_Body_3">
            <a:extLst xmlns:a="http://schemas.openxmlformats.org/drawingml/2006/main">
              <a:ext uri="{FF2B5EF4-FFF2-40B4-BE49-F238E27FC236}">
                <a16:creationId xmlns:a16="http://schemas.microsoft.com/office/drawing/2014/main" id="{EDF8DDAC-BE85-411E-AB3D-8FA43FA8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Justificativas e vocabulário compreendidos em inglês.</a:t>
            </a:r>
          </a:p>
        </p:txBody>
      </p:sp>
      <p:sp>
        <p:nvSpPr>
          <p:cNvPr id="6" name="twsoni_Body_4">
            <a:extLst xmlns:a="http://schemas.openxmlformats.org/drawingml/2006/main">
              <a:ext uri="{FF2B5EF4-FFF2-40B4-BE49-F238E27FC236}">
                <a16:creationId xmlns:a16="http://schemas.microsoft.com/office/drawing/2014/main" id="{D0BBBC80-3896-47F0-8CA1-EC5F9912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Equipamento e instruções de agendamento conferidos.</a:t>
            </a:r>
          </a:p>
        </p:txBody>
      </p:sp>
      <p:sp>
        <p:nvSpPr>
          <p:cNvPr id="7" name="twsoni_Footer">
            <a:extLst xmlns:a="http://schemas.openxmlformats.org/drawingml/2006/main">
              <a:ext uri="{FF2B5EF4-FFF2-40B4-BE49-F238E27FC236}">
                <a16:creationId xmlns:a16="http://schemas.microsoft.com/office/drawing/2014/main" id="{DEB898E8-7A18-4C7A-B166-D145E04A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twsoni_Folio">
            <a:extLst xmlns:a="http://schemas.openxmlformats.org/drawingml/2006/main">
              <a:ext uri="{FF2B5EF4-FFF2-40B4-BE49-F238E27FC236}">
                <a16:creationId xmlns:a16="http://schemas.microsoft.com/office/drawing/2014/main" id="{82BB2364-E18B-4ABC-8CDF-6D9A56E9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519504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o31r3_Section">
            <a:extLst xmlns:a="http://schemas.openxmlformats.org/drawingml/2006/main">
              <a:ext uri="{FF2B5EF4-FFF2-40B4-BE49-F238E27FC236}">
                <a16:creationId xmlns:a16="http://schemas.microsoft.com/office/drawing/2014/main" id="{A3F390A5-EF0F-4239-B4C2-24FAE9CE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PLANEJAMENTO</a:t>
            </a:r>
          </a:p>
        </p:txBody>
      </p:sp>
      <p:sp>
        <p:nvSpPr>
          <p:cNvPr id="2" name="so31r3_Title">
            <a:extLst xmlns:a="http://schemas.openxmlformats.org/drawingml/2006/main">
              <a:ext uri="{FF2B5EF4-FFF2-40B4-BE49-F238E27FC236}">
                <a16:creationId xmlns:a16="http://schemas.microsoft.com/office/drawing/2014/main" id="{DDA4B7E5-D974-456A-B397-B92781DA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Material local e confronto de versões</a:t>
            </a:r>
          </a:p>
        </p:txBody>
      </p:sp>
      <p:sp>
        <p:nvSpPr>
          <p:cNvPr id="3" name="so31r3_Body_1">
            <a:extLst xmlns:a="http://schemas.openxmlformats.org/drawingml/2006/main">
              <a:ext uri="{FF2B5EF4-FFF2-40B4-BE49-F238E27FC236}">
                <a16:creationId xmlns:a16="http://schemas.microsoft.com/office/drawing/2014/main" id="{B4C21DA7-8EB9-4D27-8D51-1044B9C6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Guia oficial local:</a:t>
            </a:r>
            <a:r>
              <a:t> revisão de 20/06/2024, 1.478 páginas.</a:t>
            </a:r>
          </a:p>
        </p:txBody>
      </p:sp>
      <p:sp>
        <p:nvSpPr>
          <p:cNvPr id="4" name="so31r3_Body_2">
            <a:extLst xmlns:a="http://schemas.openxmlformats.org/drawingml/2006/main">
              <a:ext uri="{FF2B5EF4-FFF2-40B4-BE49-F238E27FC236}">
                <a16:creationId xmlns:a16="http://schemas.microsoft.com/office/drawing/2014/main" id="{29187B39-D177-4621-A202-C604A099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Bancos locais:</a:t>
            </a:r>
            <a:r>
              <a:t> 41 questões em PDF e 33 em Word.</a:t>
            </a:r>
          </a:p>
        </p:txBody>
      </p:sp>
      <p:sp>
        <p:nvSpPr>
          <p:cNvPr id="5" name="so31r3_Body_3">
            <a:extLst xmlns:a="http://schemas.openxmlformats.org/drawingml/2006/main">
              <a:ext uri="{FF2B5EF4-FFF2-40B4-BE49-F238E27FC236}">
                <a16:creationId xmlns:a16="http://schemas.microsoft.com/office/drawing/2014/main" id="{2C1CB49F-F806-4086-B492-34E22AF7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Conceitos úteis entram na trilha com revisão de ambiguidades.</a:t>
            </a:r>
          </a:p>
        </p:txBody>
      </p:sp>
      <p:sp>
        <p:nvSpPr>
          <p:cNvPr id="6" name="so31r3_Body_4">
            <a:extLst xmlns:a="http://schemas.openxmlformats.org/drawingml/2006/main">
              <a:ext uri="{FF2B5EF4-FFF2-40B4-BE49-F238E27FC236}">
                <a16:creationId xmlns:a16="http://schemas.microsoft.com/office/drawing/2014/main" id="{96C119B7-A642-4A86-AB81-CB92F528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Vídeos de VM entram no calendário como material de apoio.</a:t>
            </a:r>
          </a:p>
        </p:txBody>
      </p:sp>
      <p:sp>
        <p:nvSpPr>
          <p:cNvPr id="7" name="so31r3_Footer">
            <a:extLst xmlns:a="http://schemas.openxmlformats.org/drawingml/2006/main">
              <a:ext uri="{FF2B5EF4-FFF2-40B4-BE49-F238E27FC236}">
                <a16:creationId xmlns:a16="http://schemas.microsoft.com/office/drawing/2014/main" id="{8C62FDF3-B960-46AB-9023-2F067A64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so31r3_Folio">
            <a:extLst xmlns:a="http://schemas.openxmlformats.org/drawingml/2006/main">
              <a:ext uri="{FF2B5EF4-FFF2-40B4-BE49-F238E27FC236}">
                <a16:creationId xmlns:a16="http://schemas.microsoft.com/office/drawing/2014/main" id="{3FA5B783-9F29-4620-83F2-9A9EA319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21482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2026-10-14T13:33:26.6240000Z</dcterms:created>
  <dcterms:modified xsi:type="dcterms:W3CDTF">2026-10-14T13:33:26.6240000Z</dcterms:modified>
</coreProperties>
</file>