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2cbf06f82c438c" /><Relationship Type="http://schemas.openxmlformats.org/officeDocument/2006/relationships/extended-properties" Target="/docProps/app.xml" Id="R3ed11695b4e443d8" /><Relationship Type="http://schemas.openxmlformats.org/officeDocument/2006/relationships/officeDocument" Target="/ppt/presentation.xml" Id="Rdbb81f5b1a564d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e16faa5d7d4295"/>
  </p:sldMasterIdLst>
  <p:notesMasterIdLst>
    <p:notesMasterId xmlns:r="http://schemas.openxmlformats.org/officeDocument/2006/relationships" r:id="R93be5be7b13b40b8"/>
  </p:notesMasterIdLst>
  <p:sldIdLst>
    <p:sldId xmlns:r="http://schemas.openxmlformats.org/officeDocument/2006/relationships" id="256" r:id="R523cb2cd15db4435"/>
    <p:sldId xmlns:r="http://schemas.openxmlformats.org/officeDocument/2006/relationships" id="257" r:id="R763b5ac2945044be"/>
    <p:sldId xmlns:r="http://schemas.openxmlformats.org/officeDocument/2006/relationships" id="258" r:id="R35a63380f5314acc"/>
    <p:sldId xmlns:r="http://schemas.openxmlformats.org/officeDocument/2006/relationships" id="259" r:id="Rf719319a9e5d4989"/>
    <p:sldId xmlns:r="http://schemas.openxmlformats.org/officeDocument/2006/relationships" id="260" r:id="R128a2b484a5f49e5"/>
    <p:sldId xmlns:r="http://schemas.openxmlformats.org/officeDocument/2006/relationships" id="261" r:id="R06ac2872f627448a"/>
    <p:sldId xmlns:r="http://schemas.openxmlformats.org/officeDocument/2006/relationships" id="262" r:id="Rb18d19f199ba40d5"/>
    <p:sldId xmlns:r="http://schemas.openxmlformats.org/officeDocument/2006/relationships" id="263" r:id="R9f190959483b4a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a63e28b23e41dd" /><Relationship Type="http://schemas.openxmlformats.org/officeDocument/2006/relationships/slideMaster" Target="/ppt/slideMasters/slideMaster1.xml" Id="Rcfe16faa5d7d4295" /><Relationship Type="http://schemas.openxmlformats.org/officeDocument/2006/relationships/notesMaster" Target="/ppt/notesMasters/notesMaster1.xml" Id="R93be5be7b13b40b8" /><Relationship Type="http://schemas.openxmlformats.org/officeDocument/2006/relationships/presProps" Target="/ppt/presProps.xml" Id="Rd365fb4a934b4a2a" /><Relationship Type="http://schemas.openxmlformats.org/officeDocument/2006/relationships/tableStyles" Target="/ppt/tableStyles.xml" Id="R94e991b2ccb34176" /><Relationship Type="http://schemas.openxmlformats.org/officeDocument/2006/relationships/slide" Target="/ppt/slides/slide1.xml" Id="R523cb2cd15db4435" /><Relationship Type="http://schemas.openxmlformats.org/officeDocument/2006/relationships/slide" Target="/ppt/slides/slide2.xml" Id="R763b5ac2945044be" /><Relationship Type="http://schemas.openxmlformats.org/officeDocument/2006/relationships/slide" Target="/ppt/slides/slide3.xml" Id="R35a63380f5314acc" /><Relationship Type="http://schemas.openxmlformats.org/officeDocument/2006/relationships/slide" Target="/ppt/slides/slide4.xml" Id="Rf719319a9e5d4989" /><Relationship Type="http://schemas.openxmlformats.org/officeDocument/2006/relationships/slide" Target="/ppt/slides/slide5.xml" Id="R128a2b484a5f49e5" /><Relationship Type="http://schemas.openxmlformats.org/officeDocument/2006/relationships/slide" Target="/ppt/slides/slide6.xml" Id="R06ac2872f627448a" /><Relationship Type="http://schemas.openxmlformats.org/officeDocument/2006/relationships/slide" Target="/ppt/slides/slide7.xml" Id="Rb18d19f199ba40d5" /><Relationship Type="http://schemas.openxmlformats.org/officeDocument/2006/relationships/slide" Target="/ppt/slides/slide8.xml" Id="R9f190959483b4a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c47618e9fa40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cefebca2584a3e" /><Relationship Type="http://schemas.openxmlformats.org/officeDocument/2006/relationships/notesMaster" Target="/ppt/notesMasters/notesMaster1.xml" Id="R7b6b460458764b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8d7a5a12e34cea" /><Relationship Type="http://schemas.openxmlformats.org/officeDocument/2006/relationships/notesMaster" Target="/ppt/notesMasters/notesMaster1.xml" Id="R5172959de05f44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c8e95719c14f54" /><Relationship Type="http://schemas.openxmlformats.org/officeDocument/2006/relationships/notesMaster" Target="/ppt/notesMasters/notesMaster1.xml" Id="Rac74c6f04edc40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1d2e687f274262" /><Relationship Type="http://schemas.openxmlformats.org/officeDocument/2006/relationships/notesMaster" Target="/ppt/notesMasters/notesMaster1.xml" Id="R9d457b2c9c4d40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72d7f8f81342cd" /><Relationship Type="http://schemas.openxmlformats.org/officeDocument/2006/relationships/notesMaster" Target="/ppt/notesMasters/notesMaster1.xml" Id="R8172581318dd41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1213d7a3fc411e" /><Relationship Type="http://schemas.openxmlformats.org/officeDocument/2006/relationships/notesMaster" Target="/ppt/notesMasters/notesMaster1.xml" Id="Re80dfb37db9c4d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f15546cb574be1" /><Relationship Type="http://schemas.openxmlformats.org/officeDocument/2006/relationships/notesMaster" Target="/ppt/notesMasters/notesMaster1.xml" Id="R9c8fac8efa9f4e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8c497171af4c15" /><Relationship Type="http://schemas.openxmlformats.org/officeDocument/2006/relationships/notesMaster" Target="/ppt/notesMasters/notesMaster1.xml" Id="R118209fbce1b4d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 do módulo: Interpretar audits e comunicar correção com dados rastreáveis. Ler as notas dos slides e as fontes oficiais. O roteiro local orienta as páginas do guia fornecido e aponta ambiguidades das questões antigas.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F01: Exame Specialist: datasheet oficial</a:t>
            </a:r>
          </a:p>
          <a:p xmlns:a="http://schemas.openxmlformats.org/drawingml/2006/main">
            <a:r>
              <a:t>https://static.tenable.com/ps/DS_VM_Specialist_Cert.pdf</a:t>
            </a:r>
          </a:p>
          <a:p xmlns:a="http://schemas.openxmlformats.org/drawingml/2006/main">
            <a:r>
              <a:t>Data: 2026-09-09. revisão 090926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F02: Curso Specialist: datasheet oficial</a:t>
            </a:r>
          </a:p>
          <a:p xmlns:a="http://schemas.openxmlformats.org/drawingml/2006/main">
            <a:r>
              <a:t>https://static.tenable.com/ps/DS_VM_Specialist_Course.pdf</a:t>
            </a:r>
          </a:p>
          <a:p xmlns:a="http://schemas.openxmlformats.org/drawingml/2006/main">
            <a:r>
              <a:t>Data: 2026-09-09. revisão 090926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Escolher benchmark compatível com sistema, versão e perfil. Revisar controles não aplicáveis antes de interpretar percentuais.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F38: Compliance in Scans</a:t>
            </a:r>
          </a:p>
          <a:p xmlns:a="http://schemas.openxmlformats.org/drawingml/2006/main">
            <a:r>
              <a:t>https://docs.tenable.com/vulnerability-management/Content/Scans/Compliance.htm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F39: System Hardening</a:t>
            </a:r>
          </a:p>
          <a:p xmlns:a="http://schemas.openxmlformats.org/drawingml/2006/main">
            <a:r>
              <a:t>https://docs.tenable.com/cyber-exposure-studies/system-hardening/Content/system-hardening.htm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Exercício autoral: comparar um requisito de serviço com a evidência retornada. Testar caminhos then e else em um exemplo textual. Não fornecer um audit de produção não validado.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F38: Compliance in Scans</a:t>
            </a:r>
          </a:p>
          <a:p xmlns:a="http://schemas.openxmlformats.org/drawingml/2006/main">
            <a:r>
              <a:t>https://docs.tenable.com/vulnerability-management/Content/Scans/Compliance.htm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F48: Compliance Checks Reference: Conditions</a:t>
            </a:r>
          </a:p>
          <a:p xmlns:a="http://schemas.openxmlformats.org/drawingml/2006/main">
            <a:r>
              <a:t>https://docs.tenable.com/nessus/compliance-checks-reference/Content/Conditions.htm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Distinguir falha comprovada de resultado inconclusivo. Falta de privilégio ou coleta insuficiente requer investigação antes de classificar conformidade.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F39: System Hardening</a:t>
            </a:r>
          </a:p>
          <a:p xmlns:a="http://schemas.openxmlformats.org/drawingml/2006/main">
            <a:r>
              <a:t>https://docs.tenable.com/cyber-exposure-studies/system-hardening/Content/system-hardening.htm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a gestão, apresentar tendência, ativos afetados e responsáveis. Para operação, apresentar ativo, plugin, evidência e solução. Manter a mesma definição ao comparar períodos.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F40: Create a Dashboard</a:t>
            </a:r>
          </a:p>
          <a:p xmlns:a="http://schemas.openxmlformats.org/drawingml/2006/main">
            <a:r>
              <a:t>https://docs.tenable.com/vulnerability-management/Content/Dashboards/CreateADashboard.htm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F42: Create Report API</a:t>
            </a:r>
          </a:p>
          <a:p xmlns:a="http://schemas.openxmlformats.org/drawingml/2006/main">
            <a:r>
              <a:t>https://developer.tenable.com/reference/vm-reports-create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 total de relatório só pode ser reconciliado com outra view usando unidade de contagem, filtros, datas e permissões comparáveis.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F41: Exports</a:t>
            </a:r>
          </a:p>
          <a:p xmlns:a="http://schemas.openxmlformats.org/drawingml/2006/main">
            <a:r>
              <a:t>https://docs.tenable.com/vulnerability-management/Content/Settings/Exports/Exports.htm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F42: Create Report API</a:t>
            </a:r>
          </a:p>
          <a:p xmlns:a="http://schemas.openxmlformats.org/drawingml/2006/main">
            <a:r>
              <a:t>https://developer.tenable.com/reference/vm-reports-create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curso oficial inclui Exposure Response. Estudar conceitos e fluxo do produto. Recursos e nomes podem mudar. Evitar ampliar a preparação para automação avançada fora do escopo Specialist.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F43: Use Report Cards</a:t>
            </a:r>
          </a:p>
          <a:p xmlns:a="http://schemas.openxmlformats.org/drawingml/2006/main">
            <a:r>
              <a:t>https://docs.tenable.com/vulnerability-management/Content/exposure-response/use-report-cards.htm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F34: Vulnerability States</a:t>
            </a:r>
          </a:p>
          <a:p xmlns:a="http://schemas.openxmlformats.org/drawingml/2006/main">
            <a:r>
              <a:t>https://docs.tenable.com/vulnerability-management/Content/Explore/Findings/VulnerabilityStates.htm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F37: Add Recast, Change Result and Accept Rules</a:t>
            </a:r>
          </a:p>
          <a:p xmlns:a="http://schemas.openxmlformats.org/drawingml/2006/main">
            <a:r>
              <a:t>https://docs.tenable.com/vulnerability-management/Content/recast/add-recast-rules.htm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Laboratório L08. Dados fictícios: 40 ativos esperados, 28 observados e 20 com coleta autenticada confirmada. O relatório deve separar os denominadores e explicar a lacuna.</a:t>
            </a:r>
          </a:p>
          <a:p xmlns:a="http://schemas.openxmlformats.org/drawingml/2006/main">
            <a:r>
              <a:t>Material local de apoio: L02 páginas PDF 98, 293, 294, 340. L03 itens 11, 17, 28, 33. L01 itens 13, 14, 22, 23, 26, 37. Audits e relatórios, com formatos e regras conferidos no produto VM. Consultar Fontes/revisao_material_local.md.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F38: Compliance in Scans</a:t>
            </a:r>
          </a:p>
          <a:p xmlns:a="http://schemas.openxmlformats.org/drawingml/2006/main">
            <a:r>
              <a:t>https://docs.tenable.com/vulnerability-management/Content/Scans/Compliance.htm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F41: Exports</a:t>
            </a:r>
          </a:p>
          <a:p xmlns:a="http://schemas.openxmlformats.org/drawingml/2006/main">
            <a:r>
              <a:t>https://docs.tenable.com/vulnerability-management/Content/Settings/Exports/Exports.htm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F43: Use Report Cards</a:t>
            </a:r>
          </a:p>
          <a:p xmlns:a="http://schemas.openxmlformats.org/drawingml/2006/main">
            <a:r>
              <a:t>https://docs.tenable.com/vulnerability-management/Content/exposure-response/use-report-cards.htm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L02: Guia oficial local de VM, 1.478 páginas</a:t>
            </a:r>
          </a:p>
          <a:p xmlns:a="http://schemas.openxmlformats.org/drawingml/2006/main">
            <a:r>
              <a:t>C:/Users/rafael.cordeiro/OneDrive - Subsecretaria de Tecnologia da Informação/SGG/Tenable/Doc/User Guide - Tenable Vulnerability Management.pdf</a:t>
            </a:r>
          </a:p>
          <a:p xmlns:a="http://schemas.openxmlformats.org/drawingml/2006/main">
            <a:r>
              <a:t>Data: 2024-06-20. Last Revised na capa e metadados 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L03: QUESTÕES: documento local com 33 itens</a:t>
            </a:r>
          </a:p>
          <a:p xmlns:a="http://schemas.openxmlformats.org/drawingml/2006/main">
            <a:r>
              <a:t>C:/Users/rafael.cordeiro/OneDrive - Subsecretaria de Tecnologia da Informação/SGG/Tenable/Doc/QUESTÕES.docx</a:t>
            </a:r>
          </a:p>
          <a:p xmlns:a="http://schemas.openxmlformats.org/drawingml/2006/main">
            <a:r>
              <a:t>Data: sem data comprovada. metadados de criação 04/08/2026 e modificação 05/08/2026, sem publicação comprovada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L01: Compilado local de questões, 13 páginas e 41 itens</a:t>
            </a:r>
          </a:p>
          <a:p xmlns:a="http://schemas.openxmlformats.org/drawingml/2006/main">
            <a:r>
              <a:t>C:/Users/rafael.cordeiro/OneDrive - Subsecretaria de Tecnologia da Informação/SGG/Tenable/Doc/tenable_vulnerability_management_specialist_v3.pdf</a:t>
            </a:r>
          </a:p>
          <a:p xmlns:a="http://schemas.openxmlformats.org/drawingml/2006/main">
            <a:r>
              <a:t>Data: sem data comprovada. título menciona 2026, sem data editorial comprovada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15e0af985449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8c8946326c452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6619c49ea74d5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c0a595d9274f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3847391d344df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ce9dc3e9fc40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764EEE-4618-4E27-BC11-B46B2692B7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BCAB82-95B1-4439-BA4B-1B34BDB2323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469BB16-C8D2-4D11-9570-5099975077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566A7C-571A-48D8-AF01-48B5EE5394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7A86104-7BEA-4982-90BE-ABCE5795B9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2CCED3A-18C2-4E20-A48C-3BF3202CD2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651FCB-1F18-4846-9103-312A9BD0A9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FCC8122-C9DE-4023-900C-B7ED3DA610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9D5274-71C0-42ED-BF1B-26D493280F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41AABE-64E2-4954-BB42-FDFEB4F2F3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8a11c540c1497e" /><Relationship Type="http://schemas.openxmlformats.org/officeDocument/2006/relationships/slideLayout" Target="/ppt/slideLayouts/slideLayout1.xml" Id="Re64c0c7be9104de6" /><Relationship Type="http://schemas.openxmlformats.org/officeDocument/2006/relationships/slideLayout" Target="/ppt/slideLayouts/slideLayout2.xml" Id="Rea7288c35b6a476d" /><Relationship Type="http://schemas.openxmlformats.org/officeDocument/2006/relationships/slideLayout" Target="/ppt/slideLayouts/slideLayout3.xml" Id="R0e04ff40339e4797" /><Relationship Type="http://schemas.openxmlformats.org/officeDocument/2006/relationships/slideLayout" Target="/ppt/slideLayouts/slideLayout4.xml" Id="R9d572d52c7a945c8" /><Relationship Type="http://schemas.openxmlformats.org/officeDocument/2006/relationships/slideLayout" Target="/ppt/slideLayouts/slideLayout5.xml" Id="Rb36b14fc477b44e3" /><Relationship Type="http://schemas.openxmlformats.org/officeDocument/2006/relationships/slideLayout" Target="/ppt/slideLayouts/slideLayout6.xml" Id="Rb4c33643bb7e45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4c0c7be9104de6"/>
    <p:sldLayoutId xmlns:r="http://schemas.openxmlformats.org/officeDocument/2006/relationships" id="2147483650" r:id="Rea7288c35b6a476d"/>
    <p:sldLayoutId xmlns:r="http://schemas.openxmlformats.org/officeDocument/2006/relationships" id="2147483651" r:id="R0e04ff40339e4797"/>
    <p:sldLayoutId xmlns:r="http://schemas.openxmlformats.org/officeDocument/2006/relationships" id="2147483652" r:id="R9d572d52c7a945c8"/>
    <p:sldLayoutId xmlns:r="http://schemas.openxmlformats.org/officeDocument/2006/relationships" id="2147483653" r:id="Rb36b14fc477b44e3"/>
    <p:sldLayoutId xmlns:r="http://schemas.openxmlformats.org/officeDocument/2006/relationships" id="2147483654" r:id="Rb4c33643bb7e45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c6d8c1fe214f4d" /><Relationship Type="http://schemas.openxmlformats.org/officeDocument/2006/relationships/notesSlide" Target="/ppt/notesSlides/notesSlide1.xml" Id="Rf8a127b621b64b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e572f75c4942c4" /><Relationship Type="http://schemas.openxmlformats.org/officeDocument/2006/relationships/notesSlide" Target="/ppt/notesSlides/notesSlide2.xml" Id="R88d19bc18cb845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bd1244fbfc408a" /><Relationship Type="http://schemas.openxmlformats.org/officeDocument/2006/relationships/notesSlide" Target="/ppt/notesSlides/notesSlide3.xml" Id="R14ed108b447445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e4cce9105b410a" /><Relationship Type="http://schemas.openxmlformats.org/officeDocument/2006/relationships/notesSlide" Target="/ppt/notesSlides/notesSlide4.xml" Id="R235655e8e4834d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5f884e13ec4582" /><Relationship Type="http://schemas.openxmlformats.org/officeDocument/2006/relationships/notesSlide" Target="/ppt/notesSlides/notesSlide5.xml" Id="R4195ef60e8284b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0591d92a104308" /><Relationship Type="http://schemas.openxmlformats.org/officeDocument/2006/relationships/notesSlide" Target="/ppt/notesSlides/notesSlide6.xml" Id="Rf175be96e0e548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9970c940a94a23" /><Relationship Type="http://schemas.openxmlformats.org/officeDocument/2006/relationships/notesSlide" Target="/ppt/notesSlides/notesSlide7.xml" Id="Rcbfa5c17d1f240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13d3ac12ad4190" /><Relationship Type="http://schemas.openxmlformats.org/officeDocument/2006/relationships/notesSlide" Target="/ppt/notesSlides/notesSlide8.xml" Id="R45ada8b8cd3948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">
            <a:extLst xmlns:a="http://schemas.openxmlformats.org/drawingml/2006/main">
              <a:ext uri="{FF2B5EF4-FFF2-40B4-BE49-F238E27FC236}">
                <a16:creationId xmlns:a16="http://schemas.microsoft.com/office/drawing/2014/main" id="{6825371B-4050-441C-BBD5-7D4CD51F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8FD6C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8FD6CC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8FD6CC"/>
                </a:solidFill>
                <a:latin typeface="Calibri"/>
                <a:ea typeface="Calibri"/>
                <a:cs typeface="Calibri"/>
              </a:rPr>
              <a:t>TEMA 08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3502B2A-1C9C-4E17-9FEB-EB86D3E8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8108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Compliance, relatórios e resposta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F2E1E3E-1F0B-46CC-98CA-7EF60D74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E4F1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E4F1F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E4F1F5"/>
                </a:solidFill>
                <a:latin typeface="Calibri"/>
                <a:ea typeface="Calibri"/>
                <a:cs typeface="Calibri"/>
              </a:rPr>
              <a:t>Interpretar audits e comunicar correção com dados rastreáveis.</a:t>
            </a:r>
          </a:p>
        </p:txBody>
      </p:sp>
      <p:sp>
        <p:nvSpPr>
          <p:cNvPr id="4" name="Schedule">
            <a:extLst xmlns:a="http://schemas.openxmlformats.org/drawingml/2006/main">
              <a:ext uri="{FF2B5EF4-FFF2-40B4-BE49-F238E27FC236}">
                <a16:creationId xmlns:a16="http://schemas.microsoft.com/office/drawing/2014/main" id="{37F07BD4-EE51-412A-94DA-E885B23B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1E3E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D1E3E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D1E3ED"/>
                </a:solidFill>
                <a:latin typeface="Calibri"/>
                <a:ea typeface="Calibri"/>
                <a:cs typeface="Calibri"/>
              </a:rPr>
              <a:t>Semana 8 de estudo</a:t>
            </a:r>
          </a:p>
          <a:p xmlns:a="http://schemas.openxmlformats.org/drawingml/2006/main">
            <a:pPr>
              <a:defRPr sz="2025" b="0">
                <a:solidFill>
                  <a:srgbClr val="D1E3E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D1E3ED"/>
                </a:solidFill>
                <a:latin typeface="Calibri"/>
                <a:ea typeface="Calibri"/>
                <a:cs typeface="Calibri"/>
              </a:rPr>
              <a:t>Vulnerability Assessment / Configuration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5954A28-722C-410F-841C-7F549C05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74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9EB9C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9EB9C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9EB9CA"/>
                </a:solidFill>
                <a:latin typeface="Calibri"/>
                <a:ea typeface="Calibri"/>
                <a:cs typeface="Calibri"/>
              </a:rPr>
              <a:t>Tenable VM Specialist Written Exam • 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6099567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2A7841B3-92BD-4B0D-92C6-C3DAD8E0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08  Compliance, relatórios e resposta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0FFB712-4F7C-443C-B3EB-7A4E622B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Vulnerabilidades e compliance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D3B93142-10EC-44B4-A5E3-93D8A1A2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Uma avaliação de patches mede uma parte da segurança.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22DF5E3C-B465-44E0-8716-08C37DF2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Compliance compara a configuração com requisitos de um benchmark.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FE9236F6-CC61-4BEF-A3BC-984A2A7F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Ausência de CVEs detectadas não comprova conformidade.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5A66EEBF-3277-470E-8196-7368D6D9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Credenciais e audit correto determinam o que pode ser verificado.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A4A41931-E3E7-45E4-82D3-1933FDE1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C2AAFA2B-7118-4D91-A917-9BF9AB52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5897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93B12281-4C46-47DC-BF29-2345C1BB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08  Compliance, relatórios e resposta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E9A7FAA-E122-4E93-9038-5372081F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Audit files e customização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07CDD860-9E99-4A9B-A452-56DD9CBF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O arquivo .audit define verificações de configuração.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85EE314A-AB00-4B99-90A5-3F0FA87A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O benchmark e sua versão precisam corresponder ao alvo.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7BD6C9CB-413C-4A75-85DC-97CAD5A7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Condições podem controlar a aplicação de uma verificação.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739B8E6A-0925-41EF-ADB7-6CBB6DB8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Uma customização exige validação de lógica e resultado.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C2EBE486-4531-4E49-9EBB-55C98909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95B9C75F-D93A-47C4-83B4-AF1843F9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09771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">
            <a:extLst xmlns:a="http://schemas.openxmlformats.org/drawingml/2006/main">
              <a:ext uri="{FF2B5EF4-FFF2-40B4-BE49-F238E27FC236}">
                <a16:creationId xmlns:a16="http://schemas.microsoft.com/office/drawing/2014/main" id="{FE620B12-3075-44DC-B1FA-18680E9A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08  Compliance, relatórios e resposta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B2C3E91-E8BE-4B05-B9AE-C403DCB8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Resultados de audits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2704E-DA67-4586-BB10-B7B1CF6CC5FD}"/>
              </a:ext>
            </a:extLst>
          </p:cNvPr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347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14625"/>
                <a:gridCol w="3905250"/>
                <a:gridCol w="4314825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Resultado</a:t>
                      </a:r>
                    </a:p>
                  </a:txBody>
                  <a:tcPr marL="133350" marR="114300" marT="95250" marB="76200" anchor="ctr">
                    <a:solidFill>
                      <a:srgbClr val="10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Leitura prática</a:t>
                      </a:r>
                    </a:p>
                  </a:txBody>
                  <a:tcPr marL="133350" marR="114300" marT="95250" marB="76200" anchor="ctr">
                    <a:solidFill>
                      <a:srgbClr val="10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Próximo passo</a:t>
                      </a:r>
                    </a:p>
                  </a:txBody>
                  <a:tcPr marL="133350" marR="114300" marT="95250" marB="76200" anchor="ctr">
                    <a:solidFill>
                      <a:srgbClr val="102B43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Passed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Atende ao parâmetro testado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Preservar evidência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Failed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Não atende ao parâmetro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Validar e corrigir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Warning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Revisão ou conclusão pendente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Investigar contexto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221FF66-AB86-490D-B014-56F69180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E91C021C-5C8F-436C-84A5-C023D043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557264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0F78F542-BEB2-459E-B5DB-BDC3A483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08  Compliance, relatórios e resposta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9BB2A39-7216-48B5-990E-D150F519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Dashboards e relatórios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28B44F7C-62BB-4D40-B2BE-09F6FA46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Dashboards permitem visão agregada e drill-down.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9B1A316E-1349-4948-B4C8-B30AE44C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Filtros e escopo precisam acompanhar cada indicador.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0456276B-BB79-4EA2-9554-07F6F73D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Relatórios PDF comunicam resultados definidos por template.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E85A5F78-D951-474F-ACC6-D41E3701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Cobertura e data da coleta dão contexto ao risco.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E9BA91E-8DB3-488A-8971-A0BF93B4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6A299591-5DDE-4DF3-B74D-593D4895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471122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7A2A431F-D5F7-4762-B288-DADA91C1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08  Compliance, relatórios e resposta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6486F48-AC1A-46EA-90FD-DCCD9FEA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Exports e evidência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E5EB84F6-B645-4076-B547-41E5B188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CSV e JSON favorecem análise estruturada.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9CACEFBC-EFB3-4183-8DD9-5255073C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Exportações podem ser imediatas ou agendadas.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A37B4EF5-BC03-4CFD-BFDE-E3A2FD24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O resultado reflete filtros e acesso do usuário.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71694EAC-7BB9-47BD-870B-DF51D44D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Dados exportados precisam de data e escopo registrados.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F409CD94-1D1B-4C21-8844-8329EF35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1CBFD917-3B57-40A5-AEA0-0ED079DB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765524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7286E108-BED5-4A4D-BF4B-8CA02CFF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08  Compliance, relatórios e resposta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BBB8430-A4D0-4339-BA67-C514D6A3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Exposure Response e acompanhamento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410E1DF8-A5A9-465A-8DEE-6519A717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Initiatives organizam ações de correção.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B8705C78-2A31-4858-AD50-A6366353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Report Cards apresentam andamento por responsável ou iniciativa.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C3DE4008-397A-4B4A-95E7-1B865331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 visão de progresso precisa se apoiar em novos resultados.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70EBFB79-4435-4FB1-9D23-175D8677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Aceitar risco e corrigir vulnerabilidade produzem efeitos diferentes.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7CE385A3-FFBC-4A3C-BA20-1745153E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B866E64B-FA9B-4A61-AB69-FD205A3E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732310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CA8565AC-9B7E-4AF3-B050-C83A3F98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08  Compliance, relatórios e resposta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65362F-CC3C-42E3-B4CC-2619D062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Laboratório de comunicação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332B960E-6CE6-4380-A56C-A4EBA2DD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Entrega: relatório de uma página e export de exemplo.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E1355A9B-8A2B-493E-B1EA-BAEA06F1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Conteúdo: escopo, coleta, evidência, responsável e prazo.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FFD85E75-875C-4CF3-967C-47330DB1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Caso: queda de findings causada por perda de autenticação.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74853FEA-D046-446B-91D2-0937ADA0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Simulado 08: 20 questões, 40 minutos.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BEAE953B-2D60-45B3-93EF-9D19D638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69A2C8C4-F495-4A7B-8035-52DCAB04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366925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2026-10-09T20:14:43.4690000Z</dcterms:created>
  <dcterms:modified xsi:type="dcterms:W3CDTF">2026-10-09T20:14:43.4690000Z</dcterms:modified>
</coreProperties>
</file>