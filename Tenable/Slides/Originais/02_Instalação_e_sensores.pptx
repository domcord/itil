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7eac6dbed5414e" /><Relationship Type="http://schemas.openxmlformats.org/officeDocument/2006/relationships/extended-properties" Target="/docProps/app.xml" Id="R88a489ecb08b42de" /><Relationship Type="http://schemas.openxmlformats.org/officeDocument/2006/relationships/officeDocument" Target="/ppt/presentation.xml" Id="R27868aee41db47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aede4db25044e7"/>
  </p:sldMasterIdLst>
  <p:notesMasterIdLst>
    <p:notesMasterId xmlns:r="http://schemas.openxmlformats.org/officeDocument/2006/relationships" r:id="Rdc7fec303db34b5a"/>
  </p:notesMasterIdLst>
  <p:sldIdLst>
    <p:sldId xmlns:r="http://schemas.openxmlformats.org/officeDocument/2006/relationships" id="256" r:id="R0b3d0fbea06e405e"/>
    <p:sldId xmlns:r="http://schemas.openxmlformats.org/officeDocument/2006/relationships" id="257" r:id="R403571fa2a9f4f47"/>
    <p:sldId xmlns:r="http://schemas.openxmlformats.org/officeDocument/2006/relationships" id="258" r:id="R2e3f000cce6749d7"/>
    <p:sldId xmlns:r="http://schemas.openxmlformats.org/officeDocument/2006/relationships" id="259" r:id="R29e6c1cf15284b08"/>
    <p:sldId xmlns:r="http://schemas.openxmlformats.org/officeDocument/2006/relationships" id="260" r:id="Rad7cd538197a4225"/>
    <p:sldId xmlns:r="http://schemas.openxmlformats.org/officeDocument/2006/relationships" id="261" r:id="R17fed76b739346e0"/>
    <p:sldId xmlns:r="http://schemas.openxmlformats.org/officeDocument/2006/relationships" id="262" r:id="Re4c164f4dd98467d"/>
    <p:sldId xmlns:r="http://schemas.openxmlformats.org/officeDocument/2006/relationships" id="263" r:id="Rff27777470ff4d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dc753d5ec1427e" /><Relationship Type="http://schemas.openxmlformats.org/officeDocument/2006/relationships/slideMaster" Target="/ppt/slideMasters/slideMaster1.xml" Id="Rcdaede4db25044e7" /><Relationship Type="http://schemas.openxmlformats.org/officeDocument/2006/relationships/notesMaster" Target="/ppt/notesMasters/notesMaster1.xml" Id="Rdc7fec303db34b5a" /><Relationship Type="http://schemas.openxmlformats.org/officeDocument/2006/relationships/presProps" Target="/ppt/presProps.xml" Id="R0db51fb662ad4d19" /><Relationship Type="http://schemas.openxmlformats.org/officeDocument/2006/relationships/tableStyles" Target="/ppt/tableStyles.xml" Id="R4b288227b4f447f1" /><Relationship Type="http://schemas.openxmlformats.org/officeDocument/2006/relationships/slide" Target="/ppt/slides/slide1.xml" Id="R0b3d0fbea06e405e" /><Relationship Type="http://schemas.openxmlformats.org/officeDocument/2006/relationships/slide" Target="/ppt/slides/slide2.xml" Id="R403571fa2a9f4f47" /><Relationship Type="http://schemas.openxmlformats.org/officeDocument/2006/relationships/slide" Target="/ppt/slides/slide3.xml" Id="R2e3f000cce6749d7" /><Relationship Type="http://schemas.openxmlformats.org/officeDocument/2006/relationships/slide" Target="/ppt/slides/slide4.xml" Id="R29e6c1cf15284b08" /><Relationship Type="http://schemas.openxmlformats.org/officeDocument/2006/relationships/slide" Target="/ppt/slides/slide5.xml" Id="Rad7cd538197a4225" /><Relationship Type="http://schemas.openxmlformats.org/officeDocument/2006/relationships/slide" Target="/ppt/slides/slide6.xml" Id="R17fed76b739346e0" /><Relationship Type="http://schemas.openxmlformats.org/officeDocument/2006/relationships/slide" Target="/ppt/slides/slide7.xml" Id="Re4c164f4dd98467d" /><Relationship Type="http://schemas.openxmlformats.org/officeDocument/2006/relationships/slide" Target="/ppt/slides/slide8.xml" Id="Rff27777470ff4d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9541937aca4d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51c298af994305" /><Relationship Type="http://schemas.openxmlformats.org/officeDocument/2006/relationships/notesMaster" Target="/ppt/notesMasters/notesMaster1.xml" Id="Ra756f293378445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d3bec5376644d1" /><Relationship Type="http://schemas.openxmlformats.org/officeDocument/2006/relationships/notesMaster" Target="/ppt/notesMasters/notesMaster1.xml" Id="R666e1f6d475541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6a1529cb054975" /><Relationship Type="http://schemas.openxmlformats.org/officeDocument/2006/relationships/notesMaster" Target="/ppt/notesMasters/notesMaster1.xml" Id="Ra0f3342b1edd46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ac91f2d7ed4c17" /><Relationship Type="http://schemas.openxmlformats.org/officeDocument/2006/relationships/notesMaster" Target="/ppt/notesMasters/notesMaster1.xml" Id="R3a3028e0bfce46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bc60fcb23e4bb2" /><Relationship Type="http://schemas.openxmlformats.org/officeDocument/2006/relationships/notesMaster" Target="/ppt/notesMasters/notesMaster1.xml" Id="Rf9f975431f7040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6c6b20b1164c6d" /><Relationship Type="http://schemas.openxmlformats.org/officeDocument/2006/relationships/notesMaster" Target="/ppt/notesMasters/notesMaster1.xml" Id="R47f87322a1ef47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3df0b5a5484054" /><Relationship Type="http://schemas.openxmlformats.org/officeDocument/2006/relationships/notesMaster" Target="/ppt/notesMasters/notesMaster1.xml" Id="R9c0b0803df0b47d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b65e40367f4f1f" /><Relationship Type="http://schemas.openxmlformats.org/officeDocument/2006/relationships/notesMaster" Target="/ppt/notesMasters/notesMaster1.xml" Id="R95046382fa9846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 do módulo: Vincular sensores, distinguir interfaces e diagnosticar falhas de comunicação. Ler as notas dos slides e as fontes oficiais. O roteiro local orienta as páginas do guia fornecido e aponta ambiguidades das questões antigas.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F01: Exame Specialist: datasheet oficial</a:t>
            </a:r>
          </a:p>
          <a:p xmlns:a="http://schemas.openxmlformats.org/drawingml/2006/main">
            <a:r>
              <a:t>https://static.tenable.com/ps/DS_VM_Specialist_Cert.pdf</a:t>
            </a:r>
          </a:p>
          <a:p xmlns:a="http://schemas.openxmlformats.org/drawingml/2006/main">
            <a:r>
              <a:t>Data: 2026-09-09. revisão 090926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F02: Curso Specialist: datasheet oficial</a:t>
            </a:r>
          </a:p>
          <a:p xmlns:a="http://schemas.openxmlformats.org/drawingml/2006/main">
            <a:r>
              <a:t>https://static.tenable.com/ps/DS_VM_Specialist_Course.pdf</a:t>
            </a:r>
          </a:p>
          <a:p xmlns:a="http://schemas.openxmlformats.org/drawingml/2006/main">
            <a:r>
              <a:t>Data: 2026-09-09. revisão 090926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curso inclui Tenable Core. Revisar instalação e administração sem presumir que Core substitui o console SaaS.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F08: Tenable Core + Nessus</a:t>
            </a:r>
          </a:p>
          <a:p xmlns:a="http://schemas.openxmlformats.org/drawingml/2006/main">
            <a:r>
              <a:t>https://docs.tenable.com/tenable-core/Nessus/Content/Introduction_Nessus.htm</a:t>
            </a:r>
          </a:p>
          <a:p xmlns:a="http://schemas.openxmlformats.org/drawingml/2006/main">
            <a:r>
              <a:t>Data: 2026-08-24. Last updated explícito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F09: Sensor Security</a:t>
            </a:r>
          </a:p>
          <a:p xmlns:a="http://schemas.openxmlformats.org/drawingml/2006/main">
            <a:r>
              <a:t>https://docs.tenable.com/vulnerability-management/Content/Settings/Sensors/SensorSecurity.htm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Portas padrão no guia Sensor Security. Regras de acesso aos alvos variam conforme o serviço avaliado. Conferir exceções regionais e de ambiente.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F09: Sensor Security</a:t>
            </a:r>
          </a:p>
          <a:p xmlns:a="http://schemas.openxmlformats.org/drawingml/2006/main">
            <a:r>
              <a:t>https://docs.tenable.com/vulnerability-management/Content/Settings/Sensors/SensorSecurity.htm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Revisar a tabela atual de hardware, evitando memorizar um número universal. O guia alerta para efeitos de NAT em operações de rede de baixo nível.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F10: Hardware Requirements</a:t>
            </a:r>
          </a:p>
          <a:p xmlns:a="http://schemas.openxmlformats.org/drawingml/2006/main">
            <a:r>
              <a:t>https://docs.tenable.com/nessus/Content/HardwareRequirements.htm</a:t>
            </a:r>
          </a:p>
          <a:p xmlns:a="http://schemas.openxmlformats.org/drawingml/2006/main">
            <a:r>
              <a:t>Data: sem data comprovada. Nessus 10.12,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Uma linking key não equivale a access key e secret key de API. Manter segredos fora do caderno de estudo.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F09: Sensor Security</a:t>
            </a:r>
          </a:p>
          <a:p xmlns:a="http://schemas.openxmlformats.org/drawingml/2006/main">
            <a:r>
              <a:t>https://docs.tenable.com/vulnerability-management/Content/Settings/Sensors/SensorSecurity.htm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F11: Manage Sensors</a:t>
            </a:r>
          </a:p>
          <a:p xmlns:a="http://schemas.openxmlformats.org/drawingml/2006/main">
            <a:r>
              <a:t>https://docs.tenable.com/vulnerability-management/Content/Settings/Sensors/manage-sensors.htm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Exemplo didático: nessuscli agent link --key=&lt;LINKING_KEY&gt; --host=sensor.cloud.tenable.com --port=443 --groups="Lab". Não executar com dados fictícios em ambiente produtivo. No FedRAMP, usar o endpoint documentado.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F12: Agent CLI</a:t>
            </a:r>
          </a:p>
          <a:p xmlns:a="http://schemas.openxmlformats.org/drawingml/2006/main">
            <a:r>
              <a:t>https://docs.tenable.com/agent/10_8/Content/NessusCLIAgent.htm</a:t>
            </a:r>
          </a:p>
          <a:p xmlns:a="http://schemas.openxmlformats.org/drawingml/2006/main">
            <a:r>
              <a:t>Data: sem data comprovada. guia versionado 10.8,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guia atualizado em 27/08/2026 ressalta que atributos de identidade podem demorar ou não ser observáveis no tráfego.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F07: Tenable Network Monitor</a:t>
            </a:r>
          </a:p>
          <a:p xmlns:a="http://schemas.openxmlformats.org/drawingml/2006/main">
            <a:r>
              <a:t>https://docs.tenable.com/network-monitor/Content/Welcome.htm</a:t>
            </a:r>
          </a:p>
          <a:p xmlns:a="http://schemas.openxmlformats.org/drawingml/2006/main">
            <a:r>
              <a:t>Data: 2026-08-27. Last Updated explícito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Laboratório L02. No modo sem console, ordenar hipóteses e evidências. Com console, consultar status e logs sem expor tokens. Não executar comandos de reset para tentar corrigir uma falha não diagnosticada.</a:t>
            </a:r>
          </a:p>
          <a:p xmlns:a="http://schemas.openxmlformats.org/drawingml/2006/main">
            <a:r>
              <a:t>Material local de apoio: L02 páginas PDF 41, 42, 1354, 1355, 1357. L03 itens 6, 7, 14. L01 itens 5, 7, 33. Interfaces, linking keys e comunicação HTTPS. Corrigir a confusão entre protocolo de aplicação e transporte. Consultar Fontes/revisao_material_local.md.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F09: Sensor Security</a:t>
            </a:r>
          </a:p>
          <a:p xmlns:a="http://schemas.openxmlformats.org/drawingml/2006/main">
            <a:r>
              <a:t>https://docs.tenable.com/vulnerability-management/Content/Settings/Sensors/SensorSecurity.htm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F11: Manage Sensors</a:t>
            </a:r>
          </a:p>
          <a:p xmlns:a="http://schemas.openxmlformats.org/drawingml/2006/main">
            <a:r>
              <a:t>https://docs.tenable.com/vulnerability-management/Content/Settings/Sensors/manage-sensors.htm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F12: Agent CLI</a:t>
            </a:r>
          </a:p>
          <a:p xmlns:a="http://schemas.openxmlformats.org/drawingml/2006/main">
            <a:r>
              <a:t>https://docs.tenable.com/agent/10_8/Content/NessusCLIAgent.htm</a:t>
            </a:r>
          </a:p>
          <a:p xmlns:a="http://schemas.openxmlformats.org/drawingml/2006/main">
            <a:r>
              <a:t>Data: sem data comprovada. guia versionado 10.8,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L02: Guia oficial local de VM, 1.478 páginas</a:t>
            </a:r>
          </a:p>
          <a:p xmlns:a="http://schemas.openxmlformats.org/drawingml/2006/main">
            <a:r>
              <a:t>C:/Users/rafael.cordeiro/OneDrive - Subsecretaria de Tecnologia da Informação/SGG/Tenable/Doc/User Guide - Tenable Vulnerability Management.pdf</a:t>
            </a:r>
          </a:p>
          <a:p xmlns:a="http://schemas.openxmlformats.org/drawingml/2006/main">
            <a:r>
              <a:t>Data: 2024-06-20. Last Revised na capa e metadados 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L03: QUESTÕES: documento local com 33 itens</a:t>
            </a:r>
          </a:p>
          <a:p xmlns:a="http://schemas.openxmlformats.org/drawingml/2006/main">
            <a:r>
              <a:t>C:/Users/rafael.cordeiro/OneDrive - Subsecretaria de Tecnologia da Informação/SGG/Tenable/Doc/QUESTÕES.docx</a:t>
            </a:r>
          </a:p>
          <a:p xmlns:a="http://schemas.openxmlformats.org/drawingml/2006/main">
            <a:r>
              <a:t>Data: sem data comprovada. metadados de criação 04/08/2026 e modificação 05/08/2026, sem publicação comprovada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L01: Compilado local de questões, 13 páginas e 41 itens</a:t>
            </a:r>
          </a:p>
          <a:p xmlns:a="http://schemas.openxmlformats.org/drawingml/2006/main">
            <a:r>
              <a:t>C:/Users/rafael.cordeiro/OneDrive - Subsecretaria de Tecnologia da Informação/SGG/Tenable/Doc/tenable_vulnerability_management_specialist_v3.pdf</a:t>
            </a:r>
          </a:p>
          <a:p xmlns:a="http://schemas.openxmlformats.org/drawingml/2006/main">
            <a:r>
              <a:t>Data: sem data comprovada. título menciona 2026, sem data editorial comprovada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a7ea6bffce4f6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749394b6c943e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9ade866767402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cbced9df1e46f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c6df72e674468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ce4434edf243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3898F9-1D20-4EF2-B43A-71717AF46B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7A39EA4-2BB7-4EDE-A2A1-FD85FD79A6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A8FA5E5-E4B6-4B00-A777-3E6225ECBC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631F2D-6C05-49D0-AF92-5547E2E8C3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DBBEAB8-E95B-4A27-B34F-ED559B264D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CE2C4C2-6A70-493D-BFAD-CA10B64EF6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52427C9-667D-4A3E-B12E-34A4BDF1C8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03DCC40-FF94-4BF6-B40E-B17F846029B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D82576-69A2-4208-9FB1-A6EFC88A18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5ACEF24-F11D-4624-B839-97D84161C5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5e40008bc64bec" /><Relationship Type="http://schemas.openxmlformats.org/officeDocument/2006/relationships/slideLayout" Target="/ppt/slideLayouts/slideLayout1.xml" Id="R215215bc2fd249ec" /><Relationship Type="http://schemas.openxmlformats.org/officeDocument/2006/relationships/slideLayout" Target="/ppt/slideLayouts/slideLayout2.xml" Id="Re9360ab7d74742b8" /><Relationship Type="http://schemas.openxmlformats.org/officeDocument/2006/relationships/slideLayout" Target="/ppt/slideLayouts/slideLayout3.xml" Id="R0d3ab9e859614af7" /><Relationship Type="http://schemas.openxmlformats.org/officeDocument/2006/relationships/slideLayout" Target="/ppt/slideLayouts/slideLayout4.xml" Id="Re2eff20b0ee54815" /><Relationship Type="http://schemas.openxmlformats.org/officeDocument/2006/relationships/slideLayout" Target="/ppt/slideLayouts/slideLayout5.xml" Id="R3c46909013234e0a" /><Relationship Type="http://schemas.openxmlformats.org/officeDocument/2006/relationships/slideLayout" Target="/ppt/slideLayouts/slideLayout6.xml" Id="R66513abc31224f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5215bc2fd249ec"/>
    <p:sldLayoutId xmlns:r="http://schemas.openxmlformats.org/officeDocument/2006/relationships" id="2147483650" r:id="Re9360ab7d74742b8"/>
    <p:sldLayoutId xmlns:r="http://schemas.openxmlformats.org/officeDocument/2006/relationships" id="2147483651" r:id="R0d3ab9e859614af7"/>
    <p:sldLayoutId xmlns:r="http://schemas.openxmlformats.org/officeDocument/2006/relationships" id="2147483652" r:id="Re2eff20b0ee54815"/>
    <p:sldLayoutId xmlns:r="http://schemas.openxmlformats.org/officeDocument/2006/relationships" id="2147483653" r:id="R3c46909013234e0a"/>
    <p:sldLayoutId xmlns:r="http://schemas.openxmlformats.org/officeDocument/2006/relationships" id="2147483654" r:id="R66513abc31224f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bae5ecfe924723" /><Relationship Type="http://schemas.openxmlformats.org/officeDocument/2006/relationships/notesSlide" Target="/ppt/notesSlides/notesSlide1.xml" Id="R652719599ec64a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462c28dc45401d" /><Relationship Type="http://schemas.openxmlformats.org/officeDocument/2006/relationships/notesSlide" Target="/ppt/notesSlides/notesSlide2.xml" Id="Rb9138e7411554c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c5b0a3330b4d7e" /><Relationship Type="http://schemas.openxmlformats.org/officeDocument/2006/relationships/notesSlide" Target="/ppt/notesSlides/notesSlide3.xml" Id="R35cad8237b9a46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85da2c1a0145da" /><Relationship Type="http://schemas.openxmlformats.org/officeDocument/2006/relationships/notesSlide" Target="/ppt/notesSlides/notesSlide4.xml" Id="R6d812f9525584d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dbc6aec5544140" /><Relationship Type="http://schemas.openxmlformats.org/officeDocument/2006/relationships/notesSlide" Target="/ppt/notesSlides/notesSlide5.xml" Id="Rdc604c97c4244e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efbb65fddd40b2" /><Relationship Type="http://schemas.openxmlformats.org/officeDocument/2006/relationships/notesSlide" Target="/ppt/notesSlides/notesSlide6.xml" Id="Rb69ccbb213be4e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23c288662f4641" /><Relationship Type="http://schemas.openxmlformats.org/officeDocument/2006/relationships/notesSlide" Target="/ppt/notesSlides/notesSlide7.xml" Id="R93b1928384eb4b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3237d26b7549e5" /><Relationship Type="http://schemas.openxmlformats.org/officeDocument/2006/relationships/notesSlide" Target="/ppt/notesSlides/notesSlide8.xml" Id="R7ba9765c4ee048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">
            <a:extLst xmlns:a="http://schemas.openxmlformats.org/drawingml/2006/main">
              <a:ext uri="{FF2B5EF4-FFF2-40B4-BE49-F238E27FC236}">
                <a16:creationId xmlns:a16="http://schemas.microsoft.com/office/drawing/2014/main" id="{1AC10924-E4B4-4801-8435-A5ED018C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8FD6C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8FD6CC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8FD6CC"/>
                </a:solidFill>
                <a:latin typeface="Calibri"/>
                <a:ea typeface="Calibri"/>
                <a:cs typeface="Calibri"/>
              </a:rPr>
              <a:t>TEMA 02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07CF549-1B17-4725-9E42-E2F72A57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81087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Instalação e sensores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23AD4D4-97CF-43D0-A787-6BFB9F3F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E4F1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E4F1F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E4F1F5"/>
                </a:solidFill>
                <a:latin typeface="Calibri"/>
                <a:ea typeface="Calibri"/>
                <a:cs typeface="Calibri"/>
              </a:rPr>
              <a:t>Vincular sensores, distinguir interfaces e diagnosticar falhas de comunicação.</a:t>
            </a:r>
          </a:p>
        </p:txBody>
      </p:sp>
      <p:sp>
        <p:nvSpPr>
          <p:cNvPr id="4" name="Schedule">
            <a:extLst xmlns:a="http://schemas.openxmlformats.org/drawingml/2006/main">
              <a:ext uri="{FF2B5EF4-FFF2-40B4-BE49-F238E27FC236}">
                <a16:creationId xmlns:a16="http://schemas.microsoft.com/office/drawing/2014/main" id="{26F3EBC6-8550-4E33-B062-D1CFF9A8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D1E3E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D1E3E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D1E3ED"/>
                </a:solidFill>
                <a:latin typeface="Calibri"/>
                <a:ea typeface="Calibri"/>
                <a:cs typeface="Calibri"/>
              </a:rPr>
              <a:t>Semana 2 de estudo</a:t>
            </a:r>
          </a:p>
          <a:p xmlns:a="http://schemas.openxmlformats.org/drawingml/2006/main">
            <a:pPr>
              <a:defRPr sz="2025" b="0">
                <a:solidFill>
                  <a:srgbClr val="D1E3E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D1E3ED"/>
                </a:solidFill>
                <a:latin typeface="Calibri"/>
                <a:ea typeface="Calibri"/>
                <a:cs typeface="Calibri"/>
              </a:rPr>
              <a:t>Installation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134C2C2-22A2-45DF-BD6C-5DA09E62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74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9EB9C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9EB9C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9EB9CA"/>
                </a:solidFill>
                <a:latin typeface="Calibri"/>
                <a:ea typeface="Calibri"/>
                <a:cs typeface="Calibri"/>
              </a:rPr>
              <a:t>Tenable VM Specialist Written Exam • Outubro de 2026</a:t>
            </a:r>
          </a:p>
        </p:txBody>
      </p:sp>
    </p:spTree>
    <p:extLst>
      <p:ext uri="{BB962C8B-B14F-4D97-AF65-F5344CB8AC3E}">
        <p14:creationId xmlns:p14="http://schemas.microsoft.com/office/powerpoint/2010/main" val="14611514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0C9F31C0-1A25-4128-BF2E-2BD93FEF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02  Instalação e sensores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125E420-1FE6-40F8-A4F3-0EF4E295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Tenable Core e Nessus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102C348A-015A-4139-965F-ED76BE04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Tenable Core oferece o sistema e a administração da appliance.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43F0D896-0021-4011-B9AF-17318F0E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Nessus fornece o mecanismo de avaliação.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A049656B-BCEA-4A44-924C-33753595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A interface de Core é distinta da interface do scanner.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E574167D-9BCE-4AA6-A4F9-AA6E1DD9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7" name="Folio">
            <a:extLst xmlns:a="http://schemas.openxmlformats.org/drawingml/2006/main">
              <a:ext uri="{FF2B5EF4-FFF2-40B4-BE49-F238E27FC236}">
                <a16:creationId xmlns:a16="http://schemas.microsoft.com/office/drawing/2014/main" id="{AB460CAD-1D84-493A-B186-8D9EA425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36663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">
            <a:extLst xmlns:a="http://schemas.openxmlformats.org/drawingml/2006/main">
              <a:ext uri="{FF2B5EF4-FFF2-40B4-BE49-F238E27FC236}">
                <a16:creationId xmlns:a16="http://schemas.microsoft.com/office/drawing/2014/main" id="{BC32BAE2-225B-4509-9BB9-59BC7D84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02  Instalação e sensores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8028F49-D879-4993-B4E6-A8D8C0EB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Portas e interfaces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0A5ED7-EA85-4D82-A302-11937EF2CB51}"/>
              </a:ext>
            </a:extLst>
          </p:cNvPr>
          <p:cNvGraphicFramePr/>
          <p:nvPr/>
        </p:nvGraphicFramePr>
        <p:xfrm>
          <a:off xmlns:a="http://schemas.openxmlformats.org/drawingml/2006/main" x="609600" y="2057400"/>
          <a:ext xmlns:a="http://schemas.openxmlformats.org/drawingml/2006/main" cx="10934700" cy="3429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810000"/>
                <a:gridCol w="2095500"/>
                <a:gridCol w="5029200"/>
              </a:tblGrid>
              <a:tr h="571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Uso</a:t>
                      </a:r>
                    </a:p>
                  </a:txBody>
                  <a:tcPr marL="133350" marR="114300" marT="95250" marB="76200" anchor="ctr">
                    <a:solidFill>
                      <a:srgbClr val="10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Porta padrão</a:t>
                      </a:r>
                    </a:p>
                  </a:txBody>
                  <a:tcPr marL="133350" marR="114300" marT="95250" marB="76200" anchor="ctr">
                    <a:solidFill>
                      <a:srgbClr val="10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Destino</a:t>
                      </a:r>
                    </a:p>
                  </a:txBody>
                  <a:tcPr marL="133350" marR="114300" marT="95250" marB="76200" anchor="ctr">
                    <a:solidFill>
                      <a:srgbClr val="102B4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Comunicação do sensor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TCP 443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sensor.cloud.tenable.com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Interface Nessus</a:t>
                      </a:r>
                    </a:p>
                  </a:txBody>
                  <a:tcPr marL="133350" marR="114300" marT="9525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TCP 8834</a:t>
                      </a:r>
                    </a:p>
                  </a:txBody>
                  <a:tcPr marL="133350" marR="114300" marT="9525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IP do scanner</a:t>
                      </a:r>
                    </a:p>
                  </a:txBody>
                  <a:tcPr marL="133350" marR="114300" marT="95250" marB="76200" anchor="ctr">
                    <a:solidFill>
                      <a:srgbClr val="F1F5F7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Interface Network Monitor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TCP 8835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IP do monitor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Interface Tenable Core</a:t>
                      </a:r>
                    </a:p>
                  </a:txBody>
                  <a:tcPr marL="133350" marR="114300" marT="9525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TCP 8000</a:t>
                      </a:r>
                    </a:p>
                  </a:txBody>
                  <a:tcPr marL="133350" marR="114300" marT="9525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IP da appliance</a:t>
                      </a:r>
                    </a:p>
                  </a:txBody>
                  <a:tcPr marL="133350" marR="114300" marT="95250" marB="76200" anchor="ctr"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32B5AEC-81A8-4AB7-A635-957CAAF1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5" name="Folio">
            <a:extLst xmlns:a="http://schemas.openxmlformats.org/drawingml/2006/main">
              <a:ext uri="{FF2B5EF4-FFF2-40B4-BE49-F238E27FC236}">
                <a16:creationId xmlns:a16="http://schemas.microsoft.com/office/drawing/2014/main" id="{836313EB-2702-4493-8687-13B49CA0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353405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6AB4034D-4BE0-4805-AA21-76E5EACC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02  Instalação e sensores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ABCCD73-8FF3-4EAE-A40E-5C69E804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Dimensionamento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076FF856-F8A2-40A5-B5A3-462EE87F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CPU, memória e disco dependem do escopo e da política.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CA70A00C-779D-43BE-A7C1-90A33BEA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Scans autenticados e complexos podem exigir mais recursos.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E15A7B40-C18D-4F52-BC11-306D3291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Logs e plugins consomem espaço ao longo do tempo.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61DBC77F-D583-43E0-AE21-D0018B25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Recursos reservados da VM precisam suportar o piloto.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26F5C180-AD21-4805-8B06-A8A18048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13DDDC7A-5D04-4C37-A29E-C4CD0F00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155510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EEF84FBA-8637-45E9-B444-06D620EC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02  Instalação e sensores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22C6FDD-081C-4B37-B98A-CFA9C5E8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Vinculação do sensor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633ABB87-721E-4D3B-B3D2-6DBBFFDE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A linking key inicia a associação com a plataforma.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672F3AD7-9987-439A-B59E-20DC1C24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Após o vínculo, o sensor utiliza credenciais próprias.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49EF65B9-36DE-473F-9526-E4F3FE04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DNS, TLS, proxy e saída HTTPS precisam funcionar.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DF6CB58E-9C78-44AD-A374-B239DE13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O console deve mostrar o sensor esperado e sua comunicação.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5D982EF6-1A81-4CFF-8FBA-40B2C968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01CC714B-99CF-41BA-8AAF-AE48BB57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522241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308D0E85-0D99-4388-97F5-87F6B112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02  Instalação e sensores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0DDF899-62D1-4FE7-B1EF-7C9AAE8C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Instalação do Agent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D5F5AEA9-D860-4788-8A40-10CB9D5D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O endpoint e a porta precisam corresponder ao ambiente.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225EBD81-65E9-4F9A-8B19-6FE64BCC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agent link associa o host ao gerenciador.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FA74540D-626F-4E7F-805A-2B62456C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agent status mostra vínculo, comunicação e plugin set.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D844CFC1-F767-498F-87D8-69A61074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Nome de agent group diferencia maiúsculas e minúsculas.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A201CC5B-DE03-49E1-A97C-78944239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607C6B6D-A257-45A3-8832-64C7096F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828067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65A15527-0EFB-49DD-AEDC-74CA0D9D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02  Instalação e sensores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F179C71-5142-4DDE-92CB-6C3CF2AD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Instalação do monitor passivo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468C3568-7573-4299-9F1C-E2F56E78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SPAN ou TAP deve fornecer visão bidirecional do tráfego.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CA6F200C-17DB-41FB-A490-44145CAD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A posição do monitor determina o que ele observa.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3B1156AD-F805-4282-B0F3-2866894C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Hosts silenciosos podem não aparecer imediatamente.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DCAEF607-5849-43E5-9E85-F7C99E97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Resultados passivos complementam a avaliação ativa.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DF4459BB-08A7-462B-BCFD-B2FA80B9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47A885EE-0494-42A4-850B-18EA13EC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967959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E1154F4F-A440-4F70-A571-FFCD9867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02  Instalação e sensores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EBDFCFA-B8AE-444B-9A43-5812EE74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Laboratório de conectividade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38B09D7F-E90C-4575-8CB2-D1A211E6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Entrega: tabela de interfaces e evidências de comunicação.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6A343329-DF92-4F75-B6DD-FC688FB8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Falha simulada: DNS ou proxy impede o vínculo.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941840B6-E627-4A86-802E-19EE8593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Diagnóstico: serviço local, resolução, TLS, endpoint e vínculo.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0950ADD3-A490-473D-A924-E19B4B21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Simulado 02: 20 questões, 40 minutos.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5B596560-9FFD-48B2-8553-79A752B8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92F875F7-2C83-41E2-BC43-046E8558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413456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2026-10-09T20:14:14.6890000Z</dcterms:created>
  <dcterms:modified xsi:type="dcterms:W3CDTF">2026-10-09T20:14:14.6890000Z</dcterms:modified>
</coreProperties>
</file>