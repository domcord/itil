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fc2fcf47f1480a" /><Relationship Type="http://schemas.openxmlformats.org/officeDocument/2006/relationships/extended-properties" Target="/docProps/app.xml" Id="R9eed3a6b7ce245fd" /><Relationship Type="http://schemas.openxmlformats.org/officeDocument/2006/relationships/officeDocument" Target="/ppt/presentation.xml" Id="R3eb6a44cfc3f4e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e83d920ebc4a55"/>
  </p:sldMasterIdLst>
  <p:notesMasterIdLst>
    <p:notesMasterId xmlns:r="http://schemas.openxmlformats.org/officeDocument/2006/relationships" r:id="R2100bebb53e14539"/>
  </p:notesMasterIdLst>
  <p:sldIdLst>
    <p:sldId xmlns:r="http://schemas.openxmlformats.org/officeDocument/2006/relationships" id="256" r:id="R4a64fc6d987e4bec"/>
    <p:sldId xmlns:r="http://schemas.openxmlformats.org/officeDocument/2006/relationships" id="257" r:id="R4ab102b206f84db9"/>
    <p:sldId xmlns:r="http://schemas.openxmlformats.org/officeDocument/2006/relationships" id="258" r:id="R73b0144b6f5a46be"/>
    <p:sldId xmlns:r="http://schemas.openxmlformats.org/officeDocument/2006/relationships" id="259" r:id="R8ba594ba788d4b02"/>
    <p:sldId xmlns:r="http://schemas.openxmlformats.org/officeDocument/2006/relationships" id="260" r:id="R892cb5b9a42a4621"/>
    <p:sldId xmlns:r="http://schemas.openxmlformats.org/officeDocument/2006/relationships" id="261" r:id="Re10a5f9342014345"/>
    <p:sldId xmlns:r="http://schemas.openxmlformats.org/officeDocument/2006/relationships" id="262" r:id="Rf984da0e535940d2"/>
    <p:sldId xmlns:r="http://schemas.openxmlformats.org/officeDocument/2006/relationships" id="263" r:id="Refec7579f66f46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e3bd56cd124c80" /><Relationship Type="http://schemas.openxmlformats.org/officeDocument/2006/relationships/slideMaster" Target="/ppt/slideMasters/slideMaster1.xml" Id="R00e83d920ebc4a55" /><Relationship Type="http://schemas.openxmlformats.org/officeDocument/2006/relationships/notesMaster" Target="/ppt/notesMasters/notesMaster1.xml" Id="R2100bebb53e14539" /><Relationship Type="http://schemas.openxmlformats.org/officeDocument/2006/relationships/presProps" Target="/ppt/presProps.xml" Id="R3e26ea6dcef04650" /><Relationship Type="http://schemas.openxmlformats.org/officeDocument/2006/relationships/tableStyles" Target="/ppt/tableStyles.xml" Id="R597a98947b1647f2" /><Relationship Type="http://schemas.openxmlformats.org/officeDocument/2006/relationships/slide" Target="/ppt/slides/slide1.xml" Id="R4a64fc6d987e4bec" /><Relationship Type="http://schemas.openxmlformats.org/officeDocument/2006/relationships/slide" Target="/ppt/slides/slide2.xml" Id="R4ab102b206f84db9" /><Relationship Type="http://schemas.openxmlformats.org/officeDocument/2006/relationships/slide" Target="/ppt/slides/slide3.xml" Id="R73b0144b6f5a46be" /><Relationship Type="http://schemas.openxmlformats.org/officeDocument/2006/relationships/slide" Target="/ppt/slides/slide4.xml" Id="R8ba594ba788d4b02" /><Relationship Type="http://schemas.openxmlformats.org/officeDocument/2006/relationships/slide" Target="/ppt/slides/slide5.xml" Id="R892cb5b9a42a4621" /><Relationship Type="http://schemas.openxmlformats.org/officeDocument/2006/relationships/slide" Target="/ppt/slides/slide6.xml" Id="Re10a5f9342014345" /><Relationship Type="http://schemas.openxmlformats.org/officeDocument/2006/relationships/slide" Target="/ppt/slides/slide7.xml" Id="Rf984da0e535940d2" /><Relationship Type="http://schemas.openxmlformats.org/officeDocument/2006/relationships/slide" Target="/ppt/slides/slide8.xml" Id="Refec7579f66f46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a78f28abe646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4766e944434854" /><Relationship Type="http://schemas.openxmlformats.org/officeDocument/2006/relationships/notesMaster" Target="/ppt/notesMasters/notesMaster1.xml" Id="R52a92a53dd4e44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6311e6b60849a8" /><Relationship Type="http://schemas.openxmlformats.org/officeDocument/2006/relationships/notesMaster" Target="/ppt/notesMasters/notesMaster1.xml" Id="R59bb72663c7d49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28a2cbdfaa4c25" /><Relationship Type="http://schemas.openxmlformats.org/officeDocument/2006/relationships/notesMaster" Target="/ppt/notesMasters/notesMaster1.xml" Id="R6ea5734ff91244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92df67e857486a" /><Relationship Type="http://schemas.openxmlformats.org/officeDocument/2006/relationships/notesMaster" Target="/ppt/notesMasters/notesMaster1.xml" Id="R6497e7cb141b46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aff0eb068240dc" /><Relationship Type="http://schemas.openxmlformats.org/officeDocument/2006/relationships/notesMaster" Target="/ppt/notesMasters/notesMaster1.xml" Id="R5193005dcd714a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b50b4295714922" /><Relationship Type="http://schemas.openxmlformats.org/officeDocument/2006/relationships/notesMaster" Target="/ppt/notesMasters/notesMaster1.xml" Id="R79d1ffc52e164e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f19ebea80b44a8" /><Relationship Type="http://schemas.openxmlformats.org/officeDocument/2006/relationships/notesMaster" Target="/ppt/notesMasters/notesMaster1.xml" Id="Rc6ae5c5d50244d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716fe72e284994" /><Relationship Type="http://schemas.openxmlformats.org/officeDocument/2006/relationships/notesMaster" Target="/ppt/notesMasters/notesMaster1.xml" Id="R55ab4490245945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 do módulo: Interpretar achados e justificar prioridades e exceções com evidências. Ler as notas dos slides e as fontes oficiais. O roteiro local orienta as páginas do guia fornecido e aponta ambiguidades das questões antigas.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F01: Exame Specialist: datasheet oficial</a:t>
            </a:r>
          </a:p>
          <a:p xmlns:a="http://schemas.openxmlformats.org/drawingml/2006/main">
            <a:r>
              <a:t>https://static.tenable.com/ps/DS_VM_Specialist_Cert.pdf</a:t>
            </a:r>
          </a:p>
          <a:p xmlns:a="http://schemas.openxmlformats.org/drawingml/2006/main">
            <a:r>
              <a:t>Data: 2026-09-09. revisão 090926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F02: Curso Specialist: datasheet oficial</a:t>
            </a:r>
          </a:p>
          <a:p xmlns:a="http://schemas.openxmlformats.org/drawingml/2006/main">
            <a:r>
              <a:t>https://static.tenable.com/ps/DS_VM_Specialist_Course.pdf</a:t>
            </a:r>
          </a:p>
          <a:p xmlns:a="http://schemas.openxmlformats.org/drawingml/2006/main">
            <a:r>
              <a:t>Data: 2026-09-09. revisão 090926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Exemplo autoral: a mesma falha em dois hosts não equivale a um único host exposto. Diferenciar contagem de ativos, plugins e ocorrências.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F33: Findings</a:t>
            </a:r>
          </a:p>
          <a:p xmlns:a="http://schemas.openxmlformats.org/drawingml/2006/main">
            <a:r>
              <a:t>https://docs.tenable.com/vulnerability-management/Content/Explore/findings-intro.htm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F36: My Findings: Vulnerability Intelligence</a:t>
            </a:r>
          </a:p>
          <a:p xmlns:a="http://schemas.openxmlformats.org/drawingml/2006/main">
            <a:r>
              <a:t>https://docs.tenable.com/vulnerability-management/Content/vulnerability-intelligence/my-findings-tab.htm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UI filtra New junto com Active. Na API, new e active aparecem como open, e resurfaced aparece como reopened.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F34: Vulnerability States</a:t>
            </a:r>
          </a:p>
          <a:p xmlns:a="http://schemas.openxmlformats.org/drawingml/2006/main">
            <a:r>
              <a:t>https://docs.tenable.com/vulnerability-management/Content/Explore/Findings/VulnerabilityStates.htm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documentação de General Settings prevalece para configuração de severidade. Especificar a métrica adotada quando comparar severidades de findings.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F35: CVSS vs. VPR</a:t>
            </a:r>
          </a:p>
          <a:p xmlns:a="http://schemas.openxmlformats.org/drawingml/2006/main">
            <a:r>
              <a:t>https://docs.tenable.com/vulnerability-management/Content/Explore/Findings/RiskMetrics.htm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F45: Tenable Scoring Explained: VM</a:t>
            </a:r>
          </a:p>
          <a:p xmlns:a="http://schemas.openxmlformats.org/drawingml/2006/main">
            <a:r>
              <a:t>https://docs.tenable.com/quick-reference/scoring-explained/Content/VM.htm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Drivers refletem o panorama global da vulnerabilidade. A criticidade de um servidor específico precisa de contexto separado.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F35: CVSS vs. VPR</a:t>
            </a:r>
          </a:p>
          <a:p xmlns:a="http://schemas.openxmlformats.org/drawingml/2006/main">
            <a:r>
              <a:t>https://docs.tenable.com/vulnerability-management/Content/Explore/Findings/RiskMetrics.htm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Caso autoral: comparar falha com exploração ativa num servidor crítico e falha técnica grave num host de laboratório. Não criar uma fórmula universal sem política de risco.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F19: General Settings</a:t>
            </a:r>
          </a:p>
          <a:p xmlns:a="http://schemas.openxmlformats.org/drawingml/2006/main">
            <a:r>
              <a:t>https://docs.tenable.com/vulnerability-management/Content/Settings/General/General.htm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F45: Tenable Scoring Explained: VM</a:t>
            </a:r>
          </a:p>
          <a:p xmlns:a="http://schemas.openxmlformats.org/drawingml/2006/main">
            <a:r>
              <a:t>https://docs.tenable.com/quick-reference/scoring-explained/Content/VM.htm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F34: Vulnerability States</a:t>
            </a:r>
          </a:p>
          <a:p xmlns:a="http://schemas.openxmlformats.org/drawingml/2006/main">
            <a:r>
              <a:t>https://docs.tenable.com/vulnerability-management/Content/Explore/Findings/VulnerabilityStates.htm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Essas ações não aplicam patches. A regra pode levar tempo para refletir nas views. Usar evidências e escopo estreito em exercícios de governança.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F37: Add Recast, Change Result and Accept Rules</a:t>
            </a:r>
          </a:p>
          <a:p xmlns:a="http://schemas.openxmlformats.org/drawingml/2006/main">
            <a:r>
              <a:t>https://docs.tenable.com/vulnerability-management/Content/recast/add-recast-rules.htm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Laboratório L07. Sem console, criar uma decisão de risco para três achados fictícios. Com console, apenas visualizar regras reais ou criar uma regra em tenant de estudo autorizado.</a:t>
            </a:r>
          </a:p>
          <a:p xmlns:a="http://schemas.openxmlformats.org/drawingml/2006/main">
            <a:r>
              <a:t>Material local de apoio: L02 páginas PDF 43, 44, 45, 46, 49, 50, 1010. L03 itens 5, 8, 20, 21, 22, 28. L01 itens 16, 17, 18, 19, 20, 21, 28. CVSS, VPR, contexto e estados. Atualizar severidade com General Settings de 2026. Consultar Fontes/revisao_material_local.md.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F33: Findings</a:t>
            </a:r>
          </a:p>
          <a:p xmlns:a="http://schemas.openxmlformats.org/drawingml/2006/main">
            <a:r>
              <a:t>https://docs.tenable.com/vulnerability-management/Content/Explore/findings-intro.htm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F34: Vulnerability States</a:t>
            </a:r>
          </a:p>
          <a:p xmlns:a="http://schemas.openxmlformats.org/drawingml/2006/main">
            <a:r>
              <a:t>https://docs.tenable.com/vulnerability-management/Content/Explore/Findings/VulnerabilityStates.htm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F37: Add Recast, Change Result and Accept Rules</a:t>
            </a:r>
          </a:p>
          <a:p xmlns:a="http://schemas.openxmlformats.org/drawingml/2006/main">
            <a:r>
              <a:t>https://docs.tenable.com/vulnerability-management/Content/recast/add-recast-rules.htm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L02: Guia oficial local de VM, 1.478 páginas</a:t>
            </a:r>
          </a:p>
          <a:p xmlns:a="http://schemas.openxmlformats.org/drawingml/2006/main">
            <a:r>
              <a:t>C:/Users/rafael.cordeiro/OneDrive - Subsecretaria de Tecnologia da Informação/SGG/Tenable/Doc/User Guide - Tenable Vulnerability Management.pdf</a:t>
            </a:r>
          </a:p>
          <a:p xmlns:a="http://schemas.openxmlformats.org/drawingml/2006/main">
            <a:r>
              <a:t>Data: 2024-06-20. Last Revised na capa e metadados 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L03: QUESTÕES: documento local com 33 itens</a:t>
            </a:r>
          </a:p>
          <a:p xmlns:a="http://schemas.openxmlformats.org/drawingml/2006/main">
            <a:r>
              <a:t>C:/Users/rafael.cordeiro/OneDrive - Subsecretaria de Tecnologia da Informação/SGG/Tenable/Doc/QUESTÕES.docx</a:t>
            </a:r>
          </a:p>
          <a:p xmlns:a="http://schemas.openxmlformats.org/drawingml/2006/main">
            <a:r>
              <a:t>Data: sem data comprovada. metadados de criação 04/08/2026 e modificação 05/08/2026, sem publicação comprovada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L01: Compilado local de questões, 13 páginas e 41 itens</a:t>
            </a:r>
          </a:p>
          <a:p xmlns:a="http://schemas.openxmlformats.org/drawingml/2006/main">
            <a:r>
              <a:t>C:/Users/rafael.cordeiro/OneDrive - Subsecretaria de Tecnologia da Informação/SGG/Tenable/Doc/tenable_vulnerability_management_specialist_v3.pdf</a:t>
            </a:r>
          </a:p>
          <a:p xmlns:a="http://schemas.openxmlformats.org/drawingml/2006/main">
            <a:r>
              <a:t>Data: sem data comprovada. título menciona 2026, sem data editorial comprovada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f9f3ded1b9419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b1c75b2367420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250295e8f54d0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29aa909b71428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d965d52f71425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88d0f334544e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45FD18-1DBD-415C-9829-777225B467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95A511B-95C5-4316-8E1C-59459F4FFB0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D453012-A83F-47A1-85D0-5C736EC8B2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98CAC3-D68C-46F6-81E5-4936A0BA5F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C7E2835-13D8-424A-A545-2D370B5CCC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BA350B5-AFCE-4674-83D3-7AD141B9D5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946475A-05A7-4C23-AF55-0671AEB925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9F97759-B3D3-4B3D-BB64-7D70DC3F18E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8504346-3513-413A-AA97-A58AF9B215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6DEF172-2EDB-47CE-BF3E-903EB12C12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bbc0c3fc81406f" /><Relationship Type="http://schemas.openxmlformats.org/officeDocument/2006/relationships/slideLayout" Target="/ppt/slideLayouts/slideLayout1.xml" Id="Rb5d5294d3ddf49d9" /><Relationship Type="http://schemas.openxmlformats.org/officeDocument/2006/relationships/slideLayout" Target="/ppt/slideLayouts/slideLayout2.xml" Id="Rb28181d94ca74e81" /><Relationship Type="http://schemas.openxmlformats.org/officeDocument/2006/relationships/slideLayout" Target="/ppt/slideLayouts/slideLayout3.xml" Id="R66f3c533a6404cd1" /><Relationship Type="http://schemas.openxmlformats.org/officeDocument/2006/relationships/slideLayout" Target="/ppt/slideLayouts/slideLayout4.xml" Id="Rb8707ecc63e142c1" /><Relationship Type="http://schemas.openxmlformats.org/officeDocument/2006/relationships/slideLayout" Target="/ppt/slideLayouts/slideLayout5.xml" Id="R0cc032d0a1cb479f" /><Relationship Type="http://schemas.openxmlformats.org/officeDocument/2006/relationships/slideLayout" Target="/ppt/slideLayouts/slideLayout6.xml" Id="Rcad55289695648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d5294d3ddf49d9"/>
    <p:sldLayoutId xmlns:r="http://schemas.openxmlformats.org/officeDocument/2006/relationships" id="2147483650" r:id="Rb28181d94ca74e81"/>
    <p:sldLayoutId xmlns:r="http://schemas.openxmlformats.org/officeDocument/2006/relationships" id="2147483651" r:id="R66f3c533a6404cd1"/>
    <p:sldLayoutId xmlns:r="http://schemas.openxmlformats.org/officeDocument/2006/relationships" id="2147483652" r:id="Rb8707ecc63e142c1"/>
    <p:sldLayoutId xmlns:r="http://schemas.openxmlformats.org/officeDocument/2006/relationships" id="2147483653" r:id="R0cc032d0a1cb479f"/>
    <p:sldLayoutId xmlns:r="http://schemas.openxmlformats.org/officeDocument/2006/relationships" id="2147483654" r:id="Rcad55289695648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1930943c0b46a0" /><Relationship Type="http://schemas.openxmlformats.org/officeDocument/2006/relationships/notesSlide" Target="/ppt/notesSlides/notesSlide1.xml" Id="Rfe92e66da5784f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a1942f924b4400" /><Relationship Type="http://schemas.openxmlformats.org/officeDocument/2006/relationships/notesSlide" Target="/ppt/notesSlides/notesSlide2.xml" Id="R37150bd7be7d47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63933dc50440d3" /><Relationship Type="http://schemas.openxmlformats.org/officeDocument/2006/relationships/notesSlide" Target="/ppt/notesSlides/notesSlide3.xml" Id="R71d0f0bcc1004f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bc0f7b0ef44ff8" /><Relationship Type="http://schemas.openxmlformats.org/officeDocument/2006/relationships/notesSlide" Target="/ppt/notesSlides/notesSlide4.xml" Id="R0d0b5572505c4e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c8cbf746c04243" /><Relationship Type="http://schemas.openxmlformats.org/officeDocument/2006/relationships/notesSlide" Target="/ppt/notesSlides/notesSlide5.xml" Id="R7962d49621f14d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0de049774e40d0" /><Relationship Type="http://schemas.openxmlformats.org/officeDocument/2006/relationships/notesSlide" Target="/ppt/notesSlides/notesSlide6.xml" Id="R29dac619dcdc4e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6152061e064833" /><Relationship Type="http://schemas.openxmlformats.org/officeDocument/2006/relationships/notesSlide" Target="/ppt/notesSlides/notesSlide7.xml" Id="R055fcb121ab442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293b9ad6c74281" /><Relationship Type="http://schemas.openxmlformats.org/officeDocument/2006/relationships/notesSlide" Target="/ppt/notesSlides/notesSlide8.xml" Id="R1c954e78d3dc46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">
            <a:extLst xmlns:a="http://schemas.openxmlformats.org/drawingml/2006/main">
              <a:ext uri="{FF2B5EF4-FFF2-40B4-BE49-F238E27FC236}">
                <a16:creationId xmlns:a16="http://schemas.microsoft.com/office/drawing/2014/main" id="{2C5C8C65-BE11-4127-ADCC-13EF0709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8FD6C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8FD6CC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8FD6CC"/>
                </a:solidFill>
                <a:latin typeface="Calibri"/>
                <a:ea typeface="Calibri"/>
                <a:cs typeface="Calibri"/>
              </a:rPr>
              <a:t>TEMA 07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9608238-6BC2-4B15-A3B7-52320626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81087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Findings, risco e exceções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FDCEB10-6753-43BC-9DC5-49AA8259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E4F1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E4F1F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E4F1F5"/>
                </a:solidFill>
                <a:latin typeface="Calibri"/>
                <a:ea typeface="Calibri"/>
                <a:cs typeface="Calibri"/>
              </a:rPr>
              <a:t>Interpretar achados e justificar prioridades e exceções com evidências.</a:t>
            </a:r>
          </a:p>
        </p:txBody>
      </p:sp>
      <p:sp>
        <p:nvSpPr>
          <p:cNvPr id="4" name="Schedule">
            <a:extLst xmlns:a="http://schemas.openxmlformats.org/drawingml/2006/main">
              <a:ext uri="{FF2B5EF4-FFF2-40B4-BE49-F238E27FC236}">
                <a16:creationId xmlns:a16="http://schemas.microsoft.com/office/drawing/2014/main" id="{60CE96B0-9528-44AC-A881-61FC98A7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D1E3E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D1E3E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D1E3ED"/>
                </a:solidFill>
                <a:latin typeface="Calibri"/>
                <a:ea typeface="Calibri"/>
                <a:cs typeface="Calibri"/>
              </a:rPr>
              <a:t>Semana 7 de estudo</a:t>
            </a:r>
          </a:p>
          <a:p xmlns:a="http://schemas.openxmlformats.org/drawingml/2006/main">
            <a:pPr>
              <a:defRPr sz="2025" b="0">
                <a:solidFill>
                  <a:srgbClr val="D1E3E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D1E3ED"/>
                </a:solidFill>
                <a:latin typeface="Calibri"/>
                <a:ea typeface="Calibri"/>
                <a:cs typeface="Calibri"/>
              </a:rPr>
              <a:t>Vulnerability Assessment / Configuration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A4888DF-2368-4B7C-B23A-790E04EC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74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9EB9C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9EB9C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9EB9CA"/>
                </a:solidFill>
                <a:latin typeface="Calibri"/>
                <a:ea typeface="Calibri"/>
                <a:cs typeface="Calibri"/>
              </a:rPr>
              <a:t>Tenable VM Specialist Written Exam • Outubro de 2026</a:t>
            </a:r>
          </a:p>
        </p:txBody>
      </p:sp>
    </p:spTree>
    <p:extLst>
      <p:ext uri="{BB962C8B-B14F-4D97-AF65-F5344CB8AC3E}">
        <p14:creationId xmlns:p14="http://schemas.microsoft.com/office/powerpoint/2010/main" val="11554102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0846697F-3CA5-487C-BAB5-E7061E7B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07  Findings, risco e exceções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CF0F328-FA3E-4E30-B032-AC5026A8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Granularidade e filtros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B5CD112D-C52B-4C7C-8A60-0BD99F5E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Um finding corresponde a uma ocorrência em um ativo.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8C1A2013-095A-499F-970F-86390536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Plugin, porta e protocolo distinguem ocorrências.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6D208A94-29E5-436A-A2C9-F61B494E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Agrupar por plugin responde uma pergunta diferente de agrupar por ativo.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4C04F5A4-0327-46DD-91A8-1B4C1A57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Escopo, estado e datas alteram a lista analisada.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A917C377-3AF4-4CC4-A1E0-C8A2C7DD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0DA58994-8DCF-4434-B762-3BEC603C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176179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">
            <a:extLst xmlns:a="http://schemas.openxmlformats.org/drawingml/2006/main">
              <a:ext uri="{FF2B5EF4-FFF2-40B4-BE49-F238E27FC236}">
                <a16:creationId xmlns:a16="http://schemas.microsoft.com/office/drawing/2014/main" id="{6C6370C1-9081-4988-81AD-97FFB0AF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07  Findings, risco e exceções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35B272A-7227-4115-A0B1-5B8F8CA7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Estados das vulnerabilidades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36B963-1C39-4E16-B685-1A193CF172D6}"/>
              </a:ext>
            </a:extLst>
          </p:cNvPr>
          <p:cNvGraphicFramePr/>
          <p:nvPr/>
        </p:nvGraphicFramePr>
        <p:xfrm>
          <a:off xmlns:a="http://schemas.openxmlformats.org/drawingml/2006/main" x="609600" y="2057400"/>
          <a:ext xmlns:a="http://schemas.openxmlformats.org/drawingml/2006/main" cx="10934700" cy="3429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8172450"/>
              </a:tblGrid>
              <a:tr h="571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Estado</a:t>
                      </a:r>
                    </a:p>
                  </a:txBody>
                  <a:tcPr marL="133350" marR="114300" marT="95250" marB="76200" anchor="ctr">
                    <a:solidFill>
                      <a:srgbClr val="10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Interpretação</a:t>
                      </a:r>
                    </a:p>
                  </a:txBody>
                  <a:tcPr marL="133350" marR="114300" marT="95250" marB="76200" anchor="ctr">
                    <a:solidFill>
                      <a:srgbClr val="102B4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New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Detecção uma vez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Active</a:t>
                      </a:r>
                    </a:p>
                  </a:txBody>
                  <a:tcPr marL="133350" marR="114300" marT="9525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Detecção mais de uma vez</a:t>
                      </a:r>
                    </a:p>
                  </a:txBody>
                  <a:tcPr marL="133350" marR="114300" marT="95250" marB="76200" anchor="ctr">
                    <a:solidFill>
                      <a:srgbClr val="F1F5F7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Fixed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A avaliação já não detecta a falha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Resurfaced</a:t>
                      </a:r>
                    </a:p>
                  </a:txBody>
                  <a:tcPr marL="133350" marR="114300" marT="9525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Nova detecção após Fixed</a:t>
                      </a:r>
                    </a:p>
                  </a:txBody>
                  <a:tcPr marL="133350" marR="114300" marT="95250" marB="76200" anchor="ctr"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C0D90B1-A0DD-4EB4-9E91-7DB7D804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5" name="Folio">
            <a:extLst xmlns:a="http://schemas.openxmlformats.org/drawingml/2006/main">
              <a:ext uri="{FF2B5EF4-FFF2-40B4-BE49-F238E27FC236}">
                <a16:creationId xmlns:a16="http://schemas.microsoft.com/office/drawing/2014/main" id="{18AAB052-916C-48A4-B3DC-4317FC17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279374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F771C050-D002-4B90-A83C-B9D52634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07  Findings, risco e exceções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1453B01-2193-4AA9-B5EB-4FCC7772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CVSS, VPR e contexto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23416B84-AB3F-41E9-A187-FE19FC01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CVSS descreve características técnicas da vulnerabilidade.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8D67ED3C-CFC1-4800-B1D7-70653DD3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VPR utiliza informações dinâmicas de ameaça.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8613E7EC-5E1B-43AE-B5D8-0F2D42D4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ACR descreve criticidade de negócio do ativo, quando licenciado.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6CCAE91E-E746-445C-85FD-9E8EDE73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A prioridade combina a evidência com o contexto do ambiente.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3D6EECAF-DF25-4C6C-B408-A7EE1763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5185C543-2C79-4DEA-85C0-524EDA78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97896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881964F8-333A-43A1-A050-599F72DE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07  Findings, risco e exceções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11D765B-C91C-466E-BFF8-676D2307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Drivers de VPR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E86868DB-8C16-4207-9032-186D913D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Maturidade de exploit e probabilidade ajudam a explicar o score.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37ACC9DB-A349-4449-9C90-2E896392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Presença no CISA KEV indica contexto de exploração.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3576FA79-94ED-4D5E-AAEF-20F0703C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O score pode mudar quando muda a informação de ameaça.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511C6CD9-D284-40E8-AD95-C48AF8C3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O usuário não edita diretamente o valor calculado.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1D317E50-E453-476B-B427-042F232C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711BDFB0-81B4-44C3-8BDA-1DDEFD12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576682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E521BA12-0459-4800-B054-B16EDDD7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07  Findings, risco e exceções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E4E7807-FF8C-498A-8CE0-19BB7C33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Severidade e decisão de correção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20D63FE3-9B39-49E9-AFB6-7B18137A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Um score alto exige avaliação do alcance e da evidência.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490BD7A3-1FCF-4795-A3D0-AA18E0B2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Hosts de negócio crítico podem exigir prioridade adicional.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FA3963D1-E96A-48DC-B27B-744F2EAD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Uma mudança de métrica pode deixar severidades distintas temporariamente.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0CA2A414-2A8A-4822-B825-A7E19A55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Uma nova avaliação comprova o resultado da correção.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C8DA683D-7517-4A35-BBC5-4FF546CD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BB19BA2B-F21A-498B-9D71-7AB3382F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326052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4B3B05D1-E699-4678-BB00-6469FE49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07  Findings, risco e exceções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2C85AAE-2EDD-4143-9C91-AB69CE32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Recast, Accept e Change Result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1B557724-A170-4BAB-A4E3-5467EC63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Recast ajusta a severidade exibida para o escopo da regra.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A07507F9-1FEC-4414-AB69-71590C4B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Accept registra aceitação e oculta findings na tabela.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6AC7433B-2DD7-42D8-92E6-B9C74939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Change Result altera o resultado de host audits.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A9D7230B-6F04-48E3-A8F4-404059D8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Critério, justificativa e expiração delimitam a exceção.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AE8E3421-F1B1-43A0-A085-64135C40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9C09E4BB-A76C-465B-9A6F-64C318FA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864735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B16F0A8D-D470-4494-BD20-7043BDAD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07  Findings, risco e exceções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BBFA8E1-EA3F-4980-B3C4-30068052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Laboratório de risco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0A2AB1B5-91FC-4AC0-AE9F-C92A700E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Entrega: lista de prioridades com justificativas e evidências.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3F3A6527-8196-43DE-9452-3BDABA8C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Caso: uma regra ampla esconde findings fora do objetivo.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C3397E13-C265-43BA-A08C-35BAD6D6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Revisão: filtros, critério, prazo e condição de reavaliação.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4AA63B6A-D090-45F3-805F-DE603FE7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Simulado 07: 20 questões, 40 minutos.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01A0D751-C817-42C9-A00F-33C2BD5D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4E176154-BB14-4C83-9331-0684DFA6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927964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2026-10-09T20:14:38.4940000Z</dcterms:created>
  <dcterms:modified xsi:type="dcterms:W3CDTF">2026-10-09T20:14:38.4940000Z</dcterms:modified>
</coreProperties>
</file>