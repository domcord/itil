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b5526867ec4af5" /><Relationship Type="http://schemas.openxmlformats.org/officeDocument/2006/relationships/extended-properties" Target="/docProps/app.xml" Id="R1318881ae3c34321" /><Relationship Type="http://schemas.openxmlformats.org/officeDocument/2006/relationships/officeDocument" Target="/ppt/presentation.xml" Id="R22c84b1312c14b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c8e3430a1f4778"/>
  </p:sldMasterIdLst>
  <p:notesMasterIdLst>
    <p:notesMasterId xmlns:r="http://schemas.openxmlformats.org/officeDocument/2006/relationships" r:id="R9e52a89768b441d5"/>
  </p:notesMasterIdLst>
  <p:sldIdLst>
    <p:sldId xmlns:r="http://schemas.openxmlformats.org/officeDocument/2006/relationships" id="256" r:id="R2af223680ed04a93"/>
    <p:sldId xmlns:r="http://schemas.openxmlformats.org/officeDocument/2006/relationships" id="257" r:id="R4c9df5a3bb254b89"/>
    <p:sldId xmlns:r="http://schemas.openxmlformats.org/officeDocument/2006/relationships" id="258" r:id="R1fc88a5aed0949be"/>
    <p:sldId xmlns:r="http://schemas.openxmlformats.org/officeDocument/2006/relationships" id="259" r:id="R5a7ce4793fc54410"/>
    <p:sldId xmlns:r="http://schemas.openxmlformats.org/officeDocument/2006/relationships" id="260" r:id="Rfafbb4b9fae64ba9"/>
    <p:sldId xmlns:r="http://schemas.openxmlformats.org/officeDocument/2006/relationships" id="261" r:id="R314a02e820e049e7"/>
    <p:sldId xmlns:r="http://schemas.openxmlformats.org/officeDocument/2006/relationships" id="262" r:id="R485e27a7ec7747eb"/>
    <p:sldId xmlns:r="http://schemas.openxmlformats.org/officeDocument/2006/relationships" id="263" r:id="R6b2a93abc71a40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255ceb356d40d6" /><Relationship Type="http://schemas.openxmlformats.org/officeDocument/2006/relationships/slideMaster" Target="/ppt/slideMasters/slideMaster1.xml" Id="R95c8e3430a1f4778" /><Relationship Type="http://schemas.openxmlformats.org/officeDocument/2006/relationships/notesMaster" Target="/ppt/notesMasters/notesMaster1.xml" Id="R9e52a89768b441d5" /><Relationship Type="http://schemas.openxmlformats.org/officeDocument/2006/relationships/presProps" Target="/ppt/presProps.xml" Id="R12cc632741c54069" /><Relationship Type="http://schemas.openxmlformats.org/officeDocument/2006/relationships/tableStyles" Target="/ppt/tableStyles.xml" Id="Rc2ee45d31ede4426" /><Relationship Type="http://schemas.openxmlformats.org/officeDocument/2006/relationships/slide" Target="/ppt/slides/slide1.xml" Id="R2af223680ed04a93" /><Relationship Type="http://schemas.openxmlformats.org/officeDocument/2006/relationships/slide" Target="/ppt/slides/slide2.xml" Id="R4c9df5a3bb254b89" /><Relationship Type="http://schemas.openxmlformats.org/officeDocument/2006/relationships/slide" Target="/ppt/slides/slide3.xml" Id="R1fc88a5aed0949be" /><Relationship Type="http://schemas.openxmlformats.org/officeDocument/2006/relationships/slide" Target="/ppt/slides/slide4.xml" Id="R5a7ce4793fc54410" /><Relationship Type="http://schemas.openxmlformats.org/officeDocument/2006/relationships/slide" Target="/ppt/slides/slide5.xml" Id="Rfafbb4b9fae64ba9" /><Relationship Type="http://schemas.openxmlformats.org/officeDocument/2006/relationships/slide" Target="/ppt/slides/slide6.xml" Id="R314a02e820e049e7" /><Relationship Type="http://schemas.openxmlformats.org/officeDocument/2006/relationships/slide" Target="/ppt/slides/slide7.xml" Id="R485e27a7ec7747eb" /><Relationship Type="http://schemas.openxmlformats.org/officeDocument/2006/relationships/slide" Target="/ppt/slides/slide8.xml" Id="R6b2a93abc71a40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348b6e1a1848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5ab3d926204c6d" /><Relationship Type="http://schemas.openxmlformats.org/officeDocument/2006/relationships/notesMaster" Target="/ppt/notesMasters/notesMaster1.xml" Id="R1da59f535c1b40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ea64a7ab894ae9" /><Relationship Type="http://schemas.openxmlformats.org/officeDocument/2006/relationships/notesMaster" Target="/ppt/notesMasters/notesMaster1.xml" Id="Rde5ae689b44e4b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8a93fd4cd1451f" /><Relationship Type="http://schemas.openxmlformats.org/officeDocument/2006/relationships/notesMaster" Target="/ppt/notesMasters/notesMaster1.xml" Id="R34f79b2e57c64d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f6dcf49ab0459c" /><Relationship Type="http://schemas.openxmlformats.org/officeDocument/2006/relationships/notesMaster" Target="/ppt/notesMasters/notesMaster1.xml" Id="R92b08702279448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d988af1d214035" /><Relationship Type="http://schemas.openxmlformats.org/officeDocument/2006/relationships/notesMaster" Target="/ppt/notesMasters/notesMaster1.xml" Id="R4c0538b9799e42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99c5034259428f" /><Relationship Type="http://schemas.openxmlformats.org/officeDocument/2006/relationships/notesMaster" Target="/ppt/notesMasters/notesMaster1.xml" Id="R05eab988724e4e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0f7949a3754612" /><Relationship Type="http://schemas.openxmlformats.org/officeDocument/2006/relationships/notesMaster" Target="/ppt/notesMasters/notesMaster1.xml" Id="R8be1d636c0324e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0319c9db144cf2" /><Relationship Type="http://schemas.openxmlformats.org/officeDocument/2006/relationships/notesMaster" Target="/ppt/notesMasters/notesMaster1.xml" Id="R57064bcc5df749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Escolher os sensores e planejar uma implantação com cobertura verificável.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simulados deste pacote são autorais. A certificação completa exige escrita e prática. O número 48/60 é referência para simulados com itens de mesmo peso, sem presumir a metodologia interna de pontuação.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Security Center é um produto diferente. Não transportar regras de repositórios e scan zones para VM sem conferir a documentação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F05: Get Started</a:t>
            </a:r>
          </a:p>
          <a:p xmlns:a="http://schemas.openxmlformats.org/drawingml/2006/main">
            <a:r>
              <a:t>https://docs.tenable.com/vulnerability-management/Content/vulnerability-management/GetStarted.htm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F06: Sensors</a:t>
            </a:r>
          </a:p>
          <a:p xmlns:a="http://schemas.openxmlformats.org/drawingml/2006/main">
            <a:r>
              <a:t>https://docs.tenable.com/vulnerability-management/Content/Settings/Sensors/ViewSensors.htm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F07: Tenable Network Monitor</a:t>
            </a:r>
          </a:p>
          <a:p xmlns:a="http://schemas.openxmlformats.org/drawingml/2006/main">
            <a:r>
              <a:t>https://docs.tenable.com/network-monitor/Content/Welcome.htm</a:t>
            </a:r>
          </a:p>
          <a:p xmlns:a="http://schemas.openxmlformats.org/drawingml/2006/main">
            <a:r>
              <a:t>Data: 2026-08-27. Last Updated explícito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cobertura depende da posição e da conectividade de cada sensor. Um agente não reproduz automaticamente a visão de um scanner remoto.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F06: Sensors</a:t>
            </a:r>
          </a:p>
          <a:p xmlns:a="http://schemas.openxmlformats.org/drawingml/2006/main">
            <a:r>
              <a:t>https://docs.tenable.com/vulnerability-management/Content/Settings/Sensors/ViewSensors.htm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F07: Tenable Network Monitor</a:t>
            </a:r>
          </a:p>
          <a:p xmlns:a="http://schemas.openxmlformats.org/drawingml/2006/main">
            <a:r>
              <a:t>https://docs.tenable.com/network-monitor/Content/Welcome.htm</a:t>
            </a:r>
          </a:p>
          <a:p xmlns:a="http://schemas.openxmlformats.org/drawingml/2006/main">
            <a:r>
              <a:t>Data: 2026-08-27. Last Updated explícito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F31: Agents</a:t>
            </a:r>
          </a:p>
          <a:p xmlns:a="http://schemas.openxmlformats.org/drawingml/2006/main">
            <a:r>
              <a:t>https://docs.tenable.com/vulnerability-management/Content/Settings/Sensors/Agents.htm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Exercício: descreva uma matriz segmento, quantidade esperada, sensor, janela, credencial e responsável. Compare esperado versus observado antes de expandir.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F05: Get Started</a:t>
            </a:r>
          </a:p>
          <a:p xmlns:a="http://schemas.openxmlformats.org/drawingml/2006/main">
            <a:r>
              <a:t>https://docs.tenable.com/vulnerability-management/Content/vulnerability-management/GetStarted.htm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F16: Networks</a:t>
            </a:r>
          </a:p>
          <a:p xmlns:a="http://schemas.openxmlformats.org/drawingml/2006/main">
            <a:r>
              <a:t>https://docs.tenable.com/vulnerability-management/Content/Settings/Sensors/Networks.htm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F17: Scan Distribution</a:t>
            </a:r>
          </a:p>
          <a:p xmlns:a="http://schemas.openxmlformats.org/drawingml/2006/main">
            <a:r>
              <a:t>https://docs.tenable.com/vulnerability-management/Content/Scans/scan-distribution.htm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documentação do template Host Discovery informa que ativos identificados por discovery scans não contam para a licença. Não generalizar essa regra para todo ativo importado ou avaliado.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F16: Networks</a:t>
            </a:r>
          </a:p>
          <a:p xmlns:a="http://schemas.openxmlformats.org/drawingml/2006/main">
            <a:r>
              <a:t>https://docs.tenable.com/vulnerability-management/Content/Settings/Sensors/Networks.htm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F20: Scan Templates</a:t>
            </a:r>
          </a:p>
          <a:p xmlns:a="http://schemas.openxmlformats.org/drawingml/2006/main">
            <a:r>
              <a:t>https://docs.tenable.com/vulnerability-management/Content/Scans/Templates.htm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F23: Asset Inventory: Key Attributes</a:t>
            </a:r>
          </a:p>
          <a:p xmlns:a="http://schemas.openxmlformats.org/drawingml/2006/main">
            <a:r>
              <a:t>https://docs.tenable.com/cyber-exposure-studies/asset-inventory/Content/KeyAssetAttributes.htm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Cenário autoral. Complementar com Network Monitor onde o tráfego observado agregue inventário. Relacionar escolhas à evidência coletada, não ao nome comercial do sensor.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F05: Get Started</a:t>
            </a:r>
          </a:p>
          <a:p xmlns:a="http://schemas.openxmlformats.org/drawingml/2006/main">
            <a:r>
              <a:t>https://docs.tenable.com/vulnerability-management/Content/vulnerability-management/GetStarted.htm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F07: Tenable Network Monitor</a:t>
            </a:r>
          </a:p>
          <a:p xmlns:a="http://schemas.openxmlformats.org/drawingml/2006/main">
            <a:r>
              <a:t>https://docs.tenable.com/network-monitor/Content/Welcome.htm</a:t>
            </a:r>
          </a:p>
          <a:p xmlns:a="http://schemas.openxmlformats.org/drawingml/2006/main">
            <a:r>
              <a:t>Data: 2026-08-27. Last Updated explícito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F31: Agents</a:t>
            </a:r>
          </a:p>
          <a:p xmlns:a="http://schemas.openxmlformats.org/drawingml/2006/main">
            <a:r>
              <a:t>https://docs.tenable.com/vulnerability-management/Content/Settings/Sensors/Agents.htm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L01. Trabalhar somente no ambiente de estudo autorizado. Ao revisar, explicar por que cada sensor atende seu caso de uso. Questões e gabarito ficam separados na pasta Simulados.</a:t>
            </a:r>
          </a:p>
          <a:p xmlns:a="http://schemas.openxmlformats.org/drawingml/2006/main">
            <a:r>
              <a:t>Material local de apoio: L02 páginas PDF 32, 34, 37, 287, 288. L03 itens 1, 2, 6, 7, 20, 23, 25. L01 itens 3, 5, 6, 7, 8, 34, 35, 39. Arquitetura SaaS e cobertura, sem transportar regras específicas de Security Center.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F05: Get Started</a:t>
            </a:r>
          </a:p>
          <a:p xmlns:a="http://schemas.openxmlformats.org/drawingml/2006/main">
            <a:r>
              <a:t>https://docs.tenable.com/vulnerability-management/Content/vulnerability-management/GetStarted.htm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F06: Sensors</a:t>
            </a:r>
          </a:p>
          <a:p xmlns:a="http://schemas.openxmlformats.org/drawingml/2006/main">
            <a:r>
              <a:t>https://docs.tenable.com/vulnerability-management/Content/Settings/Sensors/ViewSensors.htm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725cb4c464a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2642feddf46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1aa688ebf45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d0b26c6f44a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826084deb4a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6ff09914b41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6576E9-C64B-4D8A-B348-C0AC996792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97901E-25C8-4BC7-81F6-9ED76CC89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FCADFE-C97F-4FD2-9ED3-5271FD7B2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73DF4F-ED98-41E8-8E9B-133885CD36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5F083A-AD2B-4BF8-A88D-03B5842C1A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082C22-890B-4EE1-B1EA-F220E4522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F22947-FCAF-4B43-9CDD-9FCE47D8BA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3159AE-CCB8-4903-8E3A-35B82BA4B4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3D0665-A986-45DA-B8D2-5A02950F5E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27DDBB-B65C-46DF-AA5A-3767D6EB39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70256377144482" /><Relationship Type="http://schemas.openxmlformats.org/officeDocument/2006/relationships/slideLayout" Target="/ppt/slideLayouts/slideLayout1.xml" Id="R5c9ca3aee5474ef6" /><Relationship Type="http://schemas.openxmlformats.org/officeDocument/2006/relationships/slideLayout" Target="/ppt/slideLayouts/slideLayout2.xml" Id="R0daa3bded94c4f4d" /><Relationship Type="http://schemas.openxmlformats.org/officeDocument/2006/relationships/slideLayout" Target="/ppt/slideLayouts/slideLayout3.xml" Id="R4c644f840c14406a" /><Relationship Type="http://schemas.openxmlformats.org/officeDocument/2006/relationships/slideLayout" Target="/ppt/slideLayouts/slideLayout4.xml" Id="R6b90a1c1160445f0" /><Relationship Type="http://schemas.openxmlformats.org/officeDocument/2006/relationships/slideLayout" Target="/ppt/slideLayouts/slideLayout5.xml" Id="R813cef0be42946a5" /><Relationship Type="http://schemas.openxmlformats.org/officeDocument/2006/relationships/slideLayout" Target="/ppt/slideLayouts/slideLayout6.xml" Id="Rc6f2fe74e69f46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9ca3aee5474ef6"/>
    <p:sldLayoutId xmlns:r="http://schemas.openxmlformats.org/officeDocument/2006/relationships" id="2147483650" r:id="R0daa3bded94c4f4d"/>
    <p:sldLayoutId xmlns:r="http://schemas.openxmlformats.org/officeDocument/2006/relationships" id="2147483651" r:id="R4c644f840c14406a"/>
    <p:sldLayoutId xmlns:r="http://schemas.openxmlformats.org/officeDocument/2006/relationships" id="2147483652" r:id="R6b90a1c1160445f0"/>
    <p:sldLayoutId xmlns:r="http://schemas.openxmlformats.org/officeDocument/2006/relationships" id="2147483653" r:id="R813cef0be42946a5"/>
    <p:sldLayoutId xmlns:r="http://schemas.openxmlformats.org/officeDocument/2006/relationships" id="2147483654" r:id="Rc6f2fe74e69f46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6d4e9dc044c58" /><Relationship Type="http://schemas.openxmlformats.org/officeDocument/2006/relationships/notesSlide" Target="/ppt/notesSlides/notesSlide1.xml" Id="Rba179400f46b41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9a6301a224c0d" /><Relationship Type="http://schemas.openxmlformats.org/officeDocument/2006/relationships/notesSlide" Target="/ppt/notesSlides/notesSlide2.xml" Id="R31ccc215684d4d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ae1f37a524aa7" /><Relationship Type="http://schemas.openxmlformats.org/officeDocument/2006/relationships/notesSlide" Target="/ppt/notesSlides/notesSlide3.xml" Id="R74817811915f48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701e5dfc14d32" /><Relationship Type="http://schemas.openxmlformats.org/officeDocument/2006/relationships/notesSlide" Target="/ppt/notesSlides/notesSlide4.xml" Id="R1d8fbb173c3744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bf25c05e7b4366" /><Relationship Type="http://schemas.openxmlformats.org/officeDocument/2006/relationships/notesSlide" Target="/ppt/notesSlides/notesSlide5.xml" Id="R25bff6070ed244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623ceca97d423c" /><Relationship Type="http://schemas.openxmlformats.org/officeDocument/2006/relationships/notesSlide" Target="/ppt/notesSlides/notesSlide6.xml" Id="R66f927813fe240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aea9c71391499d" /><Relationship Type="http://schemas.openxmlformats.org/officeDocument/2006/relationships/notesSlide" Target="/ppt/notesSlides/notesSlide7.xml" Id="Rf96a30c7c6d344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d12288bc1459a" /><Relationship Type="http://schemas.openxmlformats.org/officeDocument/2006/relationships/notesSlide" Target="/ppt/notesSlides/notesSlide8.xml" Id="R830d773a994143db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264B"/>
            </a:gs>
            <a:gs pos="100000">
              <a:srgbClr val="006FC6"/>
            </a:gs>
          </a:gsLst>
          <a:lin ang="1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9ad0z3_Section">
            <a:extLst xmlns:a="http://schemas.openxmlformats.org/drawingml/2006/main">
              <a:ext uri="{FF2B5EF4-FFF2-40B4-BE49-F238E27FC236}">
                <a16:creationId xmlns:a16="http://schemas.microsoft.com/office/drawing/2014/main" id="{8BEE9CC8-DCF7-47AF-998B-95725E8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3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DDFF"/>
                </a:solidFill>
                <a:latin typeface="Arial"/>
                <a:ea typeface="Arial"/>
                <a:cs typeface="Arial"/>
              </a:rPr>
              <a:t>TEMA 01</a:t>
            </a:r>
          </a:p>
        </p:txBody>
      </p:sp>
      <p:sp>
        <p:nvSpPr>
          <p:cNvPr id="2" name="9ad0z3_Title">
            <a:extLst xmlns:a="http://schemas.openxmlformats.org/drawingml/2006/main">
              <a:ext uri="{FF2B5EF4-FFF2-40B4-BE49-F238E27FC236}">
                <a16:creationId xmlns:a16="http://schemas.microsoft.com/office/drawing/2014/main" id="{BBDF9FD0-DB9F-4542-899D-C683C6F5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439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Arquitetura e fundamentos</a:t>
            </a:r>
          </a:p>
        </p:txBody>
      </p:sp>
      <p:sp>
        <p:nvSpPr>
          <p:cNvPr id="3" name="9ad0z3_Subtitle">
            <a:extLst xmlns:a="http://schemas.openxmlformats.org/drawingml/2006/main">
              <a:ext uri="{FF2B5EF4-FFF2-40B4-BE49-F238E27FC236}">
                <a16:creationId xmlns:a16="http://schemas.microsoft.com/office/drawing/2014/main" id="{A0A8842D-1A5F-45F0-B310-1DE15373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6FF"/>
                </a:solidFill>
                <a:latin typeface="Arial"/>
                <a:ea typeface="Arial"/>
                <a:cs typeface="Arial"/>
              </a:rPr>
              <a:t>Escolher os sensores e planejar uma implantação com cobertura verificável.</a:t>
            </a:r>
          </a:p>
        </p:txBody>
      </p:sp>
      <p:sp>
        <p:nvSpPr>
          <p:cNvPr id="4" name="9ad0z3_Schedule">
            <a:extLst xmlns:a="http://schemas.openxmlformats.org/drawingml/2006/main">
              <a:ext uri="{FF2B5EF4-FFF2-40B4-BE49-F238E27FC236}">
                <a16:creationId xmlns:a16="http://schemas.microsoft.com/office/drawing/2014/main" id="{32E0F6BB-77D9-4BCF-9CE8-E1AB3A0F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39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Semana 1 de estudo</a:t>
            </a:r>
          </a:p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Installation / Configuration</a:t>
            </a:r>
          </a:p>
        </p:txBody>
      </p:sp>
      <p:sp>
        <p:nvSpPr>
          <p:cNvPr id="5" name="9ad0z3_Footer">
            <a:extLst xmlns:a="http://schemas.openxmlformats.org/drawingml/2006/main">
              <a:ext uri="{FF2B5EF4-FFF2-40B4-BE49-F238E27FC236}">
                <a16:creationId xmlns:a16="http://schemas.microsoft.com/office/drawing/2014/main" id="{5984BA73-AA4F-4C15-8FD9-CE0479F0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EE"/>
                </a:solidFill>
                <a:latin typeface="Arial"/>
                <a:ea typeface="Arial"/>
                <a:cs typeface="Arial"/>
              </a:rPr>
              <a:t>Tenable Vulnerability Management   /   Written Exam</a:t>
            </a:r>
          </a:p>
        </p:txBody>
      </p:sp>
    </p:spTree>
    <p:extLst>
      <p:ext uri="{BB962C8B-B14F-4D97-AF65-F5344CB8AC3E}">
        <p14:creationId xmlns:p14="http://schemas.microsoft.com/office/powerpoint/2010/main" val="980895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vodzr_Section">
            <a:extLst xmlns:a="http://schemas.openxmlformats.org/drawingml/2006/main">
              <a:ext uri="{FF2B5EF4-FFF2-40B4-BE49-F238E27FC236}">
                <a16:creationId xmlns:a16="http://schemas.microsoft.com/office/drawing/2014/main" id="{F515D9FD-4307-4690-931D-1F08E7B5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01</a:t>
            </a:r>
          </a:p>
        </p:txBody>
      </p:sp>
      <p:sp>
        <p:nvSpPr>
          <p:cNvPr id="2" name="svodzr_Title">
            <a:extLst xmlns:a="http://schemas.openxmlformats.org/drawingml/2006/main">
              <a:ext uri="{FF2B5EF4-FFF2-40B4-BE49-F238E27FC236}">
                <a16:creationId xmlns:a16="http://schemas.microsoft.com/office/drawing/2014/main" id="{F59968CB-84A7-4380-8409-D1C789BC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Escopo da etapa escrita</a:t>
            </a:r>
          </a:p>
        </p:txBody>
      </p:sp>
      <p:sp>
        <p:nvSpPr>
          <p:cNvPr id="3" name="svodzr_Body_1">
            <a:extLst xmlns:a="http://schemas.openxmlformats.org/drawingml/2006/main">
              <a:ext uri="{FF2B5EF4-FFF2-40B4-BE49-F238E27FC236}">
                <a16:creationId xmlns:a16="http://schemas.microsoft.com/office/drawing/2014/main" id="{E852F4B9-F395-49B9-A47E-70A83CD9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60 questões de múltipla escolha e verdadeiro/falso.</a:t>
            </a:r>
          </a:p>
        </p:txBody>
      </p:sp>
      <p:sp>
        <p:nvSpPr>
          <p:cNvPr id="4" name="svodzr_Body_2">
            <a:extLst xmlns:a="http://schemas.openxmlformats.org/drawingml/2006/main">
              <a:ext uri="{FF2B5EF4-FFF2-40B4-BE49-F238E27FC236}">
                <a16:creationId xmlns:a16="http://schemas.microsoft.com/office/drawing/2014/main" id="{56633720-FFCD-45FA-81CE-B80D35C0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120 minutos e mínimo oficial de 80%.</a:t>
            </a:r>
          </a:p>
        </p:txBody>
      </p:sp>
      <p:sp>
        <p:nvSpPr>
          <p:cNvPr id="5" name="svodzr_Body_3">
            <a:extLst xmlns:a="http://schemas.openxmlformats.org/drawingml/2006/main">
              <a:ext uri="{FF2B5EF4-FFF2-40B4-BE49-F238E27FC236}">
                <a16:creationId xmlns:a16="http://schemas.microsoft.com/office/drawing/2014/main" id="{A2196AD3-FE8A-4507-A00C-04C2C189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Quatro domínios amplos. Oito temas organizam este estudo.</a:t>
            </a:r>
          </a:p>
        </p:txBody>
      </p:sp>
      <p:sp>
        <p:nvSpPr>
          <p:cNvPr id="6" name="svodzr_Footer">
            <a:extLst xmlns:a="http://schemas.openxmlformats.org/drawingml/2006/main">
              <a:ext uri="{FF2B5EF4-FFF2-40B4-BE49-F238E27FC236}">
                <a16:creationId xmlns:a16="http://schemas.microsoft.com/office/drawing/2014/main" id="{7FFFA917-A347-4E77-B156-75DF436D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7" name="svodzr_Folio">
            <a:extLst xmlns:a="http://schemas.openxmlformats.org/drawingml/2006/main">
              <a:ext uri="{FF2B5EF4-FFF2-40B4-BE49-F238E27FC236}">
                <a16:creationId xmlns:a16="http://schemas.microsoft.com/office/drawing/2014/main" id="{3E4DD232-0161-40B8-B205-859B1D35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9713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n24ni5_Section">
            <a:extLst xmlns:a="http://schemas.openxmlformats.org/drawingml/2006/main">
              <a:ext uri="{FF2B5EF4-FFF2-40B4-BE49-F238E27FC236}">
                <a16:creationId xmlns:a16="http://schemas.microsoft.com/office/drawing/2014/main" id="{653BA4FA-968C-4C55-B03D-9AF172C1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01</a:t>
            </a:r>
          </a:p>
        </p:txBody>
      </p:sp>
      <p:sp>
        <p:nvSpPr>
          <p:cNvPr id="2" name="n24ni5_Title">
            <a:extLst xmlns:a="http://schemas.openxmlformats.org/drawingml/2006/main">
              <a:ext uri="{FF2B5EF4-FFF2-40B4-BE49-F238E27FC236}">
                <a16:creationId xmlns:a16="http://schemas.microsoft.com/office/drawing/2014/main" id="{4E6F6318-8DFD-4AD0-980F-1A5702CE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Produtos e responsabilidades</a:t>
            </a:r>
          </a:p>
        </p:txBody>
      </p:sp>
      <p:sp>
        <p:nvSpPr>
          <p:cNvPr id="3" name="n24ni5_Body_1">
            <a:extLst xmlns:a="http://schemas.openxmlformats.org/drawingml/2006/main">
              <a:ext uri="{FF2B5EF4-FFF2-40B4-BE49-F238E27FC236}">
                <a16:creationId xmlns:a16="http://schemas.microsoft.com/office/drawing/2014/main" id="{32A5DE8B-FC56-44FD-85D8-2884A591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Tenable One Vulnerability Management centraliza a gestão na nuvem.</a:t>
            </a:r>
          </a:p>
        </p:txBody>
      </p:sp>
      <p:sp>
        <p:nvSpPr>
          <p:cNvPr id="4" name="n24ni5_Body_2">
            <a:extLst xmlns:a="http://schemas.openxmlformats.org/drawingml/2006/main">
              <a:ext uri="{FF2B5EF4-FFF2-40B4-BE49-F238E27FC236}">
                <a16:creationId xmlns:a16="http://schemas.microsoft.com/office/drawing/2014/main" id="{D3590170-E0C1-4466-BA1E-528F5AA7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Nessus executa avaliações ativas nos alvos acessíveis.</a:t>
            </a:r>
          </a:p>
        </p:txBody>
      </p:sp>
      <p:sp>
        <p:nvSpPr>
          <p:cNvPr id="5" name="n24ni5_Body_3">
            <a:extLst xmlns:a="http://schemas.openxmlformats.org/drawingml/2006/main">
              <a:ext uri="{FF2B5EF4-FFF2-40B4-BE49-F238E27FC236}">
                <a16:creationId xmlns:a16="http://schemas.microsoft.com/office/drawing/2014/main" id="{600906E4-485E-4F24-9157-CA6BE4AB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Tenable Agents executam verificações locais no host.</a:t>
            </a:r>
          </a:p>
        </p:txBody>
      </p:sp>
      <p:sp>
        <p:nvSpPr>
          <p:cNvPr id="6" name="n24ni5_Body_4">
            <a:extLst xmlns:a="http://schemas.openxmlformats.org/drawingml/2006/main">
              <a:ext uri="{FF2B5EF4-FFF2-40B4-BE49-F238E27FC236}">
                <a16:creationId xmlns:a16="http://schemas.microsoft.com/office/drawing/2014/main" id="{775B6FFD-1CA7-4E8C-B9D5-7234E0FB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Tenable Network Monitor observa tráfego.</a:t>
            </a:r>
          </a:p>
        </p:txBody>
      </p:sp>
      <p:sp>
        <p:nvSpPr>
          <p:cNvPr id="7" name="n24ni5_Footer">
            <a:extLst xmlns:a="http://schemas.openxmlformats.org/drawingml/2006/main">
              <a:ext uri="{FF2B5EF4-FFF2-40B4-BE49-F238E27FC236}">
                <a16:creationId xmlns:a16="http://schemas.microsoft.com/office/drawing/2014/main" id="{4F222EE4-36E6-4AD3-BE63-0B35CFF3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n24ni5_Folio">
            <a:extLst xmlns:a="http://schemas.openxmlformats.org/drawingml/2006/main">
              <a:ext uri="{FF2B5EF4-FFF2-40B4-BE49-F238E27FC236}">
                <a16:creationId xmlns:a16="http://schemas.microsoft.com/office/drawing/2014/main" id="{1C570E8D-0381-49F7-A610-BEEF4F34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34933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v1mtd_Section">
            <a:extLst xmlns:a="http://schemas.openxmlformats.org/drawingml/2006/main">
              <a:ext uri="{FF2B5EF4-FFF2-40B4-BE49-F238E27FC236}">
                <a16:creationId xmlns:a16="http://schemas.microsoft.com/office/drawing/2014/main" id="{585B253C-8101-48AE-9750-8232BC69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01</a:t>
            </a:r>
          </a:p>
        </p:txBody>
      </p:sp>
      <p:sp>
        <p:nvSpPr>
          <p:cNvPr id="2" name="rv1mtd_Title">
            <a:extLst xmlns:a="http://schemas.openxmlformats.org/drawingml/2006/main">
              <a:ext uri="{FF2B5EF4-FFF2-40B4-BE49-F238E27FC236}">
                <a16:creationId xmlns:a16="http://schemas.microsoft.com/office/drawing/2014/main" id="{E8064923-14BE-4F20-A5D7-11A92564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Comparação de sensores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A2672-CD5D-4FCA-8770-001F8AF97B32}"/>
              </a:ext>
            </a:extLst>
          </p:cNvPr>
          <p:cNvGraphicFramePr/>
          <p:nvPr/>
        </p:nvGraphicFramePr>
        <p:xfrm>
          <a:off xmlns:a="http://schemas.openxmlformats.org/drawingml/2006/main" x="685800" y="2219325"/>
          <a:ext xmlns:a="http://schemas.openxmlformats.org/drawingml/2006/main" cx="10820400" cy="3352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19375"/>
                <a:gridCol w="3762375"/>
                <a:gridCol w="443865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Sensor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Boa aplicação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Limitação a verificar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Cloud scanner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Superfície pública acessível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Rotas para redes privadas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Linked Nessus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Rede interna e serviços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Acesso de rede e credenciais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Hosts móveis e locais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Visão dos serviços remotamente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Network Monitor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Descoberta por tráfego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Dependência de SPAN/TAP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4" name="rv1mtd_Footer">
            <a:extLst xmlns:a="http://schemas.openxmlformats.org/drawingml/2006/main">
              <a:ext uri="{FF2B5EF4-FFF2-40B4-BE49-F238E27FC236}">
                <a16:creationId xmlns:a16="http://schemas.microsoft.com/office/drawing/2014/main" id="{D2D5B99B-F0D9-49B3-9F42-D43C3B3C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5" name="rv1mtd_Folio">
            <a:extLst xmlns:a="http://schemas.openxmlformats.org/drawingml/2006/main">
              <a:ext uri="{FF2B5EF4-FFF2-40B4-BE49-F238E27FC236}">
                <a16:creationId xmlns:a16="http://schemas.microsoft.com/office/drawing/2014/main" id="{6294007C-71B1-4F0E-BAF7-E7A5A181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52707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9wyoc_Section">
            <a:extLst xmlns:a="http://schemas.openxmlformats.org/drawingml/2006/main">
              <a:ext uri="{FF2B5EF4-FFF2-40B4-BE49-F238E27FC236}">
                <a16:creationId xmlns:a16="http://schemas.microsoft.com/office/drawing/2014/main" id="{ED06A608-5588-4D7B-9011-344DA3C8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01</a:t>
            </a:r>
          </a:p>
        </p:txBody>
      </p:sp>
      <p:sp>
        <p:nvSpPr>
          <p:cNvPr id="2" name="g9wyoc_Title">
            <a:extLst xmlns:a="http://schemas.openxmlformats.org/drawingml/2006/main">
              <a:ext uri="{FF2B5EF4-FFF2-40B4-BE49-F238E27FC236}">
                <a16:creationId xmlns:a16="http://schemas.microsoft.com/office/drawing/2014/main" id="{ECC2017A-2E87-4F42-B6CE-EFCB36CA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Planejamento de implantação</a:t>
            </a:r>
          </a:p>
        </p:txBody>
      </p:sp>
      <p:sp>
        <p:nvSpPr>
          <p:cNvPr id="3" name="g9wyoc_Body_1">
            <a:extLst xmlns:a="http://schemas.openxmlformats.org/drawingml/2006/main">
              <a:ext uri="{FF2B5EF4-FFF2-40B4-BE49-F238E27FC236}">
                <a16:creationId xmlns:a16="http://schemas.microsoft.com/office/drawing/2014/main" id="{BADF59CB-A0E8-4F76-8BF0-F2853C26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Inventário esperado e segmentos definem o escopo.</a:t>
            </a:r>
          </a:p>
        </p:txBody>
      </p:sp>
      <p:sp>
        <p:nvSpPr>
          <p:cNvPr id="4" name="g9wyoc_Body_2">
            <a:extLst xmlns:a="http://schemas.openxmlformats.org/drawingml/2006/main">
              <a:ext uri="{FF2B5EF4-FFF2-40B4-BE49-F238E27FC236}">
                <a16:creationId xmlns:a16="http://schemas.microsoft.com/office/drawing/2014/main" id="{B155B49E-99D1-41EC-8559-9F7AEA0C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Sensores precisam alcançar seus alvos e a plataforma.</a:t>
            </a:r>
          </a:p>
        </p:txBody>
      </p:sp>
      <p:sp>
        <p:nvSpPr>
          <p:cNvPr id="5" name="g9wyoc_Body_3">
            <a:extLst xmlns:a="http://schemas.openxmlformats.org/drawingml/2006/main">
              <a:ext uri="{FF2B5EF4-FFF2-40B4-BE49-F238E27FC236}">
                <a16:creationId xmlns:a16="http://schemas.microsoft.com/office/drawing/2014/main" id="{13D23653-8F3B-4070-80DD-E85BE63E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Grupos, networks e janelas traduzem a topologia.</a:t>
            </a:r>
          </a:p>
        </p:txBody>
      </p:sp>
      <p:sp>
        <p:nvSpPr>
          <p:cNvPr id="6" name="g9wyoc_Body_4">
            <a:extLst xmlns:a="http://schemas.openxmlformats.org/drawingml/2006/main">
              <a:ext uri="{FF2B5EF4-FFF2-40B4-BE49-F238E27FC236}">
                <a16:creationId xmlns:a16="http://schemas.microsoft.com/office/drawing/2014/main" id="{642381FB-FF43-4BBC-B8C7-D4496C1B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Uma amostra piloto comprova a cobertura.</a:t>
            </a:r>
          </a:p>
        </p:txBody>
      </p:sp>
      <p:sp>
        <p:nvSpPr>
          <p:cNvPr id="7" name="g9wyoc_Footer">
            <a:extLst xmlns:a="http://schemas.openxmlformats.org/drawingml/2006/main">
              <a:ext uri="{FF2B5EF4-FFF2-40B4-BE49-F238E27FC236}">
                <a16:creationId xmlns:a16="http://schemas.microsoft.com/office/drawing/2014/main" id="{7694D70F-B7F5-484E-935B-B5AE0B22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g9wyoc_Folio">
            <a:extLst xmlns:a="http://schemas.openxmlformats.org/drawingml/2006/main">
              <a:ext uri="{FF2B5EF4-FFF2-40B4-BE49-F238E27FC236}">
                <a16:creationId xmlns:a16="http://schemas.microsoft.com/office/drawing/2014/main" id="{E496F630-687C-4D56-969B-AEC750C0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528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n815s_Section">
            <a:extLst xmlns:a="http://schemas.openxmlformats.org/drawingml/2006/main">
              <a:ext uri="{FF2B5EF4-FFF2-40B4-BE49-F238E27FC236}">
                <a16:creationId xmlns:a16="http://schemas.microsoft.com/office/drawing/2014/main" id="{C83A9015-B5AB-4F06-B18E-1AF0AA9F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01</a:t>
            </a:r>
          </a:p>
        </p:txBody>
      </p:sp>
      <p:sp>
        <p:nvSpPr>
          <p:cNvPr id="2" name="kn815s_Title">
            <a:extLst xmlns:a="http://schemas.openxmlformats.org/drawingml/2006/main">
              <a:ext uri="{FF2B5EF4-FFF2-40B4-BE49-F238E27FC236}">
                <a16:creationId xmlns:a16="http://schemas.microsoft.com/office/drawing/2014/main" id="{95584D55-6814-4159-B9D8-FE9A596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Descoberta e identidade do ativo</a:t>
            </a:r>
          </a:p>
        </p:txBody>
      </p:sp>
      <p:sp>
        <p:nvSpPr>
          <p:cNvPr id="3" name="kn815s_Body_1">
            <a:extLst xmlns:a="http://schemas.openxmlformats.org/drawingml/2006/main">
              <a:ext uri="{FF2B5EF4-FFF2-40B4-BE49-F238E27FC236}">
                <a16:creationId xmlns:a16="http://schemas.microsoft.com/office/drawing/2014/main" id="{EC0BFA75-174E-42C6-8E48-4C47C67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 IP pode mudar ou existir em ambientes diferentes.</a:t>
            </a:r>
          </a:p>
        </p:txBody>
      </p:sp>
      <p:sp>
        <p:nvSpPr>
          <p:cNvPr id="4" name="kn815s_Body_2">
            <a:extLst xmlns:a="http://schemas.openxmlformats.org/drawingml/2006/main">
              <a:ext uri="{FF2B5EF4-FFF2-40B4-BE49-F238E27FC236}">
                <a16:creationId xmlns:a16="http://schemas.microsoft.com/office/drawing/2014/main" id="{AAEEB8EE-841F-4A3D-A76D-20DA3DA9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Atributos de identidade ajudam a correlacionar evidências.</a:t>
            </a:r>
          </a:p>
        </p:txBody>
      </p:sp>
      <p:sp>
        <p:nvSpPr>
          <p:cNvPr id="5" name="kn815s_Body_3">
            <a:extLst xmlns:a="http://schemas.openxmlformats.org/drawingml/2006/main">
              <a:ext uri="{FF2B5EF4-FFF2-40B4-BE49-F238E27FC236}">
                <a16:creationId xmlns:a16="http://schemas.microsoft.com/office/drawing/2014/main" id="{08ABD7DB-FCB1-4481-B4C4-D2AA9B93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Networks distinguem ambientes com IPs sobrepostos.</a:t>
            </a:r>
          </a:p>
        </p:txBody>
      </p:sp>
      <p:sp>
        <p:nvSpPr>
          <p:cNvPr id="6" name="kn815s_Body_4">
            <a:extLst xmlns:a="http://schemas.openxmlformats.org/drawingml/2006/main">
              <a:ext uri="{FF2B5EF4-FFF2-40B4-BE49-F238E27FC236}">
                <a16:creationId xmlns:a16="http://schemas.microsoft.com/office/drawing/2014/main" id="{527CADCB-4D6D-4F85-B92B-DC7DEA66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Discovery e avaliação de vulnerabilidades têm finalidades diferentes.</a:t>
            </a:r>
          </a:p>
        </p:txBody>
      </p:sp>
      <p:sp>
        <p:nvSpPr>
          <p:cNvPr id="7" name="kn815s_Footer">
            <a:extLst xmlns:a="http://schemas.openxmlformats.org/drawingml/2006/main">
              <a:ext uri="{FF2B5EF4-FFF2-40B4-BE49-F238E27FC236}">
                <a16:creationId xmlns:a16="http://schemas.microsoft.com/office/drawing/2014/main" id="{CCA08315-6AF3-4CEC-A391-8ADF6B87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kn815s_Folio">
            <a:extLst xmlns:a="http://schemas.openxmlformats.org/drawingml/2006/main">
              <a:ext uri="{FF2B5EF4-FFF2-40B4-BE49-F238E27FC236}">
                <a16:creationId xmlns:a16="http://schemas.microsoft.com/office/drawing/2014/main" id="{478DB021-D04E-47D3-9538-25637023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851018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7hv29q_Section">
            <a:extLst xmlns:a="http://schemas.openxmlformats.org/drawingml/2006/main">
              <a:ext uri="{FF2B5EF4-FFF2-40B4-BE49-F238E27FC236}">
                <a16:creationId xmlns:a16="http://schemas.microsoft.com/office/drawing/2014/main" id="{1889BC12-C5A3-4782-AF3B-11FD4B97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01</a:t>
            </a:r>
          </a:p>
        </p:txBody>
      </p:sp>
      <p:sp>
        <p:nvSpPr>
          <p:cNvPr id="2" name="7hv29q_Title">
            <a:extLst xmlns:a="http://schemas.openxmlformats.org/drawingml/2006/main">
              <a:ext uri="{FF2B5EF4-FFF2-40B4-BE49-F238E27FC236}">
                <a16:creationId xmlns:a16="http://schemas.microsoft.com/office/drawing/2014/main" id="{ADA489A6-0E93-4B3B-8E0C-04EAC95E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Caso: matriz de cobertura</a:t>
            </a:r>
          </a:p>
        </p:txBody>
      </p:sp>
      <p:sp>
        <p:nvSpPr>
          <p:cNvPr id="3" name="7hv29q_Body_1">
            <a:extLst xmlns:a="http://schemas.openxmlformats.org/drawingml/2006/main">
              <a:ext uri="{FF2B5EF4-FFF2-40B4-BE49-F238E27FC236}">
                <a16:creationId xmlns:a16="http://schemas.microsoft.com/office/drawing/2014/main" id="{34BDF567-1C37-49BA-9BF0-A361A25C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Filial isolada, notebooks móveis e aplicação pública.</a:t>
            </a:r>
          </a:p>
        </p:txBody>
      </p:sp>
      <p:sp>
        <p:nvSpPr>
          <p:cNvPr id="4" name="7hv29q_Body_2">
            <a:extLst xmlns:a="http://schemas.openxmlformats.org/drawingml/2006/main">
              <a:ext uri="{FF2B5EF4-FFF2-40B4-BE49-F238E27FC236}">
                <a16:creationId xmlns:a16="http://schemas.microsoft.com/office/drawing/2014/main" id="{8C0B2DBC-076A-44FA-BD96-8FAF78F8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Scanner interno atende o segmento roteável da filial.</a:t>
            </a:r>
          </a:p>
        </p:txBody>
      </p:sp>
      <p:sp>
        <p:nvSpPr>
          <p:cNvPr id="5" name="7hv29q_Body_3">
            <a:extLst xmlns:a="http://schemas.openxmlformats.org/drawingml/2006/main">
              <a:ext uri="{FF2B5EF4-FFF2-40B4-BE49-F238E27FC236}">
                <a16:creationId xmlns:a16="http://schemas.microsoft.com/office/drawing/2014/main" id="{54B8B9B9-E927-40D1-BB02-4D3B8341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Agents atendem a avaliação local dos notebooks.</a:t>
            </a:r>
          </a:p>
        </p:txBody>
      </p:sp>
      <p:sp>
        <p:nvSpPr>
          <p:cNvPr id="6" name="7hv29q_Body_4">
            <a:extLst xmlns:a="http://schemas.openxmlformats.org/drawingml/2006/main">
              <a:ext uri="{FF2B5EF4-FFF2-40B4-BE49-F238E27FC236}">
                <a16:creationId xmlns:a16="http://schemas.microsoft.com/office/drawing/2014/main" id="{5AC4C8C3-A48A-4C54-93A9-73262933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Cloud scanner atende a exposição pública acessível.</a:t>
            </a:r>
          </a:p>
        </p:txBody>
      </p:sp>
      <p:sp>
        <p:nvSpPr>
          <p:cNvPr id="7" name="7hv29q_Footer">
            <a:extLst xmlns:a="http://schemas.openxmlformats.org/drawingml/2006/main">
              <a:ext uri="{FF2B5EF4-FFF2-40B4-BE49-F238E27FC236}">
                <a16:creationId xmlns:a16="http://schemas.microsoft.com/office/drawing/2014/main" id="{D86E453F-4FDE-405E-B0B6-97437178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7hv29q_Folio">
            <a:extLst xmlns:a="http://schemas.openxmlformats.org/drawingml/2006/main">
              <a:ext uri="{FF2B5EF4-FFF2-40B4-BE49-F238E27FC236}">
                <a16:creationId xmlns:a16="http://schemas.microsoft.com/office/drawing/2014/main" id="{6640B8B4-62F1-4221-9EFA-CAB1AC27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47822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1pdb6o_Section">
            <a:extLst xmlns:a="http://schemas.openxmlformats.org/drawingml/2006/main">
              <a:ext uri="{FF2B5EF4-FFF2-40B4-BE49-F238E27FC236}">
                <a16:creationId xmlns:a16="http://schemas.microsoft.com/office/drawing/2014/main" id="{4C175A0E-5D9F-49D8-88BF-7078CF4E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01</a:t>
            </a:r>
          </a:p>
        </p:txBody>
      </p:sp>
      <p:sp>
        <p:nvSpPr>
          <p:cNvPr id="2" name="1pdb6o_Title">
            <a:extLst xmlns:a="http://schemas.openxmlformats.org/drawingml/2006/main">
              <a:ext uri="{FF2B5EF4-FFF2-40B4-BE49-F238E27FC236}">
                <a16:creationId xmlns:a16="http://schemas.microsoft.com/office/drawing/2014/main" id="{B887BC6B-5212-4C62-8BF7-77D84DE7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Laboratório e revisão do tema</a:t>
            </a:r>
          </a:p>
        </p:txBody>
      </p:sp>
      <p:sp>
        <p:nvSpPr>
          <p:cNvPr id="3" name="1pdb6o_Body_1">
            <a:extLst xmlns:a="http://schemas.openxmlformats.org/drawingml/2006/main">
              <a:ext uri="{FF2B5EF4-FFF2-40B4-BE49-F238E27FC236}">
                <a16:creationId xmlns:a16="http://schemas.microsoft.com/office/drawing/2014/main" id="{A844C94E-3B76-4E04-AF17-5D04BDB5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Entrega:</a:t>
            </a:r>
            <a:r>
              <a:t> desenho textual da topologia e matriz de cobertura.</a:t>
            </a:r>
          </a:p>
        </p:txBody>
      </p:sp>
      <p:sp>
        <p:nvSpPr>
          <p:cNvPr id="4" name="1pdb6o_Body_2">
            <a:extLst xmlns:a="http://schemas.openxmlformats.org/drawingml/2006/main">
              <a:ext uri="{FF2B5EF4-FFF2-40B4-BE49-F238E27FC236}">
                <a16:creationId xmlns:a16="http://schemas.microsoft.com/office/drawing/2014/main" id="{67450FED-4087-4004-88D7-543777ED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Sem console:</a:t>
            </a:r>
            <a:r>
              <a:t> resolver o caso e justificar cada sensor.</a:t>
            </a:r>
          </a:p>
        </p:txBody>
      </p:sp>
      <p:sp>
        <p:nvSpPr>
          <p:cNvPr id="5" name="1pdb6o_Body_3">
            <a:extLst xmlns:a="http://schemas.openxmlformats.org/drawingml/2006/main">
              <a:ext uri="{FF2B5EF4-FFF2-40B4-BE49-F238E27FC236}">
                <a16:creationId xmlns:a16="http://schemas.microsoft.com/office/drawing/2014/main" id="{CEEB6881-BB6A-4C73-819B-A8530DCA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Com console:</a:t>
            </a:r>
            <a:r>
              <a:t> conferir sensores, grupos e ativos de uma amostra.</a:t>
            </a:r>
          </a:p>
        </p:txBody>
      </p:sp>
      <p:sp>
        <p:nvSpPr>
          <p:cNvPr id="6" name="1pdb6o_Body_4">
            <a:extLst xmlns:a="http://schemas.openxmlformats.org/drawingml/2006/main">
              <a:ext uri="{FF2B5EF4-FFF2-40B4-BE49-F238E27FC236}">
                <a16:creationId xmlns:a16="http://schemas.microsoft.com/office/drawing/2014/main" id="{C787651F-7E85-4CE8-A338-563191BE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Simulado 01:</a:t>
            </a:r>
            <a:r>
              <a:t> 20 questões, 40 minutos.</a:t>
            </a:r>
          </a:p>
        </p:txBody>
      </p:sp>
      <p:sp>
        <p:nvSpPr>
          <p:cNvPr id="7" name="1pdb6o_Footer">
            <a:extLst xmlns:a="http://schemas.openxmlformats.org/drawingml/2006/main">
              <a:ext uri="{FF2B5EF4-FFF2-40B4-BE49-F238E27FC236}">
                <a16:creationId xmlns:a16="http://schemas.microsoft.com/office/drawing/2014/main" id="{1E8F03C9-81DF-453B-97A3-5D2C0550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1pdb6o_Folio">
            <a:extLst xmlns:a="http://schemas.openxmlformats.org/drawingml/2006/main">
              <a:ext uri="{FF2B5EF4-FFF2-40B4-BE49-F238E27FC236}">
                <a16:creationId xmlns:a16="http://schemas.microsoft.com/office/drawing/2014/main" id="{267C06A7-B00D-45BE-888A-A4A0069A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82226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2026-10-14T13:33:33.6330000Z</dcterms:created>
  <dcterms:modified xsi:type="dcterms:W3CDTF">2026-10-14T13:33:33.6330000Z</dcterms:modified>
</coreProperties>
</file>