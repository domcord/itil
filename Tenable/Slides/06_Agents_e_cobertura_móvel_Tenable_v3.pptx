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2d9a93119849cc" /><Relationship Type="http://schemas.openxmlformats.org/officeDocument/2006/relationships/extended-properties" Target="/docProps/app.xml" Id="R237fa4990b834242" /><Relationship Type="http://schemas.openxmlformats.org/officeDocument/2006/relationships/officeDocument" Target="/ppt/presentation.xml" Id="R9d56d0f6de4d4f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01f0b6008041e6"/>
  </p:sldMasterIdLst>
  <p:notesMasterIdLst>
    <p:notesMasterId xmlns:r="http://schemas.openxmlformats.org/officeDocument/2006/relationships" r:id="Ra7215bae48ad4d26"/>
  </p:notesMasterIdLst>
  <p:sldIdLst>
    <p:sldId xmlns:r="http://schemas.openxmlformats.org/officeDocument/2006/relationships" id="256" r:id="R03465143b8914460"/>
    <p:sldId xmlns:r="http://schemas.openxmlformats.org/officeDocument/2006/relationships" id="257" r:id="Rfb166bf6451747e6"/>
    <p:sldId xmlns:r="http://schemas.openxmlformats.org/officeDocument/2006/relationships" id="258" r:id="R172c05733bb7459f"/>
    <p:sldId xmlns:r="http://schemas.openxmlformats.org/officeDocument/2006/relationships" id="259" r:id="R1db96995f57e49c0"/>
    <p:sldId xmlns:r="http://schemas.openxmlformats.org/officeDocument/2006/relationships" id="260" r:id="Rb60dff33e7d5413a"/>
    <p:sldId xmlns:r="http://schemas.openxmlformats.org/officeDocument/2006/relationships" id="261" r:id="Ra0734ca407e946ab"/>
    <p:sldId xmlns:r="http://schemas.openxmlformats.org/officeDocument/2006/relationships" id="262" r:id="R3b69b6f6a2ba4dd2"/>
    <p:sldId xmlns:r="http://schemas.openxmlformats.org/officeDocument/2006/relationships" id="263" r:id="Ra338f8265edc46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7fcdf5c0b24904" /><Relationship Type="http://schemas.openxmlformats.org/officeDocument/2006/relationships/slideMaster" Target="/ppt/slideMasters/slideMaster1.xml" Id="R8801f0b6008041e6" /><Relationship Type="http://schemas.openxmlformats.org/officeDocument/2006/relationships/notesMaster" Target="/ppt/notesMasters/notesMaster1.xml" Id="Ra7215bae48ad4d26" /><Relationship Type="http://schemas.openxmlformats.org/officeDocument/2006/relationships/presProps" Target="/ppt/presProps.xml" Id="R7de7d7bd8f314a26" /><Relationship Type="http://schemas.openxmlformats.org/officeDocument/2006/relationships/tableStyles" Target="/ppt/tableStyles.xml" Id="R67117d1636e845fc" /><Relationship Type="http://schemas.openxmlformats.org/officeDocument/2006/relationships/slide" Target="/ppt/slides/slide1.xml" Id="R03465143b8914460" /><Relationship Type="http://schemas.openxmlformats.org/officeDocument/2006/relationships/slide" Target="/ppt/slides/slide2.xml" Id="Rfb166bf6451747e6" /><Relationship Type="http://schemas.openxmlformats.org/officeDocument/2006/relationships/slide" Target="/ppt/slides/slide3.xml" Id="R172c05733bb7459f" /><Relationship Type="http://schemas.openxmlformats.org/officeDocument/2006/relationships/slide" Target="/ppt/slides/slide4.xml" Id="R1db96995f57e49c0" /><Relationship Type="http://schemas.openxmlformats.org/officeDocument/2006/relationships/slide" Target="/ppt/slides/slide5.xml" Id="Rb60dff33e7d5413a" /><Relationship Type="http://schemas.openxmlformats.org/officeDocument/2006/relationships/slide" Target="/ppt/slides/slide6.xml" Id="Ra0734ca407e946ab" /><Relationship Type="http://schemas.openxmlformats.org/officeDocument/2006/relationships/slide" Target="/ppt/slides/slide7.xml" Id="R3b69b6f6a2ba4dd2" /><Relationship Type="http://schemas.openxmlformats.org/officeDocument/2006/relationships/slide" Target="/ppt/slides/slide8.xml" Id="Ra338f8265edc46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0347e8336e46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64ee3e793d4511" /><Relationship Type="http://schemas.openxmlformats.org/officeDocument/2006/relationships/notesMaster" Target="/ppt/notesMasters/notesMaster1.xml" Id="Rfa7abb327ff04d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8b2b9a45b14da6" /><Relationship Type="http://schemas.openxmlformats.org/officeDocument/2006/relationships/notesMaster" Target="/ppt/notesMasters/notesMaster1.xml" Id="R80cb46a58f5d46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69a950bd944de8" /><Relationship Type="http://schemas.openxmlformats.org/officeDocument/2006/relationships/notesMaster" Target="/ppt/notesMasters/notesMaster1.xml" Id="R0d2a7f74ddde44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88171efc334474" /><Relationship Type="http://schemas.openxmlformats.org/officeDocument/2006/relationships/notesMaster" Target="/ppt/notesMasters/notesMaster1.xml" Id="Red88ca69b12744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33ce9a9d5e4ed8" /><Relationship Type="http://schemas.openxmlformats.org/officeDocument/2006/relationships/notesMaster" Target="/ppt/notesMasters/notesMaster1.xml" Id="R9dc2e7e581da49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1cb5bc00c64eb8" /><Relationship Type="http://schemas.openxmlformats.org/officeDocument/2006/relationships/notesMaster" Target="/ppt/notesMasters/notesMaster1.xml" Id="Rf9d506d84b164d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6c92b682b446e7" /><Relationship Type="http://schemas.openxmlformats.org/officeDocument/2006/relationships/notesMaster" Target="/ppt/notesMasters/notesMaster1.xml" Id="R4092c741719d4e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a586fd33004b36" /><Relationship Type="http://schemas.openxmlformats.org/officeDocument/2006/relationships/notesMaster" Target="/ppt/notesMasters/notesMaster1.xml" Id="Rb94f2937f874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Escolher a modalidade de scan de agents e interpretar vínculo, execução e envio.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notebook fora da rede corporativa pode executar checks locais conforme a modalidade configurada. O envio depende da comunicação posterior com o gerenciador.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F31: Agents</a:t>
            </a:r>
          </a:p>
          <a:p xmlns:a="http://schemas.openxmlformats.org/drawingml/2006/main">
            <a:r>
              <a:t>https://docs.tenable.com/vulnerability-management/Content/Settings/Sensors/Agents.htm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instalado, vinculado, comunicado, executado e enviado. Esses estados não são equivalentes.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F12: Agent CLI</a:t>
            </a:r>
          </a:p>
          <a:p xmlns:a="http://schemas.openxmlformats.org/drawingml/2006/main">
            <a:r>
              <a:t>https://docs.tenable.com/agent/10_8/Content/NessusCLIAgent.htm</a:t>
            </a:r>
          </a:p>
          <a:p xmlns:a="http://schemas.openxmlformats.org/drawingml/2006/main">
            <a:r>
              <a:t>Data: sem data comprovada. guia versionado 10.8,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F06: Sensors</a:t>
            </a:r>
          </a:p>
          <a:p xmlns:a="http://schemas.openxmlformats.org/drawingml/2006/main">
            <a:r>
              <a:t>https://docs.tenable.com/vulnerability-management/Content/Settings/Sensors/ViewSensors.htm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confundir a duração da janela com a garantia de participação de todos os agents. Validar quais hosts efetivamente forneceram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F32: Triggered Agent Scans</a:t>
            </a:r>
          </a:p>
          <a:p xmlns:a="http://schemas.openxmlformats.org/drawingml/2006/main">
            <a:r>
              <a:t>https://docs.tenable.com/vulnerability-management/Content/Scans/TriggeredAgentScans.htm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Triggered scans oferecem independência em relação ao lançamento de uma janela pela plataforma. O guia limita a aceitação de dados antigos. Conferir o valor atual antes de memorizar limites.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F32: Triggered Agent Scans</a:t>
            </a:r>
          </a:p>
          <a:p xmlns:a="http://schemas.openxmlformats.org/drawingml/2006/main">
            <a:r>
              <a:t>https://docs.tenable.com/vulnerability-management/Content/Scans/TriggeredAgentScans.htm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documentação recomenda window scans quando é necessário exportar resultados individuais. Para triggered scans, a exportação de vulnerabilidades utiliza a API de bulk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F32: Triggered Agent Scans</a:t>
            </a:r>
          </a:p>
          <a:p xmlns:a="http://schemas.openxmlformats.org/drawingml/2006/main">
            <a:r>
              <a:t>https://docs.tenable.com/vulnerability-management/Content/Scans/TriggeredAgentScans.htm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Atualização datada de 06/10/2026: health Offline para agents sem check-in por 72 horas. Estudar como atualização de produto. A publicação não comprova que o assunto será cobrado no exame.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F44: VM 2026 Release Notes</a:t>
            </a:r>
          </a:p>
          <a:p xmlns:a="http://schemas.openxmlformats.org/drawingml/2006/main">
            <a:r>
              <a:t>https://docs.tenable.com/release-notes/Content/vulnerability-management/2026.htm</a:t>
            </a:r>
          </a:p>
          <a:p xmlns:a="http://schemas.openxmlformats.org/drawingml/2006/main">
            <a:r>
              <a:t>Data: 2026-10-06. última entrada observada, até o corte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F12: Agent CLI</a:t>
            </a:r>
          </a:p>
          <a:p xmlns:a="http://schemas.openxmlformats.org/drawingml/2006/main">
            <a:r>
              <a:t>https://docs.tenable.com/agent/10_8/Content/NessusCLIAgent.htm</a:t>
            </a:r>
          </a:p>
          <a:p xmlns:a="http://schemas.openxmlformats.org/drawingml/2006/main">
            <a:r>
              <a:t>Data: sem data comprovada. guia versionado 10.8,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L06. Sem console, escolher modalidade para três perfis de disponibilidade. Com console, conferir um agent do laboratório e seu histórico. Nunca usar reset como primeiro passo sem diagnóstico.</a:t>
            </a:r>
          </a:p>
          <a:p xmlns:a="http://schemas.openxmlformats.org/drawingml/2006/main">
            <a:r>
              <a:t>Material local de apoio: L02 páginas PDF 339, 340, 1300. L03 itens 3. L01 itens 33, 41. Triggered versus window e execução local. Offline exige condições documentadas e envio posterior.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 conteúdo consultadas em 09/10/2026:</a:t>
            </a:r>
          </a:p>
          <a:p xmlns:a="http://schemas.openxmlformats.org/drawingml/2006/main">
            <a:r>
              <a:t>F12: Agent CLI</a:t>
            </a:r>
          </a:p>
          <a:p xmlns:a="http://schemas.openxmlformats.org/drawingml/2006/main">
            <a:r>
              <a:t>https://docs.tenable.com/agent/10_8/Content/NessusCLIAgent.htm</a:t>
            </a:r>
          </a:p>
          <a:p xmlns:a="http://schemas.openxmlformats.org/drawingml/2006/main">
            <a:r>
              <a:t>Data: sem data comprovada. guia versionado 10.8,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F31: Agents</a:t>
            </a:r>
          </a:p>
          <a:p xmlns:a="http://schemas.openxmlformats.org/drawingml/2006/main">
            <a:r>
              <a:t>https://docs.tenable.com/vulnerability-management/Content/Settings/Sensors/Agents.htm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F32: Triggered Agent Scans</a:t>
            </a:r>
          </a:p>
          <a:p xmlns:a="http://schemas.openxmlformats.org/drawingml/2006/main">
            <a:r>
              <a:t>https://docs.tenable.com/vulnerability-management/Content/Scans/TriggeredAgentScans.htm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5f7fe0c2e43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d87f6aa5f41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626d5d90947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7684b0b204f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423992dd542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e93f4e5f449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7B6648-84D5-40DA-A5E9-5BB7027E75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735EF5-3DCF-47E1-BC5B-ABF28D6AEE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1F57A0-1483-4D53-AD7C-DF5DB426AC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BA1934-6BBC-4046-8DB2-42D92E41A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B51348-A89B-4D3B-A19E-D45B5CEE1B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975A0E-55F4-4D54-9D71-9DE3190DAD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C5C798-FCB0-4470-8D0B-B85FA764C6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5B106D-74FF-4A18-99BB-D292437466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9D8E43-8400-4314-85C0-A7489785B7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E31403-E12C-450D-A476-7A574D1790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681dc536554239" /><Relationship Type="http://schemas.openxmlformats.org/officeDocument/2006/relationships/slideLayout" Target="/ppt/slideLayouts/slideLayout1.xml" Id="Reeed26e9910446a8" /><Relationship Type="http://schemas.openxmlformats.org/officeDocument/2006/relationships/slideLayout" Target="/ppt/slideLayouts/slideLayout2.xml" Id="Rdf1ff73937014e13" /><Relationship Type="http://schemas.openxmlformats.org/officeDocument/2006/relationships/slideLayout" Target="/ppt/slideLayouts/slideLayout3.xml" Id="R7e9fcb1a16e54d5d" /><Relationship Type="http://schemas.openxmlformats.org/officeDocument/2006/relationships/slideLayout" Target="/ppt/slideLayouts/slideLayout4.xml" Id="Rbc785007e34d4c11" /><Relationship Type="http://schemas.openxmlformats.org/officeDocument/2006/relationships/slideLayout" Target="/ppt/slideLayouts/slideLayout5.xml" Id="R4b8817a3a9634e80" /><Relationship Type="http://schemas.openxmlformats.org/officeDocument/2006/relationships/slideLayout" Target="/ppt/slideLayouts/slideLayout6.xml" Id="R4fba0ad9871741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ed26e9910446a8"/>
    <p:sldLayoutId xmlns:r="http://schemas.openxmlformats.org/officeDocument/2006/relationships" id="2147483650" r:id="Rdf1ff73937014e13"/>
    <p:sldLayoutId xmlns:r="http://schemas.openxmlformats.org/officeDocument/2006/relationships" id="2147483651" r:id="R7e9fcb1a16e54d5d"/>
    <p:sldLayoutId xmlns:r="http://schemas.openxmlformats.org/officeDocument/2006/relationships" id="2147483652" r:id="Rbc785007e34d4c11"/>
    <p:sldLayoutId xmlns:r="http://schemas.openxmlformats.org/officeDocument/2006/relationships" id="2147483653" r:id="R4b8817a3a9634e80"/>
    <p:sldLayoutId xmlns:r="http://schemas.openxmlformats.org/officeDocument/2006/relationships" id="2147483654" r:id="R4fba0ad9871741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801041190843e0" /><Relationship Type="http://schemas.openxmlformats.org/officeDocument/2006/relationships/notesSlide" Target="/ppt/notesSlides/notesSlide1.xml" Id="R29ef73336a0846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7846b1d4484508" /><Relationship Type="http://schemas.openxmlformats.org/officeDocument/2006/relationships/notesSlide" Target="/ppt/notesSlides/notesSlide2.xml" Id="Rd80d36e2190d4e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c10dac4ea4a96" /><Relationship Type="http://schemas.openxmlformats.org/officeDocument/2006/relationships/notesSlide" Target="/ppt/notesSlides/notesSlide3.xml" Id="R97b2960b274f42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adccae2694752" /><Relationship Type="http://schemas.openxmlformats.org/officeDocument/2006/relationships/notesSlide" Target="/ppt/notesSlides/notesSlide4.xml" Id="R7d8078c7f282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fd8d454db4b5d" /><Relationship Type="http://schemas.openxmlformats.org/officeDocument/2006/relationships/notesSlide" Target="/ppt/notesSlides/notesSlide5.xml" Id="R9e716acc4f754d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de14c19ef4553" /><Relationship Type="http://schemas.openxmlformats.org/officeDocument/2006/relationships/notesSlide" Target="/ppt/notesSlides/notesSlide6.xml" Id="R6b08e5e4352a4a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0b5a2a91d4c65" /><Relationship Type="http://schemas.openxmlformats.org/officeDocument/2006/relationships/notesSlide" Target="/ppt/notesSlides/notesSlide7.xml" Id="R5cc916e0769e40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44d486b32f4b10" /><Relationship Type="http://schemas.openxmlformats.org/officeDocument/2006/relationships/notesSlide" Target="/ppt/notesSlides/notesSlide8.xml" Id="Rf15a8165e98d4961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264B"/>
            </a:gs>
            <a:gs pos="100000">
              <a:srgbClr val="006FC6"/>
            </a:gs>
          </a:gsLst>
          <a:lin ang="1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t314a_Section">
            <a:extLst xmlns:a="http://schemas.openxmlformats.org/drawingml/2006/main">
              <a:ext uri="{FF2B5EF4-FFF2-40B4-BE49-F238E27FC236}">
                <a16:creationId xmlns:a16="http://schemas.microsoft.com/office/drawing/2014/main" id="{066144E5-8F6F-4EDE-9B0C-0A34140D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3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4D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DDFF"/>
                </a:solidFill>
                <a:latin typeface="Arial"/>
                <a:ea typeface="Arial"/>
                <a:cs typeface="Arial"/>
              </a:rPr>
              <a:t>TEMA 06</a:t>
            </a:r>
          </a:p>
        </p:txBody>
      </p:sp>
      <p:sp>
        <p:nvSpPr>
          <p:cNvPr id="2" name="ct314a_Title">
            <a:extLst xmlns:a="http://schemas.openxmlformats.org/drawingml/2006/main">
              <a:ext uri="{FF2B5EF4-FFF2-40B4-BE49-F238E27FC236}">
                <a16:creationId xmlns:a16="http://schemas.microsoft.com/office/drawing/2014/main" id="{AD85E5CB-39BC-4241-BC4F-F5E07869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439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Agents e cobertura móvel</a:t>
            </a:r>
          </a:p>
        </p:txBody>
      </p:sp>
      <p:sp>
        <p:nvSpPr>
          <p:cNvPr id="3" name="ct314a_Subtitle">
            <a:extLst xmlns:a="http://schemas.openxmlformats.org/drawingml/2006/main">
              <a:ext uri="{FF2B5EF4-FFF2-40B4-BE49-F238E27FC236}">
                <a16:creationId xmlns:a16="http://schemas.microsoft.com/office/drawing/2014/main" id="{7D0D86BD-A074-4A98-9325-438FE85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DF6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F6FF"/>
                </a:solidFill>
                <a:latin typeface="Arial"/>
                <a:ea typeface="Arial"/>
                <a:cs typeface="Arial"/>
              </a:rPr>
              <a:t>Escolher a modalidade de scan de agents e interpretar vínculo, execução e envio.</a:t>
            </a:r>
          </a:p>
        </p:txBody>
      </p:sp>
      <p:sp>
        <p:nvSpPr>
          <p:cNvPr id="4" name="ct314a_Schedule">
            <a:extLst xmlns:a="http://schemas.openxmlformats.org/drawingml/2006/main">
              <a:ext uri="{FF2B5EF4-FFF2-40B4-BE49-F238E27FC236}">
                <a16:creationId xmlns:a16="http://schemas.microsoft.com/office/drawing/2014/main" id="{EFBEDE97-9A72-4CAA-912C-62A943EB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439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Semana 6 de estudo</a:t>
            </a:r>
          </a:p>
          <a:p xmlns:a="http://schemas.openxmlformats.org/drawingml/2006/main">
            <a:pPr>
              <a:defRPr sz="1875" b="0">
                <a:solidFill>
                  <a:srgbClr val="D7E9F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9FB"/>
                </a:solidFill>
                <a:latin typeface="Arial"/>
                <a:ea typeface="Arial"/>
                <a:cs typeface="Arial"/>
              </a:rPr>
              <a:t>Installation / Vulnerability Assessment</a:t>
            </a:r>
          </a:p>
        </p:txBody>
      </p:sp>
      <p:sp>
        <p:nvSpPr>
          <p:cNvPr id="5" name="ct314a_Footer">
            <a:extLst xmlns:a="http://schemas.openxmlformats.org/drawingml/2006/main">
              <a:ext uri="{FF2B5EF4-FFF2-40B4-BE49-F238E27FC236}">
                <a16:creationId xmlns:a16="http://schemas.microsoft.com/office/drawing/2014/main" id="{31938BC0-98F7-4216-9B76-68CDAB62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E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EE"/>
                </a:solidFill>
                <a:latin typeface="Arial"/>
                <a:ea typeface="Arial"/>
                <a:cs typeface="Arial"/>
              </a:rPr>
              <a:t>Tenable Vulnerability Management   /   Written Exam</a:t>
            </a:r>
          </a:p>
        </p:txBody>
      </p:sp>
    </p:spTree>
    <p:extLst>
      <p:ext uri="{BB962C8B-B14F-4D97-AF65-F5344CB8AC3E}">
        <p14:creationId xmlns:p14="http://schemas.microsoft.com/office/powerpoint/2010/main" val="587084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9fo889_Section">
            <a:extLst xmlns:a="http://schemas.openxmlformats.org/drawingml/2006/main">
              <a:ext uri="{FF2B5EF4-FFF2-40B4-BE49-F238E27FC236}">
                <a16:creationId xmlns:a16="http://schemas.microsoft.com/office/drawing/2014/main" id="{13B70017-5AB8-444E-947C-C3E0DFD1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06</a:t>
            </a:r>
          </a:p>
        </p:txBody>
      </p:sp>
      <p:sp>
        <p:nvSpPr>
          <p:cNvPr id="2" name="9fo889_Title">
            <a:extLst xmlns:a="http://schemas.openxmlformats.org/drawingml/2006/main">
              <a:ext uri="{FF2B5EF4-FFF2-40B4-BE49-F238E27FC236}">
                <a16:creationId xmlns:a16="http://schemas.microsoft.com/office/drawing/2014/main" id="{368AAFBF-3ECF-4254-B754-3DF27CE4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Avaliação local do host</a:t>
            </a:r>
          </a:p>
        </p:txBody>
      </p:sp>
      <p:sp>
        <p:nvSpPr>
          <p:cNvPr id="3" name="9fo889_Body_1">
            <a:extLst xmlns:a="http://schemas.openxmlformats.org/drawingml/2006/main">
              <a:ext uri="{FF2B5EF4-FFF2-40B4-BE49-F238E27FC236}">
                <a16:creationId xmlns:a16="http://schemas.microsoft.com/office/drawing/2014/main" id="{789DB39E-E06E-4FDD-858F-9BD18550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agent utiliza CPU e memória do próprio host.</a:t>
            </a:r>
          </a:p>
        </p:txBody>
      </p:sp>
      <p:sp>
        <p:nvSpPr>
          <p:cNvPr id="4" name="9fo889_Body_2">
            <a:extLst xmlns:a="http://schemas.openxmlformats.org/drawingml/2006/main">
              <a:ext uri="{FF2B5EF4-FFF2-40B4-BE49-F238E27FC236}">
                <a16:creationId xmlns:a16="http://schemas.microsoft.com/office/drawing/2014/main" id="{027A1884-FB6B-4913-8EA1-C94CD962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host envia os resultados à plataforma.</a:t>
            </a:r>
          </a:p>
        </p:txBody>
      </p:sp>
      <p:sp>
        <p:nvSpPr>
          <p:cNvPr id="5" name="9fo889_Body_3">
            <a:extLst xmlns:a="http://schemas.openxmlformats.org/drawingml/2006/main">
              <a:ext uri="{FF2B5EF4-FFF2-40B4-BE49-F238E27FC236}">
                <a16:creationId xmlns:a16="http://schemas.microsoft.com/office/drawing/2014/main" id="{7ECB361E-B49F-4E76-9F27-B7D2498F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avaliação local amplia cobertura de endpoints móveis.</a:t>
            </a:r>
          </a:p>
        </p:txBody>
      </p:sp>
      <p:sp>
        <p:nvSpPr>
          <p:cNvPr id="6" name="9fo889_Body_4">
            <a:extLst xmlns:a="http://schemas.openxmlformats.org/drawingml/2006/main">
              <a:ext uri="{FF2B5EF4-FFF2-40B4-BE49-F238E27FC236}">
                <a16:creationId xmlns:a16="http://schemas.microsoft.com/office/drawing/2014/main" id="{E0C5A854-1F4E-456E-A124-93FEF5B3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visão remota de serviços continua relevante.</a:t>
            </a:r>
          </a:p>
        </p:txBody>
      </p:sp>
      <p:sp>
        <p:nvSpPr>
          <p:cNvPr id="7" name="9fo889_Footer">
            <a:extLst xmlns:a="http://schemas.openxmlformats.org/drawingml/2006/main">
              <a:ext uri="{FF2B5EF4-FFF2-40B4-BE49-F238E27FC236}">
                <a16:creationId xmlns:a16="http://schemas.microsoft.com/office/drawing/2014/main" id="{67840548-1A4F-4238-90C3-002E51E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9fo889_Folio">
            <a:extLst xmlns:a="http://schemas.openxmlformats.org/drawingml/2006/main">
              <a:ext uri="{FF2B5EF4-FFF2-40B4-BE49-F238E27FC236}">
                <a16:creationId xmlns:a16="http://schemas.microsoft.com/office/drawing/2014/main" id="{86A3D877-81F6-4D4A-A34D-368B4FBA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9775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3jn66_Section">
            <a:extLst xmlns:a="http://schemas.openxmlformats.org/drawingml/2006/main">
              <a:ext uri="{FF2B5EF4-FFF2-40B4-BE49-F238E27FC236}">
                <a16:creationId xmlns:a16="http://schemas.microsoft.com/office/drawing/2014/main" id="{B1AE3865-D7ED-4897-8635-56CA687E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06</a:t>
            </a:r>
          </a:p>
        </p:txBody>
      </p:sp>
      <p:sp>
        <p:nvSpPr>
          <p:cNvPr id="2" name="p3jn66_Title">
            <a:extLst xmlns:a="http://schemas.openxmlformats.org/drawingml/2006/main">
              <a:ext uri="{FF2B5EF4-FFF2-40B4-BE49-F238E27FC236}">
                <a16:creationId xmlns:a16="http://schemas.microsoft.com/office/drawing/2014/main" id="{FDFDDEE8-70E8-4FF0-A1C4-A9A7DDF5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Link, grupos e status</a:t>
            </a:r>
          </a:p>
        </p:txBody>
      </p:sp>
      <p:sp>
        <p:nvSpPr>
          <p:cNvPr id="3" name="p3jn66_Body_1">
            <a:extLst xmlns:a="http://schemas.openxmlformats.org/drawingml/2006/main">
              <a:ext uri="{FF2B5EF4-FFF2-40B4-BE49-F238E27FC236}">
                <a16:creationId xmlns:a16="http://schemas.microsoft.com/office/drawing/2014/main" id="{A0A0B129-EBAF-4B3A-AE5C-9B4A974B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Linking key e endpoint associam o agent ao gerenciador.</a:t>
            </a:r>
          </a:p>
        </p:txBody>
      </p:sp>
      <p:sp>
        <p:nvSpPr>
          <p:cNvPr id="4" name="p3jn66_Body_2">
            <a:extLst xmlns:a="http://schemas.openxmlformats.org/drawingml/2006/main">
              <a:ext uri="{FF2B5EF4-FFF2-40B4-BE49-F238E27FC236}">
                <a16:creationId xmlns:a16="http://schemas.microsoft.com/office/drawing/2014/main" id="{B2D606F1-0430-44B8-B4D6-1D88872E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Agent groups organizam os participantes do scan.</a:t>
            </a:r>
          </a:p>
        </p:txBody>
      </p:sp>
      <p:sp>
        <p:nvSpPr>
          <p:cNvPr id="5" name="p3jn66_Body_3">
            <a:extLst xmlns:a="http://schemas.openxmlformats.org/drawingml/2006/main">
              <a:ext uri="{FF2B5EF4-FFF2-40B4-BE49-F238E27FC236}">
                <a16:creationId xmlns:a16="http://schemas.microsoft.com/office/drawing/2014/main" id="{986289B6-DACD-4D53-B47C-1EEDE737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Status local ajuda a confirmar serviço e vínculo.</a:t>
            </a:r>
          </a:p>
        </p:txBody>
      </p:sp>
      <p:sp>
        <p:nvSpPr>
          <p:cNvPr id="6" name="p3jn66_Body_4">
            <a:extLst xmlns:a="http://schemas.openxmlformats.org/drawingml/2006/main">
              <a:ext uri="{FF2B5EF4-FFF2-40B4-BE49-F238E27FC236}">
                <a16:creationId xmlns:a16="http://schemas.microsoft.com/office/drawing/2014/main" id="{0E574A5A-0513-4948-8FA2-9975BC47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Última comunicação e plugin set ajudam no diagnóstico.</a:t>
            </a:r>
          </a:p>
        </p:txBody>
      </p:sp>
      <p:sp>
        <p:nvSpPr>
          <p:cNvPr id="7" name="p3jn66_Footer">
            <a:extLst xmlns:a="http://schemas.openxmlformats.org/drawingml/2006/main">
              <a:ext uri="{FF2B5EF4-FFF2-40B4-BE49-F238E27FC236}">
                <a16:creationId xmlns:a16="http://schemas.microsoft.com/office/drawing/2014/main" id="{929D87E8-B59E-4A41-85DF-DF1E15C1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p3jn66_Folio">
            <a:extLst xmlns:a="http://schemas.openxmlformats.org/drawingml/2006/main">
              <a:ext uri="{FF2B5EF4-FFF2-40B4-BE49-F238E27FC236}">
                <a16:creationId xmlns:a16="http://schemas.microsoft.com/office/drawing/2014/main" id="{BD0BB9C1-D0D7-4843-9F43-518BBA1D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8615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191pjg_Section">
            <a:extLst xmlns:a="http://schemas.openxmlformats.org/drawingml/2006/main">
              <a:ext uri="{FF2B5EF4-FFF2-40B4-BE49-F238E27FC236}">
                <a16:creationId xmlns:a16="http://schemas.microsoft.com/office/drawing/2014/main" id="{68629CC4-AE18-4CB4-A024-07C0D0B2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06</a:t>
            </a:r>
          </a:p>
        </p:txBody>
      </p:sp>
      <p:sp>
        <p:nvSpPr>
          <p:cNvPr id="2" name="191pjg_Title">
            <a:extLst xmlns:a="http://schemas.openxmlformats.org/drawingml/2006/main">
              <a:ext uri="{FF2B5EF4-FFF2-40B4-BE49-F238E27FC236}">
                <a16:creationId xmlns:a16="http://schemas.microsoft.com/office/drawing/2014/main" id="{09E89B1F-37ED-4A58-882E-0E0F8E74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Scan Window</a:t>
            </a:r>
          </a:p>
        </p:txBody>
      </p:sp>
      <p:sp>
        <p:nvSpPr>
          <p:cNvPr id="3" name="191pjg_Body_1">
            <a:extLst xmlns:a="http://schemas.openxmlformats.org/drawingml/2006/main">
              <a:ext uri="{FF2B5EF4-FFF2-40B4-BE49-F238E27FC236}">
                <a16:creationId xmlns:a16="http://schemas.microsoft.com/office/drawing/2014/main" id="{3D2ADAC3-E7A3-4762-88E1-F52C091A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janela define o período para o grupo reportar.</a:t>
            </a:r>
          </a:p>
        </p:txBody>
      </p:sp>
      <p:sp>
        <p:nvSpPr>
          <p:cNvPr id="4" name="191pjg_Body_2">
            <a:extLst xmlns:a="http://schemas.openxmlformats.org/drawingml/2006/main">
              <a:ext uri="{FF2B5EF4-FFF2-40B4-BE49-F238E27FC236}">
                <a16:creationId xmlns:a16="http://schemas.microsoft.com/office/drawing/2014/main" id="{18D4295C-4ED6-4E99-802E-13A59B0E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plataforma ou o usuário inicia a janela.</a:t>
            </a:r>
          </a:p>
        </p:txBody>
      </p:sp>
      <p:sp>
        <p:nvSpPr>
          <p:cNvPr id="5" name="191pjg_Body_3">
            <a:extLst xmlns:a="http://schemas.openxmlformats.org/drawingml/2006/main">
              <a:ext uri="{FF2B5EF4-FFF2-40B4-BE49-F238E27FC236}">
                <a16:creationId xmlns:a16="http://schemas.microsoft.com/office/drawing/2014/main" id="{70F12E7F-C967-4786-83E7-529964B8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Endpoints indisponíveis podem criar lacunas.</a:t>
            </a:r>
          </a:p>
        </p:txBody>
      </p:sp>
      <p:sp>
        <p:nvSpPr>
          <p:cNvPr id="6" name="191pjg_Body_4">
            <a:extLst xmlns:a="http://schemas.openxmlformats.org/drawingml/2006/main">
              <a:ext uri="{FF2B5EF4-FFF2-40B4-BE49-F238E27FC236}">
                <a16:creationId xmlns:a16="http://schemas.microsoft.com/office/drawing/2014/main" id="{97D99DE6-FD5F-413D-8427-50E6445F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disponibilidade do grupo orienta duração e horário.</a:t>
            </a:r>
          </a:p>
        </p:txBody>
      </p:sp>
      <p:sp>
        <p:nvSpPr>
          <p:cNvPr id="7" name="191pjg_Footer">
            <a:extLst xmlns:a="http://schemas.openxmlformats.org/drawingml/2006/main">
              <a:ext uri="{FF2B5EF4-FFF2-40B4-BE49-F238E27FC236}">
                <a16:creationId xmlns:a16="http://schemas.microsoft.com/office/drawing/2014/main" id="{AF6B7215-B99C-4150-ADAF-3B8025DD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191pjg_Folio">
            <a:extLst xmlns:a="http://schemas.openxmlformats.org/drawingml/2006/main">
              <a:ext uri="{FF2B5EF4-FFF2-40B4-BE49-F238E27FC236}">
                <a16:creationId xmlns:a16="http://schemas.microsoft.com/office/drawing/2014/main" id="{8D8701AD-F9EB-4453-9ABC-DBB279E2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46803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13dg17_Section">
            <a:extLst xmlns:a="http://schemas.openxmlformats.org/drawingml/2006/main">
              <a:ext uri="{FF2B5EF4-FFF2-40B4-BE49-F238E27FC236}">
                <a16:creationId xmlns:a16="http://schemas.microsoft.com/office/drawing/2014/main" id="{2D423D31-ED16-4418-A48A-AFB5BEC3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06</a:t>
            </a:r>
          </a:p>
        </p:txBody>
      </p:sp>
      <p:sp>
        <p:nvSpPr>
          <p:cNvPr id="2" name="13dg17_Title">
            <a:extLst xmlns:a="http://schemas.openxmlformats.org/drawingml/2006/main">
              <a:ext uri="{FF2B5EF4-FFF2-40B4-BE49-F238E27FC236}">
                <a16:creationId xmlns:a16="http://schemas.microsoft.com/office/drawing/2014/main" id="{79B34AFF-0929-40DF-B016-F138BC52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Triggered Scan</a:t>
            </a:r>
          </a:p>
        </p:txBody>
      </p:sp>
      <p:sp>
        <p:nvSpPr>
          <p:cNvPr id="3" name="13dg17_Body_1">
            <a:extLst xmlns:a="http://schemas.openxmlformats.org/drawingml/2006/main">
              <a:ext uri="{FF2B5EF4-FFF2-40B4-BE49-F238E27FC236}">
                <a16:creationId xmlns:a16="http://schemas.microsoft.com/office/drawing/2014/main" id="{3171363F-8081-4896-A68F-4714FE88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O agent inicia a execução a partir de um trigger.</a:t>
            </a:r>
          </a:p>
        </p:txBody>
      </p:sp>
      <p:sp>
        <p:nvSpPr>
          <p:cNvPr id="4" name="13dg17_Body_2">
            <a:extLst xmlns:a="http://schemas.openxmlformats.org/drawingml/2006/main">
              <a:ext uri="{FF2B5EF4-FFF2-40B4-BE49-F238E27FC236}">
                <a16:creationId xmlns:a16="http://schemas.microsoft.com/office/drawing/2014/main" id="{9801ED4F-5D6D-469B-9146-E6F3AEC0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Triggers podem usar intervalo, arquivo ou nessuscli.</a:t>
            </a:r>
          </a:p>
        </p:txBody>
      </p:sp>
      <p:sp>
        <p:nvSpPr>
          <p:cNvPr id="5" name="13dg17_Body_3">
            <a:extLst xmlns:a="http://schemas.openxmlformats.org/drawingml/2006/main">
              <a:ext uri="{FF2B5EF4-FFF2-40B4-BE49-F238E27FC236}">
                <a16:creationId xmlns:a16="http://schemas.microsoft.com/office/drawing/2014/main" id="{DE149E95-0C04-4A4B-9C10-966AF77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Mobilidade e múltiplos fusos favorecem esse modelo.</a:t>
            </a:r>
          </a:p>
        </p:txBody>
      </p:sp>
      <p:sp>
        <p:nvSpPr>
          <p:cNvPr id="6" name="13dg17_Body_4">
            <a:extLst xmlns:a="http://schemas.openxmlformats.org/drawingml/2006/main">
              <a:ext uri="{FF2B5EF4-FFF2-40B4-BE49-F238E27FC236}">
                <a16:creationId xmlns:a16="http://schemas.microsoft.com/office/drawing/2014/main" id="{ADA42033-AAD4-4D65-81BA-7F07FD93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plataforma aceita os dados conforme as regras documentadas.</a:t>
            </a:r>
          </a:p>
        </p:txBody>
      </p:sp>
      <p:sp>
        <p:nvSpPr>
          <p:cNvPr id="7" name="13dg17_Footer">
            <a:extLst xmlns:a="http://schemas.openxmlformats.org/drawingml/2006/main">
              <a:ext uri="{FF2B5EF4-FFF2-40B4-BE49-F238E27FC236}">
                <a16:creationId xmlns:a16="http://schemas.microsoft.com/office/drawing/2014/main" id="{C6A8C641-DE34-4AE4-84AA-2A663F47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13dg17_Folio">
            <a:extLst xmlns:a="http://schemas.openxmlformats.org/drawingml/2006/main">
              <a:ext uri="{FF2B5EF4-FFF2-40B4-BE49-F238E27FC236}">
                <a16:creationId xmlns:a16="http://schemas.microsoft.com/office/drawing/2014/main" id="{B25AD390-2DD7-4B83-9761-7B7461BB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37585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ukw29_Section">
            <a:extLst xmlns:a="http://schemas.openxmlformats.org/drawingml/2006/main">
              <a:ext uri="{FF2B5EF4-FFF2-40B4-BE49-F238E27FC236}">
                <a16:creationId xmlns:a16="http://schemas.microsoft.com/office/drawing/2014/main" id="{711A988C-028F-4A7A-B4D4-8F44D813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06</a:t>
            </a:r>
          </a:p>
        </p:txBody>
      </p:sp>
      <p:sp>
        <p:nvSpPr>
          <p:cNvPr id="2" name="dukw29_Title">
            <a:extLst xmlns:a="http://schemas.openxmlformats.org/drawingml/2006/main">
              <a:ext uri="{FF2B5EF4-FFF2-40B4-BE49-F238E27FC236}">
                <a16:creationId xmlns:a16="http://schemas.microsoft.com/office/drawing/2014/main" id="{638C9D64-E527-47CA-8F81-E639B5A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Comparação de modalidades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5D57A-C9CD-40B9-A6AE-9A26673A2BDF}"/>
              </a:ext>
            </a:extLst>
          </p:cNvPr>
          <p:cNvGraphicFramePr/>
          <p:nvPr/>
        </p:nvGraphicFramePr>
        <p:xfrm>
          <a:off xmlns:a="http://schemas.openxmlformats.org/drawingml/2006/main" x="685800" y="2219325"/>
          <a:ext xmlns:a="http://schemas.openxmlformats.org/drawingml/2006/main" cx="10820400" cy="3352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19375"/>
                <a:gridCol w="3762375"/>
                <a:gridCol w="44386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Aspecto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Scan Window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Triggered Scan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006CC1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Início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Plataforma ou usuário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Trigger no agent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Participação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Período definido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Conforme ocorrência do trigger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Mobilidade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Exige atenção à janela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Maior flexibilidade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C54"/>
                          </a:solidFill>
                          <a:latin typeface="Arial"/>
                          <a:ea typeface="Arial"/>
                          <a:cs typeface="Arial"/>
                        </a:rPr>
                        <a:t>Exportação</a:t>
                      </a:r>
                    </a:p>
                  </a:txBody>
                  <a:tcPr marL="152400" marR="114300" marT="114300" marB="9525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Resultados individuais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B"/>
                          </a:solidFill>
                          <a:latin typeface="Arial"/>
                          <a:ea typeface="Arial"/>
                          <a:cs typeface="Arial"/>
                        </a:rPr>
                        <a:t>Bulk vulnerability export API</a:t>
                      </a:r>
                    </a:p>
                  </a:txBody>
                  <a:tcPr marL="152400" marR="114300" marT="114300" marB="95250" anchor="ctr">
                    <a:lnR w="9525">
                      <a:solidFill>
                        <a:srgbClr val="DCE4EC"/>
                      </a:solidFill>
                      <a:prstDash val="solid"/>
                    </a:lnR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4" name="dukw29_Footer">
            <a:extLst xmlns:a="http://schemas.openxmlformats.org/drawingml/2006/main">
              <a:ext uri="{FF2B5EF4-FFF2-40B4-BE49-F238E27FC236}">
                <a16:creationId xmlns:a16="http://schemas.microsoft.com/office/drawing/2014/main" id="{7B0F24C0-1967-4D2E-B770-64A4F1E1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5" name="dukw29_Folio">
            <a:extLst xmlns:a="http://schemas.openxmlformats.org/drawingml/2006/main">
              <a:ext uri="{FF2B5EF4-FFF2-40B4-BE49-F238E27FC236}">
                <a16:creationId xmlns:a16="http://schemas.microsoft.com/office/drawing/2014/main" id="{E95E717C-055B-4232-A03D-C31CCF44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799219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gucy_Section">
            <a:extLst xmlns:a="http://schemas.openxmlformats.org/drawingml/2006/main">
              <a:ext uri="{FF2B5EF4-FFF2-40B4-BE49-F238E27FC236}">
                <a16:creationId xmlns:a16="http://schemas.microsoft.com/office/drawing/2014/main" id="{05977B39-62E6-462B-BE1F-FE9B2DB7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06</a:t>
            </a:r>
          </a:p>
        </p:txBody>
      </p:sp>
      <p:sp>
        <p:nvSpPr>
          <p:cNvPr id="2" name="brgucy_Title">
            <a:extLst xmlns:a="http://schemas.openxmlformats.org/drawingml/2006/main">
              <a:ext uri="{FF2B5EF4-FFF2-40B4-BE49-F238E27FC236}">
                <a16:creationId xmlns:a16="http://schemas.microsoft.com/office/drawing/2014/main" id="{6B496CB3-7E7C-4B01-A1C0-AF00757F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Saúde e evolução do produto</a:t>
            </a:r>
          </a:p>
        </p:txBody>
      </p:sp>
      <p:sp>
        <p:nvSpPr>
          <p:cNvPr id="3" name="brgucy_Body_1">
            <a:extLst xmlns:a="http://schemas.openxmlformats.org/drawingml/2006/main">
              <a:ext uri="{FF2B5EF4-FFF2-40B4-BE49-F238E27FC236}">
                <a16:creationId xmlns:a16="http://schemas.microsoft.com/office/drawing/2014/main" id="{7F5A8097-EA3F-4BA5-9BE5-FFD60E39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Check-in recente ajuda a avaliar comunicação.</a:t>
            </a:r>
          </a:p>
        </p:txBody>
      </p:sp>
      <p:sp>
        <p:nvSpPr>
          <p:cNvPr id="4" name="brgucy_Body_2">
            <a:extLst xmlns:a="http://schemas.openxmlformats.org/drawingml/2006/main">
              <a:ext uri="{FF2B5EF4-FFF2-40B4-BE49-F238E27FC236}">
                <a16:creationId xmlns:a16="http://schemas.microsoft.com/office/drawing/2014/main" id="{211DC46F-4C0B-4426-A5E3-67CE752B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Profiles controlam configurações aplicáveis aos agents.</a:t>
            </a:r>
          </a:p>
        </p:txBody>
      </p:sp>
      <p:sp>
        <p:nvSpPr>
          <p:cNvPr id="5" name="brgucy_Body_3">
            <a:extLst xmlns:a="http://schemas.openxmlformats.org/drawingml/2006/main">
              <a:ext uri="{FF2B5EF4-FFF2-40B4-BE49-F238E27FC236}">
                <a16:creationId xmlns:a16="http://schemas.microsoft.com/office/drawing/2014/main" id="{8756C1EE-CCE8-4E24-97E7-3C4E6C8C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Release notes registram mudanças de saúde e avaliação.</a:t>
            </a:r>
          </a:p>
        </p:txBody>
      </p:sp>
      <p:sp>
        <p:nvSpPr>
          <p:cNvPr id="6" name="brgucy_Body_4">
            <a:extLst xmlns:a="http://schemas.openxmlformats.org/drawingml/2006/main">
              <a:ext uri="{FF2B5EF4-FFF2-40B4-BE49-F238E27FC236}">
                <a16:creationId xmlns:a16="http://schemas.microsoft.com/office/drawing/2014/main" id="{9125BE95-AD1D-4B9B-9308-943A53FF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374B"/>
                </a:solidFill>
                <a:latin typeface="Arial"/>
                <a:ea typeface="Arial"/>
                <a:cs typeface="Arial"/>
              </a:rPr>
              <a:t>A função disponível depende da versão e do ambiente.</a:t>
            </a:r>
          </a:p>
        </p:txBody>
      </p:sp>
      <p:sp>
        <p:nvSpPr>
          <p:cNvPr id="7" name="brgucy_Footer">
            <a:extLst xmlns:a="http://schemas.openxmlformats.org/drawingml/2006/main">
              <a:ext uri="{FF2B5EF4-FFF2-40B4-BE49-F238E27FC236}">
                <a16:creationId xmlns:a16="http://schemas.microsoft.com/office/drawing/2014/main" id="{726E9647-C864-4C1C-96D5-31B939E1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brgucy_Folio">
            <a:extLst xmlns:a="http://schemas.openxmlformats.org/drawingml/2006/main">
              <a:ext uri="{FF2B5EF4-FFF2-40B4-BE49-F238E27FC236}">
                <a16:creationId xmlns:a16="http://schemas.microsoft.com/office/drawing/2014/main" id="{6F9681E6-095E-4410-8861-8A62ADA5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20822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1fgpc_Section">
            <a:extLst xmlns:a="http://schemas.openxmlformats.org/drawingml/2006/main">
              <a:ext uri="{FF2B5EF4-FFF2-40B4-BE49-F238E27FC236}">
                <a16:creationId xmlns:a16="http://schemas.microsoft.com/office/drawing/2014/main" id="{2B3DEC62-A8C5-4AF0-9432-C3B6A6B1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TENABLE VM  /  TEMA 06</a:t>
            </a:r>
          </a:p>
        </p:txBody>
      </p:sp>
      <p:sp>
        <p:nvSpPr>
          <p:cNvPr id="2" name="f1fgpc_Title">
            <a:extLst xmlns:a="http://schemas.openxmlformats.org/drawingml/2006/main">
              <a:ext uri="{FF2B5EF4-FFF2-40B4-BE49-F238E27FC236}">
                <a16:creationId xmlns:a16="http://schemas.microsoft.com/office/drawing/2014/main" id="{F2DD06E7-5BE3-40FD-9E41-42F07CB7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3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C5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54"/>
                </a:solidFill>
                <a:latin typeface="Arial"/>
                <a:ea typeface="Arial"/>
                <a:cs typeface="Arial"/>
              </a:rPr>
              <a:t>Laboratório de agents</a:t>
            </a:r>
          </a:p>
        </p:txBody>
      </p:sp>
      <p:sp>
        <p:nvSpPr>
          <p:cNvPr id="3" name="f1fgpc_Body_1">
            <a:extLst xmlns:a="http://schemas.openxmlformats.org/drawingml/2006/main">
              <a:ext uri="{FF2B5EF4-FFF2-40B4-BE49-F238E27FC236}">
                <a16:creationId xmlns:a16="http://schemas.microsoft.com/office/drawing/2014/main" id="{B1354548-CC8E-4D78-A350-FD1D62FB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Entrega:</a:t>
            </a:r>
            <a:r>
              <a:t> trilha instalado, vinculado, executado e enviado.</a:t>
            </a:r>
          </a:p>
        </p:txBody>
      </p:sp>
      <p:sp>
        <p:nvSpPr>
          <p:cNvPr id="4" name="f1fgpc_Body_2">
            <a:extLst xmlns:a="http://schemas.openxmlformats.org/drawingml/2006/main">
              <a:ext uri="{FF2B5EF4-FFF2-40B4-BE49-F238E27FC236}">
                <a16:creationId xmlns:a16="http://schemas.microsoft.com/office/drawing/2014/main" id="{5DC058F7-176D-4357-936E-F0AE71BF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Caso:</a:t>
            </a:r>
            <a:r>
              <a:t> notebooks deixam de participar de uma janela curta.</a:t>
            </a:r>
          </a:p>
        </p:txBody>
      </p:sp>
      <p:sp>
        <p:nvSpPr>
          <p:cNvPr id="5" name="f1fgpc_Body_3">
            <a:extLst xmlns:a="http://schemas.openxmlformats.org/drawingml/2006/main">
              <a:ext uri="{FF2B5EF4-FFF2-40B4-BE49-F238E27FC236}">
                <a16:creationId xmlns:a16="http://schemas.microsoft.com/office/drawing/2014/main" id="{B5FC2BE2-B652-4E08-B9E2-6AE039E7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Análise:</a:t>
            </a:r>
            <a:r>
              <a:t> modalidade, comunicação, grupos e resultado.</a:t>
            </a:r>
          </a:p>
        </p:txBody>
      </p:sp>
      <p:sp>
        <p:nvSpPr>
          <p:cNvPr id="6" name="f1fgpc_Body_4">
            <a:extLst xmlns:a="http://schemas.openxmlformats.org/drawingml/2006/main">
              <a:ext uri="{FF2B5EF4-FFF2-40B4-BE49-F238E27FC236}">
                <a16:creationId xmlns:a16="http://schemas.microsoft.com/office/drawing/2014/main" id="{48CC7958-C43A-41A6-9895-7876F3F6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439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3374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CC1"/>
                </a:solidFill>
              </a:rPr>
              <a:t>Simulado 06:</a:t>
            </a:r>
            <a:r>
              <a:t> 20 questões, 40 minutos.</a:t>
            </a:r>
          </a:p>
        </p:txBody>
      </p:sp>
      <p:sp>
        <p:nvSpPr>
          <p:cNvPr id="7" name="f1fgpc_Footer">
            <a:extLst xmlns:a="http://schemas.openxmlformats.org/drawingml/2006/main">
              <a:ext uri="{FF2B5EF4-FFF2-40B4-BE49-F238E27FC236}">
                <a16:creationId xmlns:a16="http://schemas.microsoft.com/office/drawing/2014/main" id="{627CECBA-2C30-4AE9-AFEA-45ABF6D8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4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489"/>
                </a:solidFill>
                <a:latin typeface="Arial"/>
                <a:ea typeface="Arial"/>
                <a:cs typeface="Arial"/>
              </a:rPr>
              <a:t>Tenable VM Specialist   /   Fontes e explicações nas notas</a:t>
            </a:r>
          </a:p>
        </p:txBody>
      </p:sp>
      <p:sp>
        <p:nvSpPr>
          <p:cNvPr id="8" name="f1fgpc_Folio">
            <a:extLst xmlns:a="http://schemas.openxmlformats.org/drawingml/2006/main">
              <a:ext uri="{FF2B5EF4-FFF2-40B4-BE49-F238E27FC236}">
                <a16:creationId xmlns:a16="http://schemas.microsoft.com/office/drawing/2014/main" id="{A90D38CE-9030-4912-A01C-C2F23B77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769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06CC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CC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07634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2026-10-14T13:34:04.9280000Z</dcterms:created>
  <dcterms:modified xsi:type="dcterms:W3CDTF">2026-10-14T13:34:04.9280000Z</dcterms:modified>
</coreProperties>
</file>