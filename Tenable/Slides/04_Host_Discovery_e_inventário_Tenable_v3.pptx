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b1959966f4321" /><Relationship Type="http://schemas.openxmlformats.org/officeDocument/2006/relationships/extended-properties" Target="/docProps/app.xml" Id="R03e1f1fffd7d4ed6" /><Relationship Type="http://schemas.openxmlformats.org/officeDocument/2006/relationships/officeDocument" Target="/ppt/presentation.xml" Id="Rd5b35d002512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ef4649f0041b6"/>
  </p:sldMasterIdLst>
  <p:notesMasterIdLst>
    <p:notesMasterId xmlns:r="http://schemas.openxmlformats.org/officeDocument/2006/relationships" r:id="R3708bd6081ee4e0b"/>
  </p:notesMasterIdLst>
  <p:sldIdLst>
    <p:sldId xmlns:r="http://schemas.openxmlformats.org/officeDocument/2006/relationships" id="256" r:id="R22248841542b4d9c"/>
    <p:sldId xmlns:r="http://schemas.openxmlformats.org/officeDocument/2006/relationships" id="257" r:id="Rdbfec4f7a0924e8a"/>
    <p:sldId xmlns:r="http://schemas.openxmlformats.org/officeDocument/2006/relationships" id="258" r:id="R6696983ebb774b21"/>
    <p:sldId xmlns:r="http://schemas.openxmlformats.org/officeDocument/2006/relationships" id="259" r:id="Re58f5124718244b5"/>
    <p:sldId xmlns:r="http://schemas.openxmlformats.org/officeDocument/2006/relationships" id="260" r:id="Rd709e3fc06024299"/>
    <p:sldId xmlns:r="http://schemas.openxmlformats.org/officeDocument/2006/relationships" id="261" r:id="R7e660d51cbe0468f"/>
    <p:sldId xmlns:r="http://schemas.openxmlformats.org/officeDocument/2006/relationships" id="262" r:id="Ra4c9f1a2e0b24195"/>
    <p:sldId xmlns:r="http://schemas.openxmlformats.org/officeDocument/2006/relationships" id="263" r:id="R3151fef12c5244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b89502716a4d29" /><Relationship Type="http://schemas.openxmlformats.org/officeDocument/2006/relationships/slideMaster" Target="/ppt/slideMasters/slideMaster1.xml" Id="R8eaef4649f0041b6" /><Relationship Type="http://schemas.openxmlformats.org/officeDocument/2006/relationships/notesMaster" Target="/ppt/notesMasters/notesMaster1.xml" Id="R3708bd6081ee4e0b" /><Relationship Type="http://schemas.openxmlformats.org/officeDocument/2006/relationships/presProps" Target="/ppt/presProps.xml" Id="R946a7ea496d24125" /><Relationship Type="http://schemas.openxmlformats.org/officeDocument/2006/relationships/tableStyles" Target="/ppt/tableStyles.xml" Id="Rc0fa87d7a3354ce7" /><Relationship Type="http://schemas.openxmlformats.org/officeDocument/2006/relationships/slide" Target="/ppt/slides/slide1.xml" Id="R22248841542b4d9c" /><Relationship Type="http://schemas.openxmlformats.org/officeDocument/2006/relationships/slide" Target="/ppt/slides/slide2.xml" Id="Rdbfec4f7a0924e8a" /><Relationship Type="http://schemas.openxmlformats.org/officeDocument/2006/relationships/slide" Target="/ppt/slides/slide3.xml" Id="R6696983ebb774b21" /><Relationship Type="http://schemas.openxmlformats.org/officeDocument/2006/relationships/slide" Target="/ppt/slides/slide4.xml" Id="Re58f5124718244b5" /><Relationship Type="http://schemas.openxmlformats.org/officeDocument/2006/relationships/slide" Target="/ppt/slides/slide5.xml" Id="Rd709e3fc06024299" /><Relationship Type="http://schemas.openxmlformats.org/officeDocument/2006/relationships/slide" Target="/ppt/slides/slide6.xml" Id="R7e660d51cbe0468f" /><Relationship Type="http://schemas.openxmlformats.org/officeDocument/2006/relationships/slide" Target="/ppt/slides/slide7.xml" Id="Ra4c9f1a2e0b24195" /><Relationship Type="http://schemas.openxmlformats.org/officeDocument/2006/relationships/slide" Target="/ppt/slides/slide8.xml" Id="R3151fef12c52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534146ba6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32a85f6f9418b" /><Relationship Type="http://schemas.openxmlformats.org/officeDocument/2006/relationships/notesMaster" Target="/ppt/notesMasters/notesMaster1.xml" Id="R06aeafed0f3a44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4d02818274fe5" /><Relationship Type="http://schemas.openxmlformats.org/officeDocument/2006/relationships/notesMaster" Target="/ppt/notesMasters/notesMaster1.xml" Id="R87feb4033273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8c6bf4280400b" /><Relationship Type="http://schemas.openxmlformats.org/officeDocument/2006/relationships/notesMaster" Target="/ppt/notesMasters/notesMaster1.xml" Id="Rf927274a3272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4d7315ed3e4d67" /><Relationship Type="http://schemas.openxmlformats.org/officeDocument/2006/relationships/notesMaster" Target="/ppt/notesMasters/notesMaster1.xml" Id="R121363ad3eb84a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77e2ff79f49dc" /><Relationship Type="http://schemas.openxmlformats.org/officeDocument/2006/relationships/notesMaster" Target="/ppt/notesMasters/notesMaster1.xml" Id="R35440b6fab92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df175afd4447a" /><Relationship Type="http://schemas.openxmlformats.org/officeDocument/2006/relationships/notesMaster" Target="/ppt/notesMasters/notesMaster1.xml" Id="Rb9ac20b513934a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5b357aae8c455b" /><Relationship Type="http://schemas.openxmlformats.org/officeDocument/2006/relationships/notesMaster" Target="/ppt/notesMasters/notesMaster1.xml" Id="R7ead957f34ec43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37e433d7849d2" /><Relationship Type="http://schemas.openxmlformats.org/officeDocument/2006/relationships/notesMaster" Target="/ppt/notesMasters/notesMaster1.xml" Id="Ra514b97ee194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Encontrar hosts, verificar a cobertura e interpretar as limitações da descoberta.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scan de discovery não equivale a uma avaliação completa de vulnerabilidades. Estabelecer quantos hosts eram esperados, como foram detectados e quais ficaram sem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autoral em laboratório: 192.0.2.0/28 como notação didática. Conferir targets antes de lançar. O bloco de documentação não é um alvo real de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escolha depende do segmento, filtros e objetivos. ARP utiliza a vizinhança de camada 2. Ausência de resposta a ICMP isoladamente não prova que o host esteja desligado.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autoral: serviço HTTPS na porta 8443 não aparece em um intervalo que a exclui. Ajustar uma política de teste e comparar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 Checks não garante ausência de impacto. O guia de tuning recomenda acompanhar desempenho dos alvos ao ajustar concorrência e timeouts.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e números autorais. 28/40 corresponde a 70% de cobertura observada, não a 70% de segurança. A evidência disponível não permite declarar os 12 hosts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L04. Registrar a posição do sensor, método, escopo e horário. Separar alcance do host, identificação do serviço e presença de vulnerabilidades.</a:t>
            </a:r>
          </a:p>
          <a:p xmlns:a="http://schemas.openxmlformats.org/drawingml/2006/main">
            <a:r>
              <a:t>Material local de apoio: L02 páginas PDF 287, 288, 293, 294. L03 itens 23, 24, 26, 30, 31, 32. L01 itens 11, 31, 39. Escopo, discovery e inventário. Resolução DNS sozinha não comprova host ativo.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42ada83784e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70943157649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51ab9fc4149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38b2f43364c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020d36b0a45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23721f39b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3D5CF0-304F-4511-9623-427988DC6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4B1260-365F-4FC8-A953-AAA34E809C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F663DA-AD51-4ACD-90F8-110BA37C3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5E6C98-7F80-4C20-9540-7823F7A0E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C7FF0B-62AF-409C-A635-940C012247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F1E7DF-F869-4210-8907-946309B14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13BC1-5303-43D2-8DD0-9C78156DA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55CCBA-F0A9-4AE8-B01D-87E09843DB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98627B-9F76-41CC-B6CC-2D04681CD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6CCAEC-EF09-4177-A12D-DE67C9DF2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54a8819934eae" /><Relationship Type="http://schemas.openxmlformats.org/officeDocument/2006/relationships/slideLayout" Target="/ppt/slideLayouts/slideLayout1.xml" Id="Rca93cffa553a4360" /><Relationship Type="http://schemas.openxmlformats.org/officeDocument/2006/relationships/slideLayout" Target="/ppt/slideLayouts/slideLayout2.xml" Id="Ra907c59f952747df" /><Relationship Type="http://schemas.openxmlformats.org/officeDocument/2006/relationships/slideLayout" Target="/ppt/slideLayouts/slideLayout3.xml" Id="R37db11fdf0cd4ba5" /><Relationship Type="http://schemas.openxmlformats.org/officeDocument/2006/relationships/slideLayout" Target="/ppt/slideLayouts/slideLayout4.xml" Id="Re01664bf113045e9" /><Relationship Type="http://schemas.openxmlformats.org/officeDocument/2006/relationships/slideLayout" Target="/ppt/slideLayouts/slideLayout5.xml" Id="Rc40fff20a4a54cb8" /><Relationship Type="http://schemas.openxmlformats.org/officeDocument/2006/relationships/slideLayout" Target="/ppt/slideLayouts/slideLayout6.xml" Id="R3d26f60d7db2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3cffa553a4360"/>
    <p:sldLayoutId xmlns:r="http://schemas.openxmlformats.org/officeDocument/2006/relationships" id="2147483650" r:id="Ra907c59f952747df"/>
    <p:sldLayoutId xmlns:r="http://schemas.openxmlformats.org/officeDocument/2006/relationships" id="2147483651" r:id="R37db11fdf0cd4ba5"/>
    <p:sldLayoutId xmlns:r="http://schemas.openxmlformats.org/officeDocument/2006/relationships" id="2147483652" r:id="Re01664bf113045e9"/>
    <p:sldLayoutId xmlns:r="http://schemas.openxmlformats.org/officeDocument/2006/relationships" id="2147483653" r:id="Rc40fff20a4a54cb8"/>
    <p:sldLayoutId xmlns:r="http://schemas.openxmlformats.org/officeDocument/2006/relationships" id="2147483654" r:id="R3d26f60d7db2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c48431d5440ee" /><Relationship Type="http://schemas.openxmlformats.org/officeDocument/2006/relationships/notesSlide" Target="/ppt/notesSlides/notesSlide1.xml" Id="R38d693d201e9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eae29907f4deb" /><Relationship Type="http://schemas.openxmlformats.org/officeDocument/2006/relationships/notesSlide" Target="/ppt/notesSlides/notesSlide2.xml" Id="Rb1087d99ae97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52b61f23a4b8e" /><Relationship Type="http://schemas.openxmlformats.org/officeDocument/2006/relationships/notesSlide" Target="/ppt/notesSlides/notesSlide3.xml" Id="Raa06d2b9fe1c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199f9bde64765" /><Relationship Type="http://schemas.openxmlformats.org/officeDocument/2006/relationships/notesSlide" Target="/ppt/notesSlides/notesSlide4.xml" Id="R6328e6c243e3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45af767b84470" /><Relationship Type="http://schemas.openxmlformats.org/officeDocument/2006/relationships/notesSlide" Target="/ppt/notesSlides/notesSlide5.xml" Id="Rf37895b72c1b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891fd57614809" /><Relationship Type="http://schemas.openxmlformats.org/officeDocument/2006/relationships/notesSlide" Target="/ppt/notesSlides/notesSlide6.xml" Id="Rfc7d265838364e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2bc526eed473a" /><Relationship Type="http://schemas.openxmlformats.org/officeDocument/2006/relationships/notesSlide" Target="/ppt/notesSlides/notesSlide7.xml" Id="Re4b8e047db39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6f8fe2c854870" /><Relationship Type="http://schemas.openxmlformats.org/officeDocument/2006/relationships/notesSlide" Target="/ppt/notesSlides/notesSlide8.xml" Id="R4021a37d41934bc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st3h3_Section">
            <a:extLst xmlns:a="http://schemas.openxmlformats.org/drawingml/2006/main">
              <a:ext uri="{FF2B5EF4-FFF2-40B4-BE49-F238E27FC236}">
                <a16:creationId xmlns:a16="http://schemas.microsoft.com/office/drawing/2014/main" id="{FE235862-C4F2-4933-B07C-66C591FC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04</a:t>
            </a:r>
          </a:p>
        </p:txBody>
      </p:sp>
      <p:sp>
        <p:nvSpPr>
          <p:cNvPr id="2" name="gst3h3_Title">
            <a:extLst xmlns:a="http://schemas.openxmlformats.org/drawingml/2006/main">
              <a:ext uri="{FF2B5EF4-FFF2-40B4-BE49-F238E27FC236}">
                <a16:creationId xmlns:a16="http://schemas.microsoft.com/office/drawing/2014/main" id="{54A0CFAB-3742-4FF1-86B2-61E8840C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 Discovery e inventário</a:t>
            </a:r>
          </a:p>
        </p:txBody>
      </p:sp>
      <p:sp>
        <p:nvSpPr>
          <p:cNvPr id="3" name="gst3h3_Subtitle">
            <a:extLst xmlns:a="http://schemas.openxmlformats.org/drawingml/2006/main">
              <a:ext uri="{FF2B5EF4-FFF2-40B4-BE49-F238E27FC236}">
                <a16:creationId xmlns:a16="http://schemas.microsoft.com/office/drawing/2014/main" id="{1C4B6456-C049-480B-B932-407D2AC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Encontrar hosts, verificar a cobertura e interpretar as limitações da descoberta.</a:t>
            </a:r>
          </a:p>
        </p:txBody>
      </p:sp>
      <p:sp>
        <p:nvSpPr>
          <p:cNvPr id="4" name="gst3h3_Schedule">
            <a:extLst xmlns:a="http://schemas.openxmlformats.org/drawingml/2006/main">
              <a:ext uri="{FF2B5EF4-FFF2-40B4-BE49-F238E27FC236}">
                <a16:creationId xmlns:a16="http://schemas.microsoft.com/office/drawing/2014/main" id="{B00141EA-919D-48E3-ABCF-E0EEE5D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4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Host Discovery</a:t>
            </a:r>
          </a:p>
        </p:txBody>
      </p:sp>
      <p:sp>
        <p:nvSpPr>
          <p:cNvPr id="5" name="gst3h3_Footer">
            <a:extLst xmlns:a="http://schemas.openxmlformats.org/drawingml/2006/main">
              <a:ext uri="{FF2B5EF4-FFF2-40B4-BE49-F238E27FC236}">
                <a16:creationId xmlns:a16="http://schemas.microsoft.com/office/drawing/2014/main" id="{CD41DC18-3944-44A4-91E6-D67DC52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298025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e4fl5_Section">
            <a:extLst xmlns:a="http://schemas.openxmlformats.org/drawingml/2006/main">
              <a:ext uri="{FF2B5EF4-FFF2-40B4-BE49-F238E27FC236}">
                <a16:creationId xmlns:a16="http://schemas.microsoft.com/office/drawing/2014/main" id="{3044D6FB-A61E-4C72-BC01-183D62F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be4fl5_Title">
            <a:extLst xmlns:a="http://schemas.openxmlformats.org/drawingml/2006/main">
              <a:ext uri="{FF2B5EF4-FFF2-40B4-BE49-F238E27FC236}">
                <a16:creationId xmlns:a16="http://schemas.microsoft.com/office/drawing/2014/main" id="{8476C8C4-A23E-4298-8968-AE878F1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Host Discovery</a:t>
            </a:r>
          </a:p>
        </p:txBody>
      </p:sp>
      <p:sp>
        <p:nvSpPr>
          <p:cNvPr id="3" name="be4fl5_Body_1">
            <a:extLst xmlns:a="http://schemas.openxmlformats.org/drawingml/2006/main">
              <a:ext uri="{FF2B5EF4-FFF2-40B4-BE49-F238E27FC236}">
                <a16:creationId xmlns:a16="http://schemas.microsoft.com/office/drawing/2014/main" id="{017E1775-B141-4B34-9BCA-C8501CBA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template identifica hosts vivos e informações disponíveis.</a:t>
            </a:r>
          </a:p>
        </p:txBody>
      </p:sp>
      <p:sp>
        <p:nvSpPr>
          <p:cNvPr id="4" name="be4fl5_Body_2">
            <a:extLst xmlns:a="http://schemas.openxmlformats.org/drawingml/2006/main">
              <a:ext uri="{FF2B5EF4-FFF2-40B4-BE49-F238E27FC236}">
                <a16:creationId xmlns:a16="http://schemas.microsoft.com/office/drawing/2014/main" id="{2E623B98-DA31-4EFA-B671-147589C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Portas e identificação de sistema ajudam o inventário.</a:t>
            </a:r>
          </a:p>
        </p:txBody>
      </p:sp>
      <p:sp>
        <p:nvSpPr>
          <p:cNvPr id="5" name="be4fl5_Body_3">
            <a:extLst xmlns:a="http://schemas.openxmlformats.org/drawingml/2006/main">
              <a:ext uri="{FF2B5EF4-FFF2-40B4-BE49-F238E27FC236}">
                <a16:creationId xmlns:a16="http://schemas.microsoft.com/office/drawing/2014/main" id="{47799E23-EEA1-4DA8-A86B-F863D33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lista descoberta orienta uma avaliação posterior.</a:t>
            </a:r>
          </a:p>
        </p:txBody>
      </p:sp>
      <p:sp>
        <p:nvSpPr>
          <p:cNvPr id="6" name="be4fl5_Body_4">
            <a:extLst xmlns:a="http://schemas.openxmlformats.org/drawingml/2006/main">
              <a:ext uri="{FF2B5EF4-FFF2-40B4-BE49-F238E27FC236}">
                <a16:creationId xmlns:a16="http://schemas.microsoft.com/office/drawing/2014/main" id="{547F8C9D-5FE3-4D73-B39F-3414D305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resultado precisa ser comparado ao inventário esperado.</a:t>
            </a:r>
          </a:p>
        </p:txBody>
      </p:sp>
      <p:sp>
        <p:nvSpPr>
          <p:cNvPr id="7" name="be4fl5_Footer">
            <a:extLst xmlns:a="http://schemas.openxmlformats.org/drawingml/2006/main">
              <a:ext uri="{FF2B5EF4-FFF2-40B4-BE49-F238E27FC236}">
                <a16:creationId xmlns:a16="http://schemas.microsoft.com/office/drawing/2014/main" id="{E41D57D1-417A-4423-94BC-AD6BFF30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be4fl5_Folio">
            <a:extLst xmlns:a="http://schemas.openxmlformats.org/drawingml/2006/main">
              <a:ext uri="{FF2B5EF4-FFF2-40B4-BE49-F238E27FC236}">
                <a16:creationId xmlns:a16="http://schemas.microsoft.com/office/drawing/2014/main" id="{6DD8700A-C81D-455B-8238-99F64AA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6485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v12ec_Section">
            <a:extLst xmlns:a="http://schemas.openxmlformats.org/drawingml/2006/main">
              <a:ext uri="{FF2B5EF4-FFF2-40B4-BE49-F238E27FC236}">
                <a16:creationId xmlns:a16="http://schemas.microsoft.com/office/drawing/2014/main" id="{B02521A9-E71F-468F-BA9B-698A392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pv12ec_Title">
            <a:extLst xmlns:a="http://schemas.openxmlformats.org/drawingml/2006/main">
              <a:ext uri="{FF2B5EF4-FFF2-40B4-BE49-F238E27FC236}">
                <a16:creationId xmlns:a16="http://schemas.microsoft.com/office/drawing/2014/main" id="{C3069DA5-0251-4137-9A8B-4850575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Alvos e escopo</a:t>
            </a:r>
          </a:p>
        </p:txBody>
      </p:sp>
      <p:sp>
        <p:nvSpPr>
          <p:cNvPr id="3" name="pv12ec_Body_1">
            <a:extLst xmlns:a="http://schemas.openxmlformats.org/drawingml/2006/main">
              <a:ext uri="{FF2B5EF4-FFF2-40B4-BE49-F238E27FC236}">
                <a16:creationId xmlns:a16="http://schemas.microsoft.com/office/drawing/2014/main" id="{C981A6A9-C13F-4F6F-AB28-AF2B530B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IPs, hostnames, listas e CIDR expressam conjuntos de alvos.</a:t>
            </a:r>
          </a:p>
        </p:txBody>
      </p:sp>
      <p:sp>
        <p:nvSpPr>
          <p:cNvPr id="4" name="pv12ec_Body_2">
            <a:extLst xmlns:a="http://schemas.openxmlformats.org/drawingml/2006/main">
              <a:ext uri="{FF2B5EF4-FFF2-40B4-BE49-F238E27FC236}">
                <a16:creationId xmlns:a16="http://schemas.microsoft.com/office/drawing/2014/main" id="{80CBF93A-277C-47EC-832A-66C31134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DNS e rotas podem alterar o conjunto efetivamente alcançado.</a:t>
            </a:r>
          </a:p>
        </p:txBody>
      </p:sp>
      <p:sp>
        <p:nvSpPr>
          <p:cNvPr id="5" name="pv12ec_Body_3">
            <a:extLst xmlns:a="http://schemas.openxmlformats.org/drawingml/2006/main">
              <a:ext uri="{FF2B5EF4-FFF2-40B4-BE49-F238E27FC236}">
                <a16:creationId xmlns:a16="http://schemas.microsoft.com/office/drawing/2014/main" id="{66F763A0-2DB4-42FE-85B7-F443AEF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Exclusions reduzem o conjunto que o scanner pode avaliar.</a:t>
            </a:r>
          </a:p>
        </p:txBody>
      </p:sp>
      <p:sp>
        <p:nvSpPr>
          <p:cNvPr id="6" name="pv12ec_Body_4">
            <a:extLst xmlns:a="http://schemas.openxmlformats.org/drawingml/2006/main">
              <a:ext uri="{FF2B5EF4-FFF2-40B4-BE49-F238E27FC236}">
                <a16:creationId xmlns:a16="http://schemas.microsoft.com/office/drawing/2014/main" id="{E6E4E7AC-3B54-437E-AF47-A5ECA93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scanner escolhido deve alcançar todo o escopo.</a:t>
            </a:r>
          </a:p>
        </p:txBody>
      </p:sp>
      <p:sp>
        <p:nvSpPr>
          <p:cNvPr id="7" name="pv12ec_Footer">
            <a:extLst xmlns:a="http://schemas.openxmlformats.org/drawingml/2006/main">
              <a:ext uri="{FF2B5EF4-FFF2-40B4-BE49-F238E27FC236}">
                <a16:creationId xmlns:a16="http://schemas.microsoft.com/office/drawing/2014/main" id="{E67B5790-214E-4C52-8FEE-6C304A7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pv12ec_Folio">
            <a:extLst xmlns:a="http://schemas.openxmlformats.org/drawingml/2006/main">
              <a:ext uri="{FF2B5EF4-FFF2-40B4-BE49-F238E27FC236}">
                <a16:creationId xmlns:a16="http://schemas.microsoft.com/office/drawing/2014/main" id="{9387269E-738A-435D-9889-AE0DD60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5916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kwi0k_Section">
            <a:extLst xmlns:a="http://schemas.openxmlformats.org/drawingml/2006/main">
              <a:ext uri="{FF2B5EF4-FFF2-40B4-BE49-F238E27FC236}">
                <a16:creationId xmlns:a16="http://schemas.microsoft.com/office/drawing/2014/main" id="{48A7B809-6CF5-492D-B375-1B02BDA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ekwi0k_Title">
            <a:extLst xmlns:a="http://schemas.openxmlformats.org/drawingml/2006/main">
              <a:ext uri="{FF2B5EF4-FFF2-40B4-BE49-F238E27FC236}">
                <a16:creationId xmlns:a16="http://schemas.microsoft.com/office/drawing/2014/main" id="{A51AF1E3-BC77-4530-A2A2-B7AB9FD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Métodos de descoberta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16335-41EF-4D24-9D97-9A34B5B850DC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3619500"/>
                <a:gridCol w="50101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Ponto de atenção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ICMP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Resposta a echo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Filtros podem bloquear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TCP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Resposta em porta testada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Porta pode estar filtrada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ARP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Presença no segmento local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Limite de camada 2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Passivo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Tráfego observado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Host pode permanecer silencioso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ekwi0k_Footer">
            <a:extLst xmlns:a="http://schemas.openxmlformats.org/drawingml/2006/main">
              <a:ext uri="{FF2B5EF4-FFF2-40B4-BE49-F238E27FC236}">
                <a16:creationId xmlns:a16="http://schemas.microsoft.com/office/drawing/2014/main" id="{0B776339-0E25-4EC5-8F60-F08697B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ekwi0k_Folio">
            <a:extLst xmlns:a="http://schemas.openxmlformats.org/drawingml/2006/main">
              <a:ext uri="{FF2B5EF4-FFF2-40B4-BE49-F238E27FC236}">
                <a16:creationId xmlns:a16="http://schemas.microsoft.com/office/drawing/2014/main" id="{B547EEB5-1BC3-4036-9EF4-C6E9066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8750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inc9b_Section">
            <a:extLst xmlns:a="http://schemas.openxmlformats.org/drawingml/2006/main">
              <a:ext uri="{FF2B5EF4-FFF2-40B4-BE49-F238E27FC236}">
                <a16:creationId xmlns:a16="http://schemas.microsoft.com/office/drawing/2014/main" id="{C0A0F5CF-77FA-4216-878D-6252679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einc9b_Title">
            <a:extLst xmlns:a="http://schemas.openxmlformats.org/drawingml/2006/main">
              <a:ext uri="{FF2B5EF4-FFF2-40B4-BE49-F238E27FC236}">
                <a16:creationId xmlns:a16="http://schemas.microsoft.com/office/drawing/2014/main" id="{EBF29C8D-A2C3-4591-89C7-ADBEA69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Portas e serviços</a:t>
            </a:r>
          </a:p>
        </p:txBody>
      </p:sp>
      <p:sp>
        <p:nvSpPr>
          <p:cNvPr id="3" name="einc9b_Body_1">
            <a:extLst xmlns:a="http://schemas.openxmlformats.org/drawingml/2006/main">
              <a:ext uri="{FF2B5EF4-FFF2-40B4-BE49-F238E27FC236}">
                <a16:creationId xmlns:a16="http://schemas.microsoft.com/office/drawing/2014/main" id="{533D4F10-CF9A-4D03-9BDD-21781135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intervalo de portas determina a superfície testada.</a:t>
            </a:r>
          </a:p>
        </p:txBody>
      </p:sp>
      <p:sp>
        <p:nvSpPr>
          <p:cNvPr id="4" name="einc9b_Body_2">
            <a:extLst xmlns:a="http://schemas.openxmlformats.org/drawingml/2006/main">
              <a:ext uri="{FF2B5EF4-FFF2-40B4-BE49-F238E27FC236}">
                <a16:creationId xmlns:a16="http://schemas.microsoft.com/office/drawing/2014/main" id="{2D8010AD-94D1-4386-8E84-7A6A9D8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porta fora do intervalo pode ocultar um serviço.</a:t>
            </a:r>
          </a:p>
        </p:txBody>
      </p:sp>
      <p:sp>
        <p:nvSpPr>
          <p:cNvPr id="5" name="einc9b_Body_3">
            <a:extLst xmlns:a="http://schemas.openxmlformats.org/drawingml/2006/main">
              <a:ext uri="{FF2B5EF4-FFF2-40B4-BE49-F238E27FC236}">
                <a16:creationId xmlns:a16="http://schemas.microsoft.com/office/drawing/2014/main" id="{740EFED5-21BF-4B67-8CD7-B9F3573B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Identificação de serviço complementa o número da porta.</a:t>
            </a:r>
          </a:p>
        </p:txBody>
      </p:sp>
      <p:sp>
        <p:nvSpPr>
          <p:cNvPr id="6" name="einc9b_Body_4">
            <a:extLst xmlns:a="http://schemas.openxmlformats.org/drawingml/2006/main">
              <a:ext uri="{FF2B5EF4-FFF2-40B4-BE49-F238E27FC236}">
                <a16:creationId xmlns:a16="http://schemas.microsoft.com/office/drawing/2014/main" id="{24AFC85E-CDD0-4CDA-88B0-95D009F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scan amplo exige tempo e capacidade adequados.</a:t>
            </a:r>
          </a:p>
        </p:txBody>
      </p:sp>
      <p:sp>
        <p:nvSpPr>
          <p:cNvPr id="7" name="einc9b_Footer">
            <a:extLst xmlns:a="http://schemas.openxmlformats.org/drawingml/2006/main">
              <a:ext uri="{FF2B5EF4-FFF2-40B4-BE49-F238E27FC236}">
                <a16:creationId xmlns:a16="http://schemas.microsoft.com/office/drawing/2014/main" id="{05E6EC88-2440-471A-85C8-73E868B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einc9b_Folio">
            <a:extLst xmlns:a="http://schemas.openxmlformats.org/drawingml/2006/main">
              <a:ext uri="{FF2B5EF4-FFF2-40B4-BE49-F238E27FC236}">
                <a16:creationId xmlns:a16="http://schemas.microsoft.com/office/drawing/2014/main" id="{F51523B6-A68A-45E8-88C5-48B4E523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4654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8o2ec_Section">
            <a:extLst xmlns:a="http://schemas.openxmlformats.org/drawingml/2006/main">
              <a:ext uri="{FF2B5EF4-FFF2-40B4-BE49-F238E27FC236}">
                <a16:creationId xmlns:a16="http://schemas.microsoft.com/office/drawing/2014/main" id="{796C1146-B6F1-49B7-A654-535314B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08o2ec_Title">
            <a:extLst xmlns:a="http://schemas.openxmlformats.org/drawingml/2006/main">
              <a:ext uri="{FF2B5EF4-FFF2-40B4-BE49-F238E27FC236}">
                <a16:creationId xmlns:a16="http://schemas.microsoft.com/office/drawing/2014/main" id="{3507776B-149F-4A92-8EC3-EFACB8E5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Ativos frágeis e impacto</a:t>
            </a:r>
          </a:p>
        </p:txBody>
      </p:sp>
      <p:sp>
        <p:nvSpPr>
          <p:cNvPr id="3" name="08o2ec_Body_1">
            <a:extLst xmlns:a="http://schemas.openxmlformats.org/drawingml/2006/main">
              <a:ext uri="{FF2B5EF4-FFF2-40B4-BE49-F238E27FC236}">
                <a16:creationId xmlns:a16="http://schemas.microsoft.com/office/drawing/2014/main" id="{952E9961-52D5-4950-9DC8-F7BEC03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Safe Checks reduz a execução de testes potencialmente danosos.</a:t>
            </a:r>
          </a:p>
        </p:txBody>
      </p:sp>
      <p:sp>
        <p:nvSpPr>
          <p:cNvPr id="4" name="08o2ec_Body_2">
            <a:extLst xmlns:a="http://schemas.openxmlformats.org/drawingml/2006/main">
              <a:ext uri="{FF2B5EF4-FFF2-40B4-BE49-F238E27FC236}">
                <a16:creationId xmlns:a16="http://schemas.microsoft.com/office/drawing/2014/main" id="{1E6656C1-1D42-4BF6-AFC6-6A44DFD3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política ainda precisa respeitar o tipo de dispositivo.</a:t>
            </a:r>
          </a:p>
        </p:txBody>
      </p:sp>
      <p:sp>
        <p:nvSpPr>
          <p:cNvPr id="5" name="08o2ec_Body_3">
            <a:extLst xmlns:a="http://schemas.openxmlformats.org/drawingml/2006/main">
              <a:ext uri="{FF2B5EF4-FFF2-40B4-BE49-F238E27FC236}">
                <a16:creationId xmlns:a16="http://schemas.microsoft.com/office/drawing/2014/main" id="{F35FC764-CE4B-403C-A531-2E134C4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Equipamentos frágeis podem exigir exclusão e cobertura alternativa.</a:t>
            </a:r>
          </a:p>
        </p:txBody>
      </p:sp>
      <p:sp>
        <p:nvSpPr>
          <p:cNvPr id="6" name="08o2ec_Body_4">
            <a:extLst xmlns:a="http://schemas.openxmlformats.org/drawingml/2006/main">
              <a:ext uri="{FF2B5EF4-FFF2-40B4-BE49-F238E27FC236}">
                <a16:creationId xmlns:a16="http://schemas.microsoft.com/office/drawing/2014/main" id="{B52A6D43-1F13-4F0A-8FFF-A60A42B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piloto mede impacto e qualidade de descoberta.</a:t>
            </a:r>
          </a:p>
        </p:txBody>
      </p:sp>
      <p:sp>
        <p:nvSpPr>
          <p:cNvPr id="7" name="08o2ec_Footer">
            <a:extLst xmlns:a="http://schemas.openxmlformats.org/drawingml/2006/main">
              <a:ext uri="{FF2B5EF4-FFF2-40B4-BE49-F238E27FC236}">
                <a16:creationId xmlns:a16="http://schemas.microsoft.com/office/drawing/2014/main" id="{69B2AAD2-2BB7-4558-AA00-2ADDA1B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08o2ec_Folio">
            <a:extLst xmlns:a="http://schemas.openxmlformats.org/drawingml/2006/main">
              <a:ext uri="{FF2B5EF4-FFF2-40B4-BE49-F238E27FC236}">
                <a16:creationId xmlns:a16="http://schemas.microsoft.com/office/drawing/2014/main" id="{75939D1A-354B-48A4-8CB7-1272CFA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3509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vhbx7_Section">
            <a:extLst xmlns:a="http://schemas.openxmlformats.org/drawingml/2006/main">
              <a:ext uri="{FF2B5EF4-FFF2-40B4-BE49-F238E27FC236}">
                <a16:creationId xmlns:a16="http://schemas.microsoft.com/office/drawing/2014/main" id="{E8CE250C-B8AB-459A-AA84-4A133E6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gvhbx7_Title">
            <a:extLst xmlns:a="http://schemas.openxmlformats.org/drawingml/2006/main">
              <a:ext uri="{FF2B5EF4-FFF2-40B4-BE49-F238E27FC236}">
                <a16:creationId xmlns:a16="http://schemas.microsoft.com/office/drawing/2014/main" id="{0040AA05-D8BB-40A5-9FDC-3CF0FCC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Caso: hosts ausentes</a:t>
            </a:r>
          </a:p>
        </p:txBody>
      </p:sp>
      <p:sp>
        <p:nvSpPr>
          <p:cNvPr id="3" name="gvhbx7_Body_1">
            <a:extLst xmlns:a="http://schemas.openxmlformats.org/drawingml/2006/main">
              <a:ext uri="{FF2B5EF4-FFF2-40B4-BE49-F238E27FC236}">
                <a16:creationId xmlns:a16="http://schemas.microsoft.com/office/drawing/2014/main" id="{C32921F3-A8B3-4E58-B8C9-3B7CB172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Inventário esperado:</a:t>
            </a:r>
            <a:r>
              <a:t> 40 hosts. Discovery observa 28.</a:t>
            </a:r>
          </a:p>
        </p:txBody>
      </p:sp>
      <p:sp>
        <p:nvSpPr>
          <p:cNvPr id="4" name="gvhbx7_Body_2">
            <a:extLst xmlns:a="http://schemas.openxmlformats.org/drawingml/2006/main">
              <a:ext uri="{FF2B5EF4-FFF2-40B4-BE49-F238E27FC236}">
                <a16:creationId xmlns:a16="http://schemas.microsoft.com/office/drawing/2014/main" id="{375803CF-BC54-4426-8F5D-569EB39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Hipóteses:</a:t>
            </a:r>
            <a:r>
              <a:t> filtros, rota, alvo, exclusão ou host silencioso.</a:t>
            </a:r>
          </a:p>
        </p:txBody>
      </p:sp>
      <p:sp>
        <p:nvSpPr>
          <p:cNvPr id="5" name="gvhbx7_Body_3">
            <a:extLst xmlns:a="http://schemas.openxmlformats.org/drawingml/2006/main">
              <a:ext uri="{FF2B5EF4-FFF2-40B4-BE49-F238E27FC236}">
                <a16:creationId xmlns:a16="http://schemas.microsoft.com/office/drawing/2014/main" id="{34B9E803-F6C0-4D51-A8A8-4A167FA9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TCP e evidências alternativas ajudam a testar hipóteses.</a:t>
            </a:r>
          </a:p>
        </p:txBody>
      </p:sp>
      <p:sp>
        <p:nvSpPr>
          <p:cNvPr id="6" name="gvhbx7_Body_4">
            <a:extLst xmlns:a="http://schemas.openxmlformats.org/drawingml/2006/main">
              <a:ext uri="{FF2B5EF4-FFF2-40B4-BE49-F238E27FC236}">
                <a16:creationId xmlns:a16="http://schemas.microsoft.com/office/drawing/2014/main" id="{0392A5C7-BDC2-4440-8F06-E8E2F9C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total observado precisa vir acompanhado do denominador.</a:t>
            </a:r>
          </a:p>
        </p:txBody>
      </p:sp>
      <p:sp>
        <p:nvSpPr>
          <p:cNvPr id="7" name="gvhbx7_Footer">
            <a:extLst xmlns:a="http://schemas.openxmlformats.org/drawingml/2006/main">
              <a:ext uri="{FF2B5EF4-FFF2-40B4-BE49-F238E27FC236}">
                <a16:creationId xmlns:a16="http://schemas.microsoft.com/office/drawing/2014/main" id="{FCBBE315-7B78-418B-B234-C463E74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gvhbx7_Folio">
            <a:extLst xmlns:a="http://schemas.openxmlformats.org/drawingml/2006/main">
              <a:ext uri="{FF2B5EF4-FFF2-40B4-BE49-F238E27FC236}">
                <a16:creationId xmlns:a16="http://schemas.microsoft.com/office/drawing/2014/main" id="{EB3CC7A0-9AC6-4E51-8EB9-0AC042F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50942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4t5gl_Section">
            <a:extLst xmlns:a="http://schemas.openxmlformats.org/drawingml/2006/main">
              <a:ext uri="{FF2B5EF4-FFF2-40B4-BE49-F238E27FC236}">
                <a16:creationId xmlns:a16="http://schemas.microsoft.com/office/drawing/2014/main" id="{EB960CBF-1614-4D2B-98E5-45E90B7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04</a:t>
            </a:r>
          </a:p>
        </p:txBody>
      </p:sp>
      <p:sp>
        <p:nvSpPr>
          <p:cNvPr id="2" name="p4t5gl_Title">
            <a:extLst xmlns:a="http://schemas.openxmlformats.org/drawingml/2006/main">
              <a:ext uri="{FF2B5EF4-FFF2-40B4-BE49-F238E27FC236}">
                <a16:creationId xmlns:a16="http://schemas.microsoft.com/office/drawing/2014/main" id="{DC4C1104-2415-46D0-BCDC-AC321F5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descoberta</a:t>
            </a:r>
          </a:p>
        </p:txBody>
      </p:sp>
      <p:sp>
        <p:nvSpPr>
          <p:cNvPr id="3" name="p4t5gl_Body_1">
            <a:extLst xmlns:a="http://schemas.openxmlformats.org/drawingml/2006/main">
              <a:ext uri="{FF2B5EF4-FFF2-40B4-BE49-F238E27FC236}">
                <a16:creationId xmlns:a16="http://schemas.microsoft.com/office/drawing/2014/main" id="{19496EFC-5C38-4A26-94E6-18CC9B5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esperado, observado e justificativa dos ausentes.</a:t>
            </a:r>
          </a:p>
        </p:txBody>
      </p:sp>
      <p:sp>
        <p:nvSpPr>
          <p:cNvPr id="4" name="p4t5gl_Body_2">
            <a:extLst xmlns:a="http://schemas.openxmlformats.org/drawingml/2006/main">
              <a:ext uri="{FF2B5EF4-FFF2-40B4-BE49-F238E27FC236}">
                <a16:creationId xmlns:a16="http://schemas.microsoft.com/office/drawing/2014/main" id="{C1D30FEF-0F31-4136-98F4-72F8EA2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Comparação:</a:t>
            </a:r>
            <a:r>
              <a:t> métodos de discovery e intervalos de portas.</a:t>
            </a:r>
          </a:p>
        </p:txBody>
      </p:sp>
      <p:sp>
        <p:nvSpPr>
          <p:cNvPr id="5" name="p4t5gl_Body_3">
            <a:extLst xmlns:a="http://schemas.openxmlformats.org/drawingml/2006/main">
              <a:ext uri="{FF2B5EF4-FFF2-40B4-BE49-F238E27FC236}">
                <a16:creationId xmlns:a16="http://schemas.microsoft.com/office/drawing/2014/main" id="{9878F2BF-3262-445F-B87A-23A8032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 console:</a:t>
            </a:r>
            <a:r>
              <a:t> analisar o caso dos 40 hosts.</a:t>
            </a:r>
          </a:p>
        </p:txBody>
      </p:sp>
      <p:sp>
        <p:nvSpPr>
          <p:cNvPr id="6" name="p4t5gl_Body_4">
            <a:extLst xmlns:a="http://schemas.openxmlformats.org/drawingml/2006/main">
              <a:ext uri="{FF2B5EF4-FFF2-40B4-BE49-F238E27FC236}">
                <a16:creationId xmlns:a16="http://schemas.microsoft.com/office/drawing/2014/main" id="{A6A4EA38-4BA9-4080-94D0-F95031A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04:</a:t>
            </a:r>
            <a:r>
              <a:t> 20 questões, 40 minutos.</a:t>
            </a:r>
          </a:p>
        </p:txBody>
      </p:sp>
      <p:sp>
        <p:nvSpPr>
          <p:cNvPr id="7" name="p4t5gl_Footer">
            <a:extLst xmlns:a="http://schemas.openxmlformats.org/drawingml/2006/main">
              <a:ext uri="{FF2B5EF4-FFF2-40B4-BE49-F238E27FC236}">
                <a16:creationId xmlns:a16="http://schemas.microsoft.com/office/drawing/2014/main" id="{5B80A126-54B3-4FAD-B1B2-7119AF9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p4t5gl_Folio">
            <a:extLst xmlns:a="http://schemas.openxmlformats.org/drawingml/2006/main">
              <a:ext uri="{FF2B5EF4-FFF2-40B4-BE49-F238E27FC236}">
                <a16:creationId xmlns:a16="http://schemas.microsoft.com/office/drawing/2014/main" id="{3D1C2E7D-F41A-404E-8F1E-0889DDF6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34907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2026-10-14T13:33:52.2110000Z</dcterms:created>
  <dcterms:modified xsi:type="dcterms:W3CDTF">2026-10-14T13:33:52.2110000Z</dcterms:modified>
</coreProperties>
</file>